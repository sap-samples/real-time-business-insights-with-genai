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comments/modernComment_7FFFFFCD_333546D4.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8"/>
  </p:sldMasterIdLst>
  <p:notesMasterIdLst>
    <p:notesMasterId r:id="rId27"/>
  </p:notesMasterIdLst>
  <p:handoutMasterIdLst>
    <p:handoutMasterId r:id="rId28"/>
  </p:handoutMasterIdLst>
  <p:sldIdLst>
    <p:sldId id="402" r:id="rId9"/>
    <p:sldId id="2147483588" r:id="rId10"/>
    <p:sldId id="2147483597" r:id="rId11"/>
    <p:sldId id="2147483604" r:id="rId12"/>
    <p:sldId id="2147483606" r:id="rId13"/>
    <p:sldId id="2147483605" r:id="rId14"/>
    <p:sldId id="2147483598" r:id="rId15"/>
    <p:sldId id="2147483565" r:id="rId16"/>
    <p:sldId id="2147483599" r:id="rId17"/>
    <p:sldId id="2147483564" r:id="rId18"/>
    <p:sldId id="2147483596" r:id="rId19"/>
    <p:sldId id="2147483600" r:id="rId20"/>
    <p:sldId id="2147483603" r:id="rId21"/>
    <p:sldId id="2147483602" r:id="rId22"/>
    <p:sldId id="266" r:id="rId23"/>
    <p:sldId id="2147483551" r:id="rId24"/>
    <p:sldId id="2147483591" r:id="rId25"/>
    <p:sldId id="25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7B3421-3308-3ADE-4EC9-CD66C8AFED53}" name="Khurana, Navya" initials="" userId="S::navya.khurana@sap.com::31eff9ac-a10a-4070-98f9-774822bc5bf6" providerId="AD"/>
  <p188:author id="{892737BB-01A6-4EAF-4A52-A795B0C8C613}" name="PavanKumar, PVN" initials="PP" userId="S::pvn.pavankumar@sap.com::fea6f2c7-9d7f-49be-a7ef-c5b58409b66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986"/>
    <a:srgbClr val="D2EFFF"/>
    <a:srgbClr val="E2D8FF"/>
    <a:srgbClr val="ECFAFF"/>
    <a:srgbClr val="C2FCEE"/>
    <a:srgbClr val="FFF3B8"/>
    <a:srgbClr val="FEADC8"/>
    <a:srgbClr val="94C5FF"/>
    <a:srgbClr val="02414C"/>
    <a:srgbClr val="FFDC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EBFE2-CD92-DE4C-902A-078E46D2A3A0}" v="6" dt="2025-06-06T05:26:30.6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p:restoredTop sz="94694"/>
  </p:normalViewPr>
  <p:slideViewPr>
    <p:cSldViewPr snapToGrid="0">
      <p:cViewPr varScale="1">
        <p:scale>
          <a:sx n="121" d="100"/>
          <a:sy n="121" d="100"/>
        </p:scale>
        <p:origin x="8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8/10/relationships/authors" Target="author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Master" Target="slideMasters/slideMaster1.xml"/></Relationships>
</file>

<file path=ppt/comments/modernComment_7FFFFFCD_333546D4.xml><?xml version="1.0" encoding="utf-8"?>
<p188:cmLst xmlns:a="http://schemas.openxmlformats.org/drawingml/2006/main" xmlns:r="http://schemas.openxmlformats.org/officeDocument/2006/relationships" xmlns:p188="http://schemas.microsoft.com/office/powerpoint/2018/8/main">
  <p188:cm id="{A3C69D6C-A0CA-6042-BBED-45BA6FB9089B}" authorId="{892737BB-01A6-4EAF-4A52-A795B0C8C613}" created="2024-07-22T02:47:08.600">
    <ac:deMkLst xmlns:ac="http://schemas.microsoft.com/office/drawing/2013/main/command">
      <pc:docMk xmlns:pc="http://schemas.microsoft.com/office/powerpoint/2013/main/command"/>
      <pc:sldMk xmlns:pc="http://schemas.microsoft.com/office/powerpoint/2013/main/command" cId="859129556" sldId="2147483597"/>
      <ac:spMk id="4" creationId="{F4DA2701-D7EE-3522-E4BE-EF98DA779A8C}"/>
    </ac:deMkLst>
    <p188:replyLst>
      <p188:reply id="{FDCB834E-665A-B148-9D89-F2A20975FA9D}" authorId="{957B3421-3308-3ADE-4EC9-CD66C8AFED53}" created="2024-07-22T03:10:15.424">
        <p188:txBody>
          <a:bodyPr/>
          <a:lstStyle/>
          <a:p>
            <a:r>
              <a:rPr lang="en-US"/>
              <a:t>Done!</a:t>
            </a:r>
          </a:p>
        </p188:txBody>
      </p188:reply>
    </p188:replyLst>
    <p188:txBody>
      <a:bodyPr/>
      <a:lstStyle/>
      <a:p>
        <a:r>
          <a:rPr lang="en-US"/>
          <a:t>Mark first 2 boxes as example ..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EF717C-153F-97C8-9115-B3C566A1D7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A8154CD-2DAA-3E2A-C9BF-DEBC1FB1B0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EAA61-CD06-504A-AB7D-B6F9E6C71619}" type="datetimeFigureOut">
              <a:rPr lang="en-US" smtClean="0"/>
              <a:t>6/6/25</a:t>
            </a:fld>
            <a:endParaRPr lang="en-US"/>
          </a:p>
        </p:txBody>
      </p:sp>
      <p:sp>
        <p:nvSpPr>
          <p:cNvPr id="4" name="Footer Placeholder 3">
            <a:extLst>
              <a:ext uri="{FF2B5EF4-FFF2-40B4-BE49-F238E27FC236}">
                <a16:creationId xmlns:a16="http://schemas.microsoft.com/office/drawing/2014/main" id="{6BBCA1BC-A316-17D8-F2F6-14B67D4E39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291098-DEB2-6C20-199A-20A826D429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7632A8-D972-C245-9E46-FB21C9E9F6A1}" type="slidenum">
              <a:rPr lang="en-US" smtClean="0"/>
              <a:t>‹#›</a:t>
            </a:fld>
            <a:endParaRPr lang="en-US"/>
          </a:p>
        </p:txBody>
      </p:sp>
    </p:spTree>
    <p:extLst>
      <p:ext uri="{BB962C8B-B14F-4D97-AF65-F5344CB8AC3E}">
        <p14:creationId xmlns:p14="http://schemas.microsoft.com/office/powerpoint/2010/main" val="30460735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6DFA3-FF12-2B48-9B16-E45D45939559}" type="datetimeFigureOut">
              <a:rPr lang="en-US" smtClean="0"/>
              <a:t>6/6/25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33D9A8-99AA-E445-BDC6-35AF9C987A3F}" type="slidenum">
              <a:rPr lang="en-US" smtClean="0"/>
              <a:t>‹#›</a:t>
            </a:fld>
            <a:endParaRPr lang="en-US"/>
          </a:p>
        </p:txBody>
      </p:sp>
    </p:spTree>
    <p:extLst>
      <p:ext uri="{BB962C8B-B14F-4D97-AF65-F5344CB8AC3E}">
        <p14:creationId xmlns:p14="http://schemas.microsoft.com/office/powerpoint/2010/main" val="1080580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en-DE" smtClean="0"/>
              <a:pPr/>
              <a:t>1</a:t>
            </a:fld>
            <a:endParaRPr lang="en-DE"/>
          </a:p>
        </p:txBody>
      </p:sp>
    </p:spTree>
    <p:extLst>
      <p:ext uri="{BB962C8B-B14F-4D97-AF65-F5344CB8AC3E}">
        <p14:creationId xmlns:p14="http://schemas.microsoft.com/office/powerpoint/2010/main" val="236361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2</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29890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33D9A8-99AA-E445-BDC6-35AF9C987A3F}" type="slidenum">
              <a:rPr lang="en-US" smtClean="0"/>
              <a:t>4</a:t>
            </a:fld>
            <a:endParaRPr lang="en-US"/>
          </a:p>
        </p:txBody>
      </p:sp>
    </p:spTree>
    <p:extLst>
      <p:ext uri="{BB962C8B-B14F-4D97-AF65-F5344CB8AC3E}">
        <p14:creationId xmlns:p14="http://schemas.microsoft.com/office/powerpoint/2010/main" val="1778574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33D9A8-99AA-E445-BDC6-35AF9C987A3F}" type="slidenum">
              <a:rPr lang="en-US" smtClean="0"/>
              <a:t>5</a:t>
            </a:fld>
            <a:endParaRPr lang="en-US"/>
          </a:p>
        </p:txBody>
      </p:sp>
    </p:spTree>
    <p:extLst>
      <p:ext uri="{BB962C8B-B14F-4D97-AF65-F5344CB8AC3E}">
        <p14:creationId xmlns:p14="http://schemas.microsoft.com/office/powerpoint/2010/main" val="147178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7</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13858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8</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29516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9</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186959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10</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2571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11</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871789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12</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184413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13</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51498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9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14</a:t>
            </a:fld>
            <a:endParaRPr kumimoji="0" lang="de-DE"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22540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ED24-F5BD-584A-494A-26CED2B1F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4E828-8778-C090-DA86-DC05FCCEA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FE0C8-A404-F07F-12F4-E25E3D7728C3}"/>
              </a:ext>
            </a:extLst>
          </p:cNvPr>
          <p:cNvSpPr>
            <a:spLocks noGrp="1"/>
          </p:cNvSpPr>
          <p:nvPr>
            <p:ph type="body" idx="1"/>
          </p:nvPr>
        </p:nvSpPr>
        <p:spPr/>
        <p:txBody>
          <a:bodyPr>
            <a:normAutofit fontScale="92500"/>
          </a:bodyPr>
          <a:lstStyle/>
          <a:p>
            <a:r>
              <a:rPr lang="en-US" sz="1100">
                <a:latin typeface="72" panose="020B0503030000000003" pitchFamily="34" charset="0"/>
                <a:cs typeface="72" panose="020B0503030000000003" pitchFamily="34" charset="0"/>
              </a:rPr>
              <a:t>Emission Factor Mapping with AI SAP Sustainability Footprint Management Base AI Planned for Q2/24</a:t>
            </a:r>
          </a:p>
          <a:p>
            <a:endParaRPr lang="en-US" sz="1100">
              <a:latin typeface="72" panose="020B0503030000000003" pitchFamily="34" charset="0"/>
              <a:cs typeface="72" panose="020B0503030000000003" pitchFamily="34" charset="0"/>
            </a:endParaRPr>
          </a:p>
          <a:p>
            <a:r>
              <a:rPr lang="en-US" sz="1100">
                <a:latin typeface="72" panose="020B0503030000000003" pitchFamily="34" charset="0"/>
                <a:cs typeface="72" panose="020B0503030000000003" pitchFamily="34" charset="0"/>
              </a:rPr>
              <a:t>Reduce time and increase accuracy of carbon footprint calculations by providing automated, intelligent emission factor mapping suggestions. </a:t>
            </a:r>
          </a:p>
          <a:p>
            <a:endParaRPr lang="en-US" sz="1100">
              <a:latin typeface="72" panose="020B0503030000000003" pitchFamily="34" charset="0"/>
              <a:cs typeface="72" panose="020B0503030000000003" pitchFamily="34" charset="0"/>
            </a:endParaRPr>
          </a:p>
          <a:p>
            <a:pPr marL="285750" indent="-285750">
              <a:buFont typeface="Arial"/>
              <a:buChar char="•"/>
            </a:pPr>
            <a:r>
              <a:rPr lang="en-US" sz="1100">
                <a:latin typeface="72" panose="020B0503030000000003" pitchFamily="34" charset="0"/>
                <a:cs typeface="72" panose="020B0503030000000003" pitchFamily="34" charset="0"/>
              </a:rPr>
              <a:t>To calculate product carbon footprints, users need to map hundreds or potentially thousands or millions of internal materials and products to external lifecycle assessment emission factors that are obtained through in-house sources or external databases. </a:t>
            </a:r>
          </a:p>
          <a:p>
            <a:pPr marL="285750" indent="-285750">
              <a:buFont typeface="Arial"/>
              <a:buChar char="•"/>
            </a:pPr>
            <a:r>
              <a:rPr lang="en-US" sz="1100">
                <a:latin typeface="72" panose="020B0503030000000003" pitchFamily="34" charset="0"/>
                <a:cs typeface="72" panose="020B0503030000000003" pitchFamily="34" charset="0"/>
              </a:rPr>
              <a:t>This is largely a manual task requiring significant human resources, which are prone to manual error, and lifecycle assessment (LCA) expert knowledge. </a:t>
            </a:r>
          </a:p>
          <a:p>
            <a:pPr marL="285750" indent="-285750">
              <a:buFont typeface="Arial"/>
              <a:buChar char="•"/>
            </a:pPr>
            <a:r>
              <a:rPr lang="en-US" sz="1100">
                <a:latin typeface="72" panose="020B0503030000000003" pitchFamily="34" charset="0"/>
                <a:cs typeface="72" panose="020B0503030000000003" pitchFamily="34" charset="0"/>
              </a:rPr>
              <a:t>SAP Sustainability Footprint Management provides automated, intelligent emission factor mapping suggestions, based on product name, product group, location, and commodity code. </a:t>
            </a:r>
          </a:p>
          <a:p>
            <a:pPr marL="285750" indent="-285750">
              <a:buFont typeface="Arial"/>
              <a:buChar char="•"/>
            </a:pPr>
            <a:r>
              <a:rPr lang="en-US" sz="1100">
                <a:latin typeface="72" panose="020B0503030000000003" pitchFamily="34" charset="0"/>
                <a:cs typeface="72" panose="020B0503030000000003" pitchFamily="34" charset="0"/>
              </a:rPr>
              <a:t>This will decrease the time necessary to calculate full product carbon and corporate footprints and will increase the overall accuracy while allowing non LCA-experts to map emission factors with more confidence. </a:t>
            </a:r>
          </a:p>
          <a:p>
            <a:pPr marL="285750" indent="-285750">
              <a:buFont typeface="Arial"/>
              <a:buChar char="•"/>
            </a:pPr>
            <a:r>
              <a:rPr lang="en-US" sz="1100">
                <a:latin typeface="72" panose="020B0503030000000003" pitchFamily="34" charset="0"/>
                <a:cs typeface="72" panose="020B0503030000000003" pitchFamily="34" charset="0"/>
              </a:rPr>
              <a:t>For example: Imagine you are buying raw materials and parts for your production process. To calculate your own product footprint, you need all the CO2e values of your purchased parts. If the vendor is not able to deliver you CO2e values for his products, external databases are able to give you industry standard average numbers. AI helps you connect your purchased materials with these databases and provide the information to your database in real time.</a:t>
            </a:r>
          </a:p>
        </p:txBody>
      </p:sp>
      <p:sp>
        <p:nvSpPr>
          <p:cNvPr id="4" name="Header Placeholder 3">
            <a:extLst>
              <a:ext uri="{FF2B5EF4-FFF2-40B4-BE49-F238E27FC236}">
                <a16:creationId xmlns:a16="http://schemas.microsoft.com/office/drawing/2014/main" id="{AE3A3E12-8837-BF03-CDF2-5ECD2086AD6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4582E9B-B26E-8BB8-B631-91952E19626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mn-ea"/>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493091A-6C4F-CA6A-27F6-43A22A50567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87AD4DB5-6605-40E7-91BE-B879482BC55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6/6/25 10:56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010E86E-89CB-D84C-180F-59461025ABD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339760D-58A6-4F8B-9C20-3902ABE1EB36}"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31337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9190A-1D9F-1ECA-7470-0B29A0B2D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3A7F4-B5BF-F309-6A7C-FC4156DAB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DDF73-58AE-4BC6-FF76-48D158686F64}"/>
              </a:ext>
            </a:extLst>
          </p:cNvPr>
          <p:cNvSpPr>
            <a:spLocks noGrp="1"/>
          </p:cNvSpPr>
          <p:nvPr>
            <p:ph type="body" idx="1"/>
          </p:nvPr>
        </p:nvSpPr>
        <p:spPr/>
        <p:txBody>
          <a:bodyPr/>
          <a:lstStyle/>
          <a:p>
            <a:pPr marL="0" marR="0" lvl="0" indent="0" algn="l" defTabSz="1088449" rtl="0" eaLnBrk="1" fontAlgn="auto" latinLnBrk="0" hangingPunct="1">
              <a:lnSpc>
                <a:spcPct val="90000"/>
              </a:lnSpc>
              <a:spcBef>
                <a:spcPts val="0"/>
              </a:spcBef>
              <a:spcAft>
                <a:spcPts val="1200"/>
              </a:spcAft>
              <a:buClrTx/>
              <a:buSzTx/>
              <a:buFontTx/>
              <a:buNone/>
              <a:tabLst/>
              <a:defRPr/>
            </a:pPr>
            <a:r>
              <a:rPr kumimoji="0" lang="en-US" sz="2400" b="1" i="0" u="none" strike="noStrike" kern="1200" cap="none" spc="0" normalizeH="0" baseline="0" noProof="0">
                <a:ln>
                  <a:noFill/>
                </a:ln>
                <a:solidFill>
                  <a:srgbClr val="0070F2"/>
                </a:solidFill>
                <a:effectLst/>
                <a:uLnTx/>
                <a:uFillTx/>
                <a:latin typeface="72 Brand" panose="020B0504030603020204" pitchFamily="34" charset="0"/>
                <a:cs typeface="Arial"/>
              </a:rPr>
              <a:t>Infuse Business AI across the SAP product portfolio</a:t>
            </a:r>
            <a:endParaRPr kumimoji="0" lang="en-US" sz="12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endParaRPr>
          </a:p>
          <a:p>
            <a:pPr defTabSz="1088449" fontAlgn="base">
              <a:lnSpc>
                <a:spcPct val="150000"/>
              </a:lnSpc>
              <a:buClr>
                <a:srgbClr val="F0AB00"/>
              </a:buClr>
              <a:buSzPct val="100000"/>
              <a:defRPr/>
            </a:pPr>
            <a:br>
              <a:rPr kumimoji="0" lang="en-US" sz="18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rPr>
            </a:br>
            <a:r>
              <a:rPr kumimoji="0" lang="en-US" sz="18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rPr>
              <a:t>We leverage our data treasure to embed</a:t>
            </a:r>
            <a:r>
              <a:rPr lang="en-US" sz="1800">
                <a:gradFill>
                  <a:gsLst>
                    <a:gs pos="18692">
                      <a:srgbClr val="000000"/>
                    </a:gs>
                    <a:gs pos="40000">
                      <a:srgbClr val="000000"/>
                    </a:gs>
                  </a:gsLst>
                  <a:lin ang="5400000" scaled="1"/>
                </a:gradFill>
                <a:cs typeface="Arial"/>
              </a:rPr>
              <a:t> </a:t>
            </a:r>
          </a:p>
          <a:p>
            <a:pPr defTabSz="1088449" fontAlgn="base">
              <a:buClr>
                <a:srgbClr val="F0AB00"/>
              </a:buClr>
              <a:buSzPct val="100000"/>
              <a:defRPr/>
            </a:pPr>
            <a:r>
              <a:rPr lang="en-US" sz="1800">
                <a:gradFill>
                  <a:gsLst>
                    <a:gs pos="18692">
                      <a:srgbClr val="000000"/>
                    </a:gs>
                    <a:gs pos="40000">
                      <a:srgbClr val="000000"/>
                    </a:gs>
                  </a:gsLst>
                  <a:lin ang="5400000" scaled="1"/>
                </a:gradFill>
                <a:cs typeface="Arial"/>
              </a:rPr>
              <a:t>relevant, reliable and responsible Business AI</a:t>
            </a:r>
            <a:r>
              <a:rPr kumimoji="0" lang="en-US" sz="18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rPr>
              <a:t> into our solutions. This revolutionizes how our customers interact with SAP business systems – e.g. </a:t>
            </a:r>
            <a:r>
              <a:rPr lang="en-US" sz="1800">
                <a:gradFill>
                  <a:gsLst>
                    <a:gs pos="18692">
                      <a:srgbClr val="000000"/>
                    </a:gs>
                    <a:gs pos="40000">
                      <a:srgbClr val="000000"/>
                    </a:gs>
                  </a:gsLst>
                  <a:lin ang="5400000" scaled="1"/>
                </a:gradFill>
                <a:cs typeface="Arial"/>
              </a:rPr>
              <a:t>through</a:t>
            </a:r>
            <a:r>
              <a:rPr kumimoji="0" lang="en-US" sz="18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rPr>
              <a:t> Joule. </a:t>
            </a:r>
            <a:r>
              <a:rPr lang="en-US" sz="1800">
                <a:gradFill>
                  <a:gsLst>
                    <a:gs pos="18692">
                      <a:srgbClr val="000000"/>
                    </a:gs>
                    <a:gs pos="40000">
                      <a:srgbClr val="000000"/>
                    </a:gs>
                  </a:gsLst>
                  <a:lin ang="5400000" scaled="1"/>
                </a:gradFill>
                <a:cs typeface="Arial"/>
              </a:rPr>
              <a:t>With a trusted</a:t>
            </a:r>
            <a:r>
              <a:rPr kumimoji="0" lang="en-US" sz="1800" b="0" i="0" u="none" strike="noStrike" kern="1200" cap="none" spc="0" normalizeH="0" baseline="0" noProof="0">
                <a:ln>
                  <a:noFill/>
                </a:ln>
                <a:gradFill>
                  <a:gsLst>
                    <a:gs pos="18692">
                      <a:srgbClr val="000000"/>
                    </a:gs>
                    <a:gs pos="40000">
                      <a:srgbClr val="000000"/>
                    </a:gs>
                  </a:gsLst>
                  <a:lin ang="5400000" scaled="1"/>
                </a:gradFill>
                <a:effectLst/>
                <a:uLnTx/>
                <a:uFillTx/>
                <a:ea typeface="+mn-ea"/>
                <a:cs typeface="Arial"/>
              </a:rPr>
              <a:t> AI foundation</a:t>
            </a:r>
            <a:r>
              <a:rPr lang="en-US" sz="1800">
                <a:gradFill>
                  <a:gsLst>
                    <a:gs pos="18692">
                      <a:srgbClr val="000000"/>
                    </a:gs>
                    <a:gs pos="40000">
                      <a:srgbClr val="000000"/>
                    </a:gs>
                  </a:gsLst>
                  <a:lin ang="5400000" scaled="1"/>
                </a:gradFill>
                <a:cs typeface="Arial"/>
              </a:rPr>
              <a:t> on BTP, we empower customers and partners to consume and build context-aware, intelligent applications.</a:t>
            </a:r>
            <a:endParaRPr lang="en-US" sz="1800" b="0" i="0" u="none" strike="noStrike" kern="1200" cap="none" spc="0" normalizeH="0" baseline="0" noProof="0">
              <a:ln>
                <a:noFill/>
              </a:ln>
              <a:gradFill>
                <a:gsLst>
                  <a:gs pos="18692">
                    <a:srgbClr val="000000"/>
                  </a:gs>
                  <a:gs pos="40000">
                    <a:srgbClr val="000000"/>
                  </a:gs>
                </a:gsLst>
                <a:lin ang="5400000" scaled="1"/>
              </a:gradFill>
              <a:effectLst/>
              <a:uLnTx/>
              <a:uFillTx/>
              <a:cs typeface="Arial"/>
            </a:endParaRPr>
          </a:p>
          <a:p>
            <a:pPr marL="0" marR="0" indent="0" algn="l" rtl="0" eaLnBrk="1" fontAlgn="auto" latinLnBrk="0" hangingPunct="1">
              <a:spcBef>
                <a:spcPts val="600"/>
              </a:spcBef>
              <a:spcAft>
                <a:spcPts val="0"/>
              </a:spcAft>
            </a:pPr>
            <a:endParaRPr lang="en-US" sz="1800" b="0" i="0" u="none" strike="noStrike">
              <a:effectLst/>
              <a:latin typeface="Arial" panose="020B0604020202020204" pitchFamily="34" charset="0"/>
            </a:endParaRPr>
          </a:p>
          <a:p>
            <a:pPr marL="0" marR="0" lvl="0" indent="0" algn="l" defTabSz="1088449" rtl="0" eaLnBrk="1" fontAlgn="base" latinLnBrk="0" hangingPunct="1">
              <a:lnSpc>
                <a:spcPct val="90000"/>
              </a:lnSpc>
              <a:spcBef>
                <a:spcPts val="0"/>
              </a:spcBef>
              <a:spcAft>
                <a:spcPts val="1200"/>
              </a:spcAft>
              <a:buClr>
                <a:srgbClr val="F0AB00"/>
              </a:buClr>
              <a:buSzPct val="100000"/>
              <a:buFontTx/>
              <a:buNone/>
              <a:tabLst/>
              <a:defRPr/>
            </a:pPr>
            <a:r>
              <a:rPr kumimoji="0" lang="en-US" sz="2400" b="1" i="0" u="none" strike="noStrike" kern="1200" cap="none" spc="0" normalizeH="0" baseline="0" noProof="0">
                <a:ln>
                  <a:noFill/>
                </a:ln>
                <a:gradFill flip="none" rotWithShape="1">
                  <a:gsLst>
                    <a:gs pos="0">
                      <a:srgbClr val="0070F2"/>
                    </a:gs>
                    <a:gs pos="100000">
                      <a:srgbClr val="0070F2">
                        <a:lumMod val="75000"/>
                      </a:srgbClr>
                    </a:gs>
                  </a:gsLst>
                  <a:lin ang="0" scaled="1"/>
                  <a:tileRect/>
                </a:gradFill>
                <a:effectLst/>
                <a:uLnTx/>
                <a:uFillTx/>
                <a:latin typeface="72 Brand" panose="020B0504030603020204" pitchFamily="34" charset="0"/>
                <a:cs typeface="Arial"/>
              </a:rPr>
              <a:t>Build and run the leading suite </a:t>
            </a:r>
            <a:br>
              <a:rPr kumimoji="0" lang="en-US" sz="2400" b="1" i="0" u="none" strike="noStrike" kern="1200" cap="none" spc="0" normalizeH="0" baseline="0" noProof="0">
                <a:ln>
                  <a:noFill/>
                </a:ln>
                <a:solidFill>
                  <a:srgbClr val="FFFFFF"/>
                </a:solidFill>
                <a:effectLst/>
                <a:uLnTx/>
                <a:uFillTx/>
                <a:latin typeface="72 Brand" panose="020B0504030603020204" pitchFamily="34" charset="0"/>
                <a:cs typeface="Arial"/>
              </a:rPr>
            </a:br>
            <a:r>
              <a:rPr kumimoji="0" lang="en-US" sz="2400" b="1" i="0" u="none" strike="noStrike" kern="1200" cap="none" spc="0" normalizeH="0" baseline="0" noProof="0">
                <a:ln>
                  <a:noFill/>
                </a:ln>
                <a:gradFill flip="none" rotWithShape="1">
                  <a:gsLst>
                    <a:gs pos="0">
                      <a:srgbClr val="0070F2"/>
                    </a:gs>
                    <a:gs pos="100000">
                      <a:srgbClr val="0070F2">
                        <a:lumMod val="75000"/>
                      </a:srgbClr>
                    </a:gs>
                  </a:gsLst>
                  <a:lin ang="0" scaled="1"/>
                  <a:tileRect/>
                </a:gradFill>
                <a:effectLst/>
                <a:uLnTx/>
                <a:uFillTx/>
                <a:latin typeface="72 Brand" panose="020B0504030603020204" pitchFamily="34" charset="0"/>
                <a:cs typeface="Arial"/>
              </a:rPr>
              <a:t>for every business with Cloud ERP </a:t>
            </a:r>
            <a:r>
              <a:rPr lang="en-US" sz="2400" b="1">
                <a:gradFill flip="none" rotWithShape="1">
                  <a:gsLst>
                    <a:gs pos="0">
                      <a:srgbClr val="0070F2"/>
                    </a:gs>
                    <a:gs pos="100000">
                      <a:srgbClr val="0070F2">
                        <a:lumMod val="75000"/>
                      </a:srgbClr>
                    </a:gs>
                  </a:gsLst>
                  <a:lin ang="0" scaled="1"/>
                  <a:tileRect/>
                </a:gradFill>
                <a:latin typeface="72 Brand" panose="020B0504030603020204" pitchFamily="34" charset="0"/>
                <a:cs typeface="Arial"/>
              </a:rPr>
              <a:t>&amp; </a:t>
            </a:r>
            <a:r>
              <a:rPr kumimoji="0" lang="en-US" sz="2400" b="1" i="0" u="none" strike="noStrike" kern="1200" cap="none" spc="0" normalizeH="0" baseline="0" noProof="0">
                <a:ln>
                  <a:noFill/>
                </a:ln>
                <a:gradFill flip="none" rotWithShape="1">
                  <a:gsLst>
                    <a:gs pos="0">
                      <a:srgbClr val="0070F2"/>
                    </a:gs>
                    <a:gs pos="100000">
                      <a:srgbClr val="0070F2">
                        <a:lumMod val="75000"/>
                      </a:srgbClr>
                    </a:gs>
                  </a:gsLst>
                  <a:lin ang="0" scaled="1"/>
                  <a:tileRect/>
                </a:gradFill>
                <a:effectLst/>
                <a:uLnTx/>
                <a:uFillTx/>
                <a:latin typeface="72 Brand" panose="020B0504030603020204" pitchFamily="34" charset="0"/>
                <a:cs typeface="Arial"/>
              </a:rPr>
              <a:t>BTP at the core complemented by HXM, ISBN &amp; CX</a:t>
            </a:r>
          </a:p>
          <a:p>
            <a:pPr defTabSz="1088449">
              <a:spcAft>
                <a:spcPts val="600"/>
              </a:spcAft>
              <a:defRPr/>
            </a:pPr>
            <a:r>
              <a:rPr lang="en-US" sz="1800">
                <a:gradFill>
                  <a:gsLst>
                    <a:gs pos="18692">
                      <a:srgbClr val="000000"/>
                    </a:gs>
                    <a:gs pos="40000">
                      <a:srgbClr val="000000"/>
                    </a:gs>
                  </a:gsLst>
                  <a:lin ang="5400000" scaled="1"/>
                </a:gradFill>
                <a:cs typeface="Arial"/>
              </a:rPr>
              <a:t>We differentiate by enabling consistent e2e processes through an integrated, intelligent suite of applications driven by cross priorities and suite qualities as well as proactive customer support. We address new customers with Cloud ERP and empower existing ones to add capabilities of our LoB and industry solution, all powered by BTP – the extension, integration, data and AI platform for our entire ecosystem.</a:t>
            </a:r>
          </a:p>
          <a:p>
            <a:pPr marL="0" marR="0" indent="0" algn="l" rtl="0" eaLnBrk="1" fontAlgn="auto" latinLnBrk="0" hangingPunct="1">
              <a:spcBef>
                <a:spcPts val="600"/>
              </a:spcBef>
              <a:spcAft>
                <a:spcPts val="0"/>
              </a:spcAft>
            </a:pPr>
            <a:endParaRPr lang="en-US" sz="1800" b="0" i="0" u="none" strike="noStrike">
              <a:effectLst/>
              <a:latin typeface="Arial" panose="020B0604020202020204" pitchFamily="34" charset="0"/>
            </a:endParaRPr>
          </a:p>
          <a:p>
            <a:pPr marL="0" marR="0" lvl="0" indent="0" algn="l" defTabSz="1088449" rtl="0" eaLnBrk="1" fontAlgn="base" latinLnBrk="0" hangingPunct="1">
              <a:lnSpc>
                <a:spcPct val="90000"/>
              </a:lnSpc>
              <a:spcBef>
                <a:spcPts val="0"/>
              </a:spcBef>
              <a:spcAft>
                <a:spcPts val="1200"/>
              </a:spcAft>
              <a:buClr>
                <a:srgbClr val="F0AB00"/>
              </a:buClr>
              <a:buSzPct val="100000"/>
              <a:buFontTx/>
              <a:buNone/>
              <a:tabLst/>
              <a:defRPr/>
            </a:pPr>
            <a:r>
              <a:rPr kumimoji="0" lang="en-US" sz="2400" b="1" i="0" u="none" strike="noStrike" kern="1200" cap="none" spc="0" normalizeH="0" baseline="0" noProof="0">
                <a:ln>
                  <a:noFill/>
                </a:ln>
                <a:gradFill flip="none" rotWithShape="1">
                  <a:gsLst>
                    <a:gs pos="0">
                      <a:srgbClr val="0070F2"/>
                    </a:gs>
                    <a:gs pos="100000">
                      <a:srgbClr val="0070F2">
                        <a:lumMod val="75000"/>
                      </a:srgbClr>
                    </a:gs>
                  </a:gsLst>
                  <a:lin ang="0" scaled="1"/>
                  <a:tileRect/>
                </a:gradFill>
                <a:effectLst/>
                <a:uLnTx/>
                <a:uFillTx/>
                <a:latin typeface="72 Brand" panose="020B0504030603020204" pitchFamily="34" charset="0"/>
                <a:cs typeface="Arial"/>
              </a:rPr>
              <a:t>Accelerate business-driven innovation and scale our new growth areas</a:t>
            </a:r>
          </a:p>
          <a:p>
            <a:pPr defTabSz="1088449" fontAlgn="base">
              <a:spcAft>
                <a:spcPts val="600"/>
              </a:spcAft>
              <a:buClr>
                <a:srgbClr val="F0AB00"/>
              </a:buClr>
              <a:buSzPct val="100000"/>
              <a:defRPr/>
            </a:pPr>
            <a:r>
              <a:rPr lang="en-US" sz="1800">
                <a:gradFill>
                  <a:gsLst>
                    <a:gs pos="18692">
                      <a:srgbClr val="000000"/>
                    </a:gs>
                    <a:gs pos="40000">
                      <a:srgbClr val="000000"/>
                    </a:gs>
                  </a:gsLst>
                  <a:lin ang="5400000" scaled="1"/>
                </a:gradFill>
                <a:cs typeface="Arial"/>
              </a:rPr>
              <a:t>We accelerate business-driven innovations that create real-life customer value focused on rethinking our key innovations fields: the future of business processes, business collaboration and data-driven decision-making. We scale our dedicated New Growth Areas (</a:t>
            </a:r>
            <a:r>
              <a:rPr lang="en-US" sz="1800" err="1">
                <a:gradFill>
                  <a:gsLst>
                    <a:gs pos="18692">
                      <a:srgbClr val="000000"/>
                    </a:gs>
                    <a:gs pos="40000">
                      <a:srgbClr val="000000"/>
                    </a:gs>
                  </a:gsLst>
                  <a:lin ang="5400000" scaled="1"/>
                </a:gradFill>
                <a:cs typeface="Arial"/>
              </a:rPr>
              <a:t>Signavio</a:t>
            </a:r>
            <a:r>
              <a:rPr lang="en-US" sz="1800">
                <a:gradFill>
                  <a:gsLst>
                    <a:gs pos="18692">
                      <a:srgbClr val="000000"/>
                    </a:gs>
                    <a:gs pos="40000">
                      <a:srgbClr val="000000"/>
                    </a:gs>
                  </a:gsLst>
                  <a:lin ang="5400000" scaled="1"/>
                </a:gradFill>
                <a:cs typeface="Arial"/>
              </a:rPr>
              <a:t>, Business Network, Taulia, Sustainability &amp; Business AI) to accelerate in these fields and future-proof our suite.</a:t>
            </a:r>
          </a:p>
          <a:p>
            <a:pPr marL="0" marR="0" indent="0" algn="l" rtl="0" eaLnBrk="1" fontAlgn="auto" latinLnBrk="0" hangingPunct="1">
              <a:spcBef>
                <a:spcPts val="600"/>
              </a:spcBef>
              <a:spcAft>
                <a:spcPts val="0"/>
              </a:spcAft>
            </a:pPr>
            <a:endParaRPr lang="en-US" sz="1800" b="0" i="0" u="none" strike="noStrike">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5786C204-F7C1-2505-089E-DF3D876699ED}"/>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smtClean="0">
                <a:ln>
                  <a:noFill/>
                </a:ln>
                <a:solidFill>
                  <a:prstClr val="black"/>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16</a:t>
            </a:fld>
            <a:endParaRPr kumimoji="0" lang="en-US"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35476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45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0AB9E-3DE6-8193-E91D-11708193600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F5C491A-0FC2-8EF4-4602-934ECCF7BEA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3F297D-8B41-B2DF-63AE-5D0013D6B952}"/>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5" name="Footer Placeholder 4">
            <a:extLst>
              <a:ext uri="{FF2B5EF4-FFF2-40B4-BE49-F238E27FC236}">
                <a16:creationId xmlns:a16="http://schemas.microsoft.com/office/drawing/2014/main" id="{4316BEE7-1991-5B3C-768B-90E3060E5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8D15F9-42EA-A252-FAC5-52FFE247008C}"/>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177095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DDBDD-1870-B666-9423-546ED59EE47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A83136-E6A8-2D70-2F32-CDBC44D162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C7E86D0-356F-CB75-CBB2-1A1BBB04518D}"/>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5" name="Footer Placeholder 4">
            <a:extLst>
              <a:ext uri="{FF2B5EF4-FFF2-40B4-BE49-F238E27FC236}">
                <a16:creationId xmlns:a16="http://schemas.microsoft.com/office/drawing/2014/main" id="{D40D2BFA-F6F1-D417-0E47-D7929992DF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7E371-B2DD-A434-7920-1347F3CDD5C5}"/>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4280758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0583-D3BC-10CB-C8B1-936D4006F0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77566AE-503E-993B-DC28-6368FDE34B7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BF1978A-86B4-E03F-B694-0096D062C8A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A13DA93-4B2D-8CCE-9DE1-05640DE0D01F}"/>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6" name="Footer Placeholder 5">
            <a:extLst>
              <a:ext uri="{FF2B5EF4-FFF2-40B4-BE49-F238E27FC236}">
                <a16:creationId xmlns:a16="http://schemas.microsoft.com/office/drawing/2014/main" id="{8EC7437A-6313-70C3-18B7-770EF795E6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936281-173C-AA45-5CA6-ADD5F2D3A49B}"/>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160759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972F-8CBE-0855-D9AE-8E6371B8941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33FEF1E-4C2E-4F22-DA1B-8332CE1732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936B3B9-3334-610C-C08E-92D9489DACF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5EB15A1-C292-F299-6A8B-3A0763402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54D0CCA-F4FF-0366-C8D0-1886EE3606F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A361390-70F1-EAD2-B601-2C498DB3101F}"/>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8" name="Footer Placeholder 7">
            <a:extLst>
              <a:ext uri="{FF2B5EF4-FFF2-40B4-BE49-F238E27FC236}">
                <a16:creationId xmlns:a16="http://schemas.microsoft.com/office/drawing/2014/main" id="{116E3E96-B6B4-E525-2193-2DA4ABF5A8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61743-B2BF-592E-3808-D5FE1E2DE531}"/>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84136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4B7AF-5FF0-17A9-B71A-2DE32E383E4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99F7477-9F0A-4FF1-4C96-A2E7B1494FC3}"/>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4" name="Footer Placeholder 3">
            <a:extLst>
              <a:ext uri="{FF2B5EF4-FFF2-40B4-BE49-F238E27FC236}">
                <a16:creationId xmlns:a16="http://schemas.microsoft.com/office/drawing/2014/main" id="{E235DCBC-28A5-4117-5368-11A31CD7CC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68EC41-F1B5-CA6E-F195-9D280FFCD9BE}"/>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2767862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EFC17-B9DD-C387-9B36-C69CA1E4482F}"/>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3" name="Footer Placeholder 2">
            <a:extLst>
              <a:ext uri="{FF2B5EF4-FFF2-40B4-BE49-F238E27FC236}">
                <a16:creationId xmlns:a16="http://schemas.microsoft.com/office/drawing/2014/main" id="{271BF0D6-FA26-70AB-3672-FC6B54F5EA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C78254-C7C1-5EA5-9642-BE9B41543664}"/>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142586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1FCE-E534-F9ED-2872-E1EA8FF909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69D3B68-5C5D-463E-8DBA-B954E70C9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A9BA197-AB21-D787-2091-371897192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3906456-D2D7-555F-F87A-1EBEE7966097}"/>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6" name="Footer Placeholder 5">
            <a:extLst>
              <a:ext uri="{FF2B5EF4-FFF2-40B4-BE49-F238E27FC236}">
                <a16:creationId xmlns:a16="http://schemas.microsoft.com/office/drawing/2014/main" id="{7E43A3A4-571D-C866-136E-375057B24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BE3A11-7FD9-30F8-17AC-258E3F2A8D6D}"/>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2796135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DFDF-DB72-E383-FDE0-D39B772CF9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8B363AE-67C1-5E3E-4C93-6930DA310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BE5458-E81F-3230-3BCF-917983AB0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C49B05-C9A4-EC84-0D68-5578243B4ED9}"/>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6" name="Footer Placeholder 5">
            <a:extLst>
              <a:ext uri="{FF2B5EF4-FFF2-40B4-BE49-F238E27FC236}">
                <a16:creationId xmlns:a16="http://schemas.microsoft.com/office/drawing/2014/main" id="{3D6F050C-212E-D143-BFBE-D8AF4813FB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FC1C45-90DD-A171-A333-6F68AAE4FF95}"/>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347644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C25C-BE69-2369-E729-9100317AA66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983171-67A5-E3B6-B5D7-B3D3E0FB50C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C06F76-EA47-75BB-90DF-5BF76AF66977}"/>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5" name="Footer Placeholder 4">
            <a:extLst>
              <a:ext uri="{FF2B5EF4-FFF2-40B4-BE49-F238E27FC236}">
                <a16:creationId xmlns:a16="http://schemas.microsoft.com/office/drawing/2014/main" id="{4954320B-6524-7D95-2C24-A6309959A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437E85-4A88-E30A-8F5F-E52307DF758A}"/>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3645896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324086-B237-1B19-ACB3-DFB5D1968FE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73B0F7B-C031-79F3-B3CC-DA7E93AD10E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EBC41C-7065-4516-3C9C-9A756522FCCA}"/>
              </a:ext>
            </a:extLst>
          </p:cNvPr>
          <p:cNvSpPr>
            <a:spLocks noGrp="1"/>
          </p:cNvSpPr>
          <p:nvPr>
            <p:ph type="dt" sz="half" idx="10"/>
          </p:nvPr>
        </p:nvSpPr>
        <p:spPr/>
        <p:txBody>
          <a:bodyPr/>
          <a:lstStyle/>
          <a:p>
            <a:fld id="{830512CE-6252-2447-9F18-E9108FA6E1CA}" type="datetimeFigureOut">
              <a:rPr lang="en-US" smtClean="0"/>
              <a:t>6/6/25</a:t>
            </a:fld>
            <a:endParaRPr lang="en-US"/>
          </a:p>
        </p:txBody>
      </p:sp>
      <p:sp>
        <p:nvSpPr>
          <p:cNvPr id="5" name="Footer Placeholder 4">
            <a:extLst>
              <a:ext uri="{FF2B5EF4-FFF2-40B4-BE49-F238E27FC236}">
                <a16:creationId xmlns:a16="http://schemas.microsoft.com/office/drawing/2014/main" id="{B7F6AE5B-5C30-EF42-1790-FC2F4DB730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DAC4F-2DB3-F2CD-A4C3-C13EEBBDB9D5}"/>
              </a:ext>
            </a:extLst>
          </p:cNvPr>
          <p:cNvSpPr>
            <a:spLocks noGrp="1"/>
          </p:cNvSpPr>
          <p:nvPr>
            <p:ph type="sldNum" sz="quarter" idx="12"/>
          </p:nvPr>
        </p:nvSpPr>
        <p:spPr/>
        <p:txBody>
          <a:bodyPr/>
          <a:lstStyle/>
          <a:p>
            <a:fld id="{A1F41892-265F-1A4B-9155-E66418C211B1}" type="slidenum">
              <a:rPr lang="en-US" smtClean="0"/>
              <a:t>‹#›</a:t>
            </a:fld>
            <a:endParaRPr lang="en-US"/>
          </a:p>
        </p:txBody>
      </p:sp>
    </p:spTree>
    <p:extLst>
      <p:ext uri="{BB962C8B-B14F-4D97-AF65-F5344CB8AC3E}">
        <p14:creationId xmlns:p14="http://schemas.microsoft.com/office/powerpoint/2010/main" val="4173875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with LAPTOP">
    <p:bg>
      <p:bgPr>
        <a:solidFill>
          <a:srgbClr val="D1EFFF"/>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2A775E0-FD3B-EB80-9635-D1BB00689167}"/>
              </a:ext>
            </a:extLst>
          </p:cNvPr>
          <p:cNvGraphicFramePr>
            <a:graphicFrameLocks noChangeAspect="1"/>
          </p:cNvGraphicFramePr>
          <p:nvPr userDrawn="1">
            <p:custDataLst>
              <p:tags r:id="rId1"/>
            </p:custDataLst>
            <p:extLst>
              <p:ext uri="{D42A27DB-BD31-4B8C-83A1-F6EECF244321}">
                <p14:modId xmlns:p14="http://schemas.microsoft.com/office/powerpoint/2010/main" val="1087117825"/>
              </p:ext>
            </p:extLst>
          </p:nvPr>
        </p:nvGraphicFramePr>
        <p:xfrm>
          <a:off x="1587"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92A775E0-FD3B-EB80-9635-D1BB00689167}"/>
                          </a:ext>
                        </a:extLst>
                      </p:cNvPr>
                      <p:cNvPicPr/>
                      <p:nvPr/>
                    </p:nvPicPr>
                    <p:blipFill>
                      <a:blip r:embed="rId4"/>
                      <a:stretch>
                        <a:fillRect/>
                      </a:stretch>
                    </p:blipFill>
                    <p:spPr>
                      <a:xfrm>
                        <a:off x="1587" y="1588"/>
                        <a:ext cx="1588" cy="1588"/>
                      </a:xfrm>
                      <a:prstGeom prst="rect">
                        <a:avLst/>
                      </a:prstGeom>
                    </p:spPr>
                  </p:pic>
                </p:oleObj>
              </mc:Fallback>
            </mc:AlternateContent>
          </a:graphicData>
        </a:graphic>
      </p:graphicFrame>
      <p:sp>
        <p:nvSpPr>
          <p:cNvPr id="3" name="Title"/>
          <p:cNvSpPr>
            <a:spLocks noGrp="1"/>
          </p:cNvSpPr>
          <p:nvPr>
            <p:ph type="title" hasCustomPrompt="1"/>
          </p:nvPr>
        </p:nvSpPr>
        <p:spPr>
          <a:xfrm>
            <a:off x="2137407" y="377000"/>
            <a:ext cx="7917186" cy="1043712"/>
          </a:xfrm>
        </p:spPr>
        <p:txBody>
          <a:bodyPr vert="horz" wrap="square" lIns="0" tIns="0" rIns="0" bIns="0" rtlCol="0" anchor="t" anchorCtr="0">
            <a:noAutofit/>
          </a:bodyPr>
          <a:lstStyle>
            <a:lvl1pPr>
              <a:defRPr lang="en-US" sz="3199" spc="0" dirty="0">
                <a:ln>
                  <a:noFill/>
                </a:ln>
                <a:solidFill>
                  <a:srgbClr val="152956"/>
                </a:solidFill>
                <a:latin typeface="72 Brand" panose="020B0504030603020204" pitchFamily="34" charset="0"/>
                <a:cs typeface="+mn-cs"/>
              </a:defRPr>
            </a:lvl1pPr>
          </a:lstStyle>
          <a:p>
            <a:pPr lvl="0" algn="ctr"/>
            <a:r>
              <a:rPr lang="en-US" noProof="0"/>
              <a:t>Insert page title (sentence case)</a:t>
            </a:r>
            <a:endParaRPr lang="en-US"/>
          </a:p>
        </p:txBody>
      </p:sp>
      <p:pic>
        <p:nvPicPr>
          <p:cNvPr id="2" name="Picture 1" descr="A screenshot of a computer&#10;&#10;Description automatically generated">
            <a:extLst>
              <a:ext uri="{FF2B5EF4-FFF2-40B4-BE49-F238E27FC236}">
                <a16:creationId xmlns:a16="http://schemas.microsoft.com/office/drawing/2014/main" id="{5B11EB2C-1C96-A102-5741-E3F2C5DA8EC1}"/>
              </a:ext>
            </a:extLst>
          </p:cNvPr>
          <p:cNvPicPr>
            <a:picLocks noChangeAspect="1"/>
          </p:cNvPicPr>
          <p:nvPr userDrawn="1"/>
        </p:nvPicPr>
        <p:blipFill rotWithShape="1">
          <a:blip r:embed="rId5"/>
          <a:srcRect r="4328"/>
          <a:stretch/>
        </p:blipFill>
        <p:spPr>
          <a:xfrm>
            <a:off x="5703044" y="1503965"/>
            <a:ext cx="6488956" cy="4098835"/>
          </a:xfrm>
          <a:prstGeom prst="rect">
            <a:avLst/>
          </a:prstGeom>
        </p:spPr>
      </p:pic>
      <p:sp>
        <p:nvSpPr>
          <p:cNvPr id="5" name="Rectangle 4">
            <a:extLst>
              <a:ext uri="{FF2B5EF4-FFF2-40B4-BE49-F238E27FC236}">
                <a16:creationId xmlns:a16="http://schemas.microsoft.com/office/drawing/2014/main" id="{C20A87C8-8A3E-0E3E-B6BC-8FCEDE288340}"/>
              </a:ext>
            </a:extLst>
          </p:cNvPr>
          <p:cNvSpPr/>
          <p:nvPr userDrawn="1"/>
        </p:nvSpPr>
        <p:spPr bwMode="gray">
          <a:xfrm>
            <a:off x="6298715" y="1653341"/>
            <a:ext cx="5592122" cy="3525982"/>
          </a:xfrm>
          <a:prstGeom prst="rect">
            <a:avLst/>
          </a:prstGeom>
          <a:solidFill>
            <a:srgbClr val="000000"/>
          </a:solidFill>
          <a:ln w="25400" algn="ctr">
            <a:noFill/>
            <a:miter lim="800000"/>
            <a:headEnd/>
            <a:tailEnd/>
          </a:ln>
        </p:spPr>
        <p:txBody>
          <a:bodyPr rot="0" spcFirstLastPara="0" vertOverflow="overflow" horzOverflow="overflow" vert="horz" wrap="square" lIns="35991" tIns="35991" rIns="35991" bIns="35991" numCol="1" spcCol="0" rtlCol="0" fromWordArt="0" anchor="ctr" anchorCtr="0" forceAA="0" compatLnSpc="1">
            <a:prstTxWarp prst="textNoShape">
              <a:avLst/>
            </a:prstTxWarp>
            <a:noAutofit/>
          </a:bodyP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err="1">
              <a:ln>
                <a:noFill/>
              </a:ln>
              <a:solidFill>
                <a:srgbClr val="000000"/>
              </a:solidFill>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85711921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4" name="Title"/>
          <p:cNvSpPr>
            <a:spLocks noGrp="1"/>
          </p:cNvSpPr>
          <p:nvPr>
            <p:ph type="title" hasCustomPrompt="1"/>
          </p:nvPr>
        </p:nvSpPr>
        <p:spPr>
          <a:xfrm>
            <a:off x="287925" y="2706317"/>
            <a:ext cx="5439871" cy="997196"/>
          </a:xfrm>
        </p:spPr>
        <p:txBody>
          <a:bodyPr anchor="b" anchorCtr="0">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Arial Unicode MS" pitchFamily="34" charset="-128"/>
              <a:cs typeface="Arial Unicode MS"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1" y="0"/>
            <a:ext cx="6118219" cy="6858000"/>
          </a:xfrm>
        </p:spPr>
        <p:txBody>
          <a:bodyPr anchor="ctr" anchorCtr="0"/>
          <a:lstStyle>
            <a:lvl1pPr algn="ctr">
              <a:defRPr/>
            </a:lvl1pPr>
          </a:lstStyle>
          <a:p>
            <a:r>
              <a:rPr lang="en-US"/>
              <a:t>Click to insert picture</a:t>
            </a:r>
          </a:p>
        </p:txBody>
      </p:sp>
      <p:pic>
        <p:nvPicPr>
          <p:cNvPr id="713270102" name="LogoBlue-Dynamic" descr="{&quot;templafy&quot;:{&quot;id&quot;:&quot;6a84eac6-d0e2-4444-a636-d1a8f85b7bd0&quot;}}"/>
          <p:cNvPicPr>
            <a:picLocks noChangeAspect="1"/>
          </p:cNvPicPr>
          <p:nvPr/>
        </p:nvPicPr>
        <p:blipFill>
          <a:blip r:embed="rId2"/>
          <a:stretch>
            <a:fillRect/>
          </a:stretch>
        </p:blipFill>
        <p:spPr>
          <a:xfrm>
            <a:off x="287931" y="360000"/>
            <a:ext cx="1300501" cy="360000"/>
          </a:xfrm>
          <a:prstGeom prst="rect">
            <a:avLst/>
          </a:prstGeom>
        </p:spPr>
      </p:pic>
      <p:sp>
        <p:nvSpPr>
          <p:cNvPr id="6" name="Classification-Dynamic" descr="{&quot;templafy&quot;:{&quot;id&quot;:&quot;5c8cc93f-c423-4d8a-b3aa-e3db453acd10&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Arial Unicode MS" pitchFamily="34" charset="-128"/>
                <a:cs typeface="Arial Unicode MS" pitchFamily="34" charset="-128"/>
              </a:rPr>
              <a:t>INTERNAL – SAP Only</a:t>
            </a:r>
          </a:p>
        </p:txBody>
      </p:sp>
      <p:pic>
        <p:nvPicPr>
          <p:cNvPr id="5" name="Picture 4">
            <a:extLst>
              <a:ext uri="{FF2B5EF4-FFF2-40B4-BE49-F238E27FC236}">
                <a16:creationId xmlns:a16="http://schemas.microsoft.com/office/drawing/2014/main" id="{0582EA21-9A60-E9C6-F009-44E3908CF94B}"/>
              </a:ext>
            </a:extLst>
          </p:cNvPr>
          <p:cNvPicPr>
            <a:picLocks noChangeAspect="1"/>
          </p:cNvPicPr>
          <p:nvPr userDrawn="1"/>
        </p:nvPicPr>
        <p:blipFill>
          <a:blip r:embed="rId3"/>
          <a:stretch>
            <a:fillRect/>
          </a:stretch>
        </p:blipFill>
        <p:spPr>
          <a:xfrm>
            <a:off x="287263" y="6255264"/>
            <a:ext cx="396137" cy="457200"/>
          </a:xfrm>
          <a:prstGeom prst="rect">
            <a:avLst/>
          </a:prstGeom>
        </p:spPr>
      </p:pic>
      <p:sp>
        <p:nvSpPr>
          <p:cNvPr id="7" name="TextBox 6">
            <a:extLst>
              <a:ext uri="{FF2B5EF4-FFF2-40B4-BE49-F238E27FC236}">
                <a16:creationId xmlns:a16="http://schemas.microsoft.com/office/drawing/2014/main" id="{41674202-9E25-A5E6-43A3-46E51FA704AC}"/>
              </a:ext>
            </a:extLst>
          </p:cNvPr>
          <p:cNvSpPr txBox="1"/>
          <p:nvPr userDrawn="1"/>
        </p:nvSpPr>
        <p:spPr>
          <a:xfrm>
            <a:off x="887860" y="6345365"/>
            <a:ext cx="5150449" cy="276871"/>
          </a:xfrm>
          <a:prstGeom prst="rect">
            <a:avLst/>
          </a:prstGeom>
          <a:noFill/>
        </p:spPr>
        <p:txBody>
          <a:bodyPr wrap="none" lIns="0" tIns="0" rIns="0" bIns="0" rtlCol="0">
            <a:spAutoFit/>
          </a:bodyPr>
          <a:lstStyle/>
          <a:p>
            <a:pPr algn="l" fontAlgn="base">
              <a:spcBef>
                <a:spcPct val="50000"/>
              </a:spcBef>
              <a:spcAft>
                <a:spcPct val="0"/>
              </a:spcAft>
              <a:buClr>
                <a:schemeClr val="tx1"/>
              </a:buClr>
              <a:buSzPct val="100000"/>
            </a:pPr>
            <a:r>
              <a:rPr lang="en-FR" sz="1799" kern="0" cap="all" spc="200">
                <a:solidFill>
                  <a:schemeClr val="tx1">
                    <a:lumMod val="65000"/>
                    <a:lumOff val="35000"/>
                  </a:schemeClr>
                </a:solidFill>
                <a:latin typeface="72 Brand" panose="020B0504030603020204" pitchFamily="34" charset="0"/>
                <a:ea typeface="Arial Unicode MS" pitchFamily="34" charset="-128"/>
                <a:cs typeface="Arial Unicode MS" pitchFamily="34" charset="-128"/>
              </a:rPr>
              <a:t>Platform  </a:t>
            </a:r>
            <a:r>
              <a:rPr lang="en-US" sz="1799" kern="0" cap="all" spc="200">
                <a:solidFill>
                  <a:schemeClr val="tx1">
                    <a:lumMod val="65000"/>
                    <a:lumOff val="35000"/>
                  </a:schemeClr>
                </a:solidFill>
                <a:latin typeface="72 Brand" panose="020B0504030603020204" pitchFamily="34" charset="0"/>
                <a:ea typeface="Arial Unicode MS" pitchFamily="34" charset="-128"/>
                <a:cs typeface="Arial Unicode MS" pitchFamily="34" charset="-128"/>
              </a:rPr>
              <a:t>ARCHITECTURE &amp; ADOPTION</a:t>
            </a:r>
            <a:endParaRPr lang="en-FR" sz="1799" kern="0" cap="all" spc="200">
              <a:solidFill>
                <a:schemeClr val="tx1">
                  <a:lumMod val="65000"/>
                  <a:lumOff val="35000"/>
                </a:schemeClr>
              </a:solidFill>
              <a:latin typeface="72 Brand" panose="020B0504030603020204"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16971523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704">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B2D27CC-FED9-0331-2BB0-202F085A9464}"/>
              </a:ext>
            </a:extLst>
          </p:cNvPr>
          <p:cNvSpPr txBox="1"/>
          <p:nvPr userDrawn="1"/>
        </p:nvSpPr>
        <p:spPr>
          <a:xfrm>
            <a:off x="503108" y="2905128"/>
            <a:ext cx="1836563" cy="246221"/>
          </a:xfrm>
          <a:prstGeom prst="rect">
            <a:avLst/>
          </a:prstGeom>
          <a:noFill/>
        </p:spPr>
        <p:txBody>
          <a:bodyPr wrap="none" lIns="0" tIns="0" rIns="0" bIns="0" rtlCol="0">
            <a:spAutoFit/>
          </a:bodyPr>
          <a:lstStyle/>
          <a:p>
            <a:pPr marL="0" marR="0" lvl="0" indent="0" algn="l" defTabSz="1088122" rtl="0" eaLnBrk="1" fontAlgn="base" latinLnBrk="0" hangingPunct="1">
              <a:lnSpc>
                <a:spcPct val="100000"/>
              </a:lnSpc>
              <a:spcBef>
                <a:spcPct val="50000"/>
              </a:spcBef>
              <a:spcAft>
                <a:spcPct val="0"/>
              </a:spcAft>
              <a:buClr>
                <a:srgbClr val="F0AB00"/>
              </a:buClr>
              <a:buSzPct val="80000"/>
              <a:buFontTx/>
              <a:buNone/>
              <a:tabLst/>
              <a:defRPr/>
            </a:pPr>
            <a:r>
              <a:rPr lang="en-US" sz="1600" b="0" i="0">
                <a:solidFill>
                  <a:schemeClr val="tx1"/>
                </a:solidFill>
                <a:latin typeface="72 Brand" panose="020B0504030603020204" pitchFamily="34" charset="0"/>
                <a:cs typeface="Arial" panose="020B0604020202020204" pitchFamily="34" charset="0"/>
              </a:rPr>
              <a:t>Contact information:</a:t>
            </a:r>
          </a:p>
        </p:txBody>
      </p:sp>
      <p:sp>
        <p:nvSpPr>
          <p:cNvPr id="10" name="Text Placeholder 9">
            <a:extLst>
              <a:ext uri="{FF2B5EF4-FFF2-40B4-BE49-F238E27FC236}">
                <a16:creationId xmlns:a16="http://schemas.microsoft.com/office/drawing/2014/main" id="{5D8BEA4F-DF46-6DC5-510C-BDC07E9D01F5}"/>
              </a:ext>
            </a:extLst>
          </p:cNvPr>
          <p:cNvSpPr>
            <a:spLocks noGrp="1"/>
          </p:cNvSpPr>
          <p:nvPr>
            <p:ph type="body" sz="quarter" idx="10" hasCustomPrompt="1"/>
          </p:nvPr>
        </p:nvSpPr>
        <p:spPr>
          <a:xfrm>
            <a:off x="503238" y="3447695"/>
            <a:ext cx="4226417" cy="499711"/>
          </a:xfrm>
          <a:prstGeom prst="rect">
            <a:avLst/>
          </a:prstGeom>
        </p:spPr>
        <p:txBody>
          <a:bodyPr lIns="0" tIns="0" rIns="0" bIns="0"/>
          <a:lstStyle>
            <a:lvl1pPr marL="0" indent="0">
              <a:lnSpc>
                <a:spcPct val="100000"/>
              </a:lnSpc>
              <a:spcBef>
                <a:spcPts val="0"/>
              </a:spcBef>
              <a:buFontTx/>
              <a:buNone/>
              <a:defRPr sz="1400" b="0" i="0">
                <a:solidFill>
                  <a:schemeClr val="tx1"/>
                </a:solidFill>
                <a:latin typeface="72 Brand" panose="020B0504030603020204" pitchFamily="34" charset="0"/>
                <a:cs typeface="Arial" panose="020B0604020202020204" pitchFamily="34" charset="0"/>
              </a:defRPr>
            </a:lvl1pPr>
          </a:lstStyle>
          <a:p>
            <a:pPr lvl="0"/>
            <a:r>
              <a:rPr lang="en-US"/>
              <a:t>Name</a:t>
            </a:r>
            <a:br>
              <a:rPr lang="en-US"/>
            </a:br>
            <a:r>
              <a:rPr lang="en-US"/>
              <a:t>Email</a:t>
            </a:r>
          </a:p>
        </p:txBody>
      </p:sp>
      <p:pic>
        <p:nvPicPr>
          <p:cNvPr id="2" name="SAP Logo">
            <a:extLst>
              <a:ext uri="{FF2B5EF4-FFF2-40B4-BE49-F238E27FC236}">
                <a16:creationId xmlns:a16="http://schemas.microsoft.com/office/drawing/2014/main" id="{4211FE4D-917A-CDAA-19DF-5E95FC81FBD6}"/>
              </a:ext>
            </a:extLst>
          </p:cNvPr>
          <p:cNvPicPr>
            <a:picLocks noChangeAspect="1"/>
          </p:cNvPicPr>
          <p:nvPr userDrawn="1"/>
        </p:nvPicPr>
        <p:blipFill>
          <a:blip r:embed="rId2"/>
          <a:srcRect/>
          <a:stretch/>
        </p:blipFill>
        <p:spPr>
          <a:xfrm>
            <a:off x="9490439" y="5797296"/>
            <a:ext cx="2241550" cy="541064"/>
          </a:xfrm>
          <a:prstGeom prst="rect">
            <a:avLst/>
          </a:prstGeom>
        </p:spPr>
      </p:pic>
      <p:sp>
        <p:nvSpPr>
          <p:cNvPr id="3" name="Title 2">
            <a:extLst>
              <a:ext uri="{FF2B5EF4-FFF2-40B4-BE49-F238E27FC236}">
                <a16:creationId xmlns:a16="http://schemas.microsoft.com/office/drawing/2014/main" id="{AE09AB48-3B44-9364-8E90-FF56AFC1E9C0}"/>
              </a:ext>
            </a:extLst>
          </p:cNvPr>
          <p:cNvSpPr>
            <a:spLocks noGrp="1"/>
          </p:cNvSpPr>
          <p:nvPr>
            <p:ph type="title" hasCustomPrompt="1"/>
          </p:nvPr>
        </p:nvSpPr>
        <p:spPr>
          <a:xfrm>
            <a:off x="503871" y="1461263"/>
            <a:ext cx="5311143" cy="846386"/>
          </a:xfrm>
        </p:spPr>
        <p:txBody>
          <a:bodyPr/>
          <a:lstStyle>
            <a:lvl1pPr>
              <a:defRPr sz="5498" b="0" i="0">
                <a:latin typeface="72 Brand Medium" panose="020B0504030603020204" pitchFamily="34" charset="0"/>
              </a:defRPr>
            </a:lvl1pPr>
          </a:lstStyle>
          <a:p>
            <a:r>
              <a:rPr lang="en-GB"/>
              <a:t>Thank you.</a:t>
            </a:r>
            <a:endParaRPr lang="en-US"/>
          </a:p>
        </p:txBody>
      </p:sp>
    </p:spTree>
    <p:extLst>
      <p:ext uri="{BB962C8B-B14F-4D97-AF65-F5344CB8AC3E}">
        <p14:creationId xmlns:p14="http://schemas.microsoft.com/office/powerpoint/2010/main" val="35409303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6A48C2-A3D9-BAA5-28BE-E99878580A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87E3D-E435-523D-525B-D324614476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0C107B-54F2-86CC-B53A-5DAA1F6CBC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0512CE-6252-2447-9F18-E9108FA6E1CA}" type="datetimeFigureOut">
              <a:rPr lang="en-US" smtClean="0"/>
              <a:t>6/6/25</a:t>
            </a:fld>
            <a:endParaRPr lang="en-US"/>
          </a:p>
        </p:txBody>
      </p:sp>
      <p:sp>
        <p:nvSpPr>
          <p:cNvPr id="5" name="Footer Placeholder 4">
            <a:extLst>
              <a:ext uri="{FF2B5EF4-FFF2-40B4-BE49-F238E27FC236}">
                <a16:creationId xmlns:a16="http://schemas.microsoft.com/office/drawing/2014/main" id="{1D94D213-69B2-6785-A9ED-1DB386D670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1A28FA-0E3E-E4F1-EDC8-0387585E51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F41892-265F-1A4B-9155-E66418C211B1}" type="slidenum">
              <a:rPr lang="en-US" smtClean="0"/>
              <a:t>‹#›</a:t>
            </a:fld>
            <a:endParaRPr lang="en-US"/>
          </a:p>
        </p:txBody>
      </p:sp>
    </p:spTree>
    <p:extLst>
      <p:ext uri="{BB962C8B-B14F-4D97-AF65-F5344CB8AC3E}">
        <p14:creationId xmlns:p14="http://schemas.microsoft.com/office/powerpoint/2010/main" val="135374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5.xml"/><Relationship Id="rId1" Type="http://schemas.openxmlformats.org/officeDocument/2006/relationships/customXml" Target="../../customXml/item4.xml"/><Relationship Id="rId5"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image" Target="../media/image8.emf"/><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oleObject" Target="../embeddings/oleObject2.bin"/><Relationship Id="rId5" Type="http://schemas.openxmlformats.org/officeDocument/2006/relationships/image" Target="../media/image7.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7FFFFFCD_333546D4.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hyperlink" Target="https://dam.sap.com/mac/app/p/pdf/asset/preview/HR7THrx?h=&amp;ltr=a"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9.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23.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25.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3" Type="http://schemas.openxmlformats.org/officeDocument/2006/relationships/notesSlide" Target="../notesSlides/notesSlide6.xml"/><Relationship Id="rId7" Type="http://schemas.openxmlformats.org/officeDocument/2006/relationships/image" Target="../media/image27.svg"/><Relationship Id="rId12" Type="http://schemas.openxmlformats.org/officeDocument/2006/relationships/image" Target="../media/image32.png"/><Relationship Id="rId2" Type="http://schemas.openxmlformats.org/officeDocument/2006/relationships/slideLayout" Target="../slideLayouts/slideLayout6.xml"/><Relationship Id="rId16" Type="http://schemas.openxmlformats.org/officeDocument/2006/relationships/image" Target="../media/image9.png"/><Relationship Id="rId1" Type="http://schemas.openxmlformats.org/officeDocument/2006/relationships/tags" Target="../tags/tag5.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emf"/><Relationship Id="rId15" Type="http://schemas.openxmlformats.org/officeDocument/2006/relationships/image" Target="../media/image35.svg"/><Relationship Id="rId10" Type="http://schemas.openxmlformats.org/officeDocument/2006/relationships/image" Target="../media/image30.png"/><Relationship Id="rId4" Type="http://schemas.openxmlformats.org/officeDocument/2006/relationships/oleObject" Target="../embeddings/oleObject3.bin"/><Relationship Id="rId9" Type="http://schemas.openxmlformats.org/officeDocument/2006/relationships/image" Target="../media/image29.sv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25.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3" Type="http://schemas.openxmlformats.org/officeDocument/2006/relationships/notesSlide" Target="../notesSlides/notesSlide8.xml"/><Relationship Id="rId7" Type="http://schemas.openxmlformats.org/officeDocument/2006/relationships/image" Target="../media/image27.svg"/><Relationship Id="rId12" Type="http://schemas.openxmlformats.org/officeDocument/2006/relationships/image" Target="../media/image32.png"/><Relationship Id="rId2" Type="http://schemas.openxmlformats.org/officeDocument/2006/relationships/slideLayout" Target="../slideLayouts/slideLayout6.xml"/><Relationship Id="rId16" Type="http://schemas.openxmlformats.org/officeDocument/2006/relationships/image" Target="../media/image9.png"/><Relationship Id="rId1" Type="http://schemas.openxmlformats.org/officeDocument/2006/relationships/tags" Target="../tags/tag7.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emf"/><Relationship Id="rId15" Type="http://schemas.openxmlformats.org/officeDocument/2006/relationships/image" Target="../media/image35.svg"/><Relationship Id="rId10" Type="http://schemas.openxmlformats.org/officeDocument/2006/relationships/image" Target="../media/image30.png"/><Relationship Id="rId4" Type="http://schemas.openxmlformats.org/officeDocument/2006/relationships/oleObject" Target="../embeddings/oleObject4.bin"/><Relationship Id="rId9" Type="http://schemas.openxmlformats.org/officeDocument/2006/relationships/image" Target="../media/image29.svg"/><Relationship Id="rId1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8.xml"/><Relationship Id="rId6" Type="http://schemas.openxmlformats.org/officeDocument/2006/relationships/image" Target="../media/image9.png"/><Relationship Id="rId5" Type="http://schemas.openxmlformats.org/officeDocument/2006/relationships/image" Target="../media/image25.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25.e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notesSlide" Target="../notesSlides/notesSlide11.xml"/><Relationship Id="rId7" Type="http://schemas.openxmlformats.org/officeDocument/2006/relationships/image" Target="../media/image29.svg"/><Relationship Id="rId12" Type="http://schemas.openxmlformats.org/officeDocument/2006/relationships/image" Target="../media/image34.png"/><Relationship Id="rId2" Type="http://schemas.openxmlformats.org/officeDocument/2006/relationships/slideLayout" Target="../slideLayouts/slideLayout6.xml"/><Relationship Id="rId16" Type="http://schemas.openxmlformats.org/officeDocument/2006/relationships/image" Target="../media/image9.png"/><Relationship Id="rId1" Type="http://schemas.openxmlformats.org/officeDocument/2006/relationships/tags" Target="../tags/tag10.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25.emf"/><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2.xml"/><Relationship Id="rId7" Type="http://schemas.openxmlformats.org/officeDocument/2006/relationships/image" Target="../media/image37.png"/><Relationship Id="rId2" Type="http://schemas.openxmlformats.org/officeDocument/2006/relationships/slideLayout" Target="../slideLayouts/slideLayout6.xml"/><Relationship Id="rId1" Type="http://schemas.openxmlformats.org/officeDocument/2006/relationships/tags" Target="../tags/tag11.xml"/><Relationship Id="rId6" Type="http://schemas.openxmlformats.org/officeDocument/2006/relationships/image" Target="../media/image36.png"/><Relationship Id="rId5" Type="http://schemas.openxmlformats.org/officeDocument/2006/relationships/image" Target="../media/image25.e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14.xml"/><Relationship Id="rId7" Type="http://schemas.openxmlformats.org/officeDocument/2006/relationships/image" Target="../media/image41.png"/><Relationship Id="rId2" Type="http://schemas.openxmlformats.org/officeDocument/2006/relationships/slideLayout" Target="../slideLayouts/slideLayout7.xml"/><Relationship Id="rId1" Type="http://schemas.openxmlformats.org/officeDocument/2006/relationships/tags" Target="../tags/tag12.xml"/><Relationship Id="rId6" Type="http://schemas.openxmlformats.org/officeDocument/2006/relationships/image" Target="../media/image40.png"/><Relationship Id="rId5" Type="http://schemas.openxmlformats.org/officeDocument/2006/relationships/image" Target="../media/image39.emf"/><Relationship Id="rId10" Type="http://schemas.openxmlformats.org/officeDocument/2006/relationships/image" Target="../media/image9.png"/><Relationship Id="rId4" Type="http://schemas.openxmlformats.org/officeDocument/2006/relationships/oleObject" Target="../embeddings/oleObject6.bin"/><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customXml" Target="../../customXml/item3.xml"/><Relationship Id="rId1" Type="http://schemas.openxmlformats.org/officeDocument/2006/relationships/customXml" Target="../../customXml/item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4752C8-1E80-B141-5BC9-264FD3E5257B}"/>
              </a:ext>
            </a:extLst>
          </p:cNvPr>
          <p:cNvSpPr>
            <a:spLocks noGrp="1"/>
          </p:cNvSpPr>
          <p:nvPr>
            <p:ph type="title"/>
          </p:nvPr>
        </p:nvSpPr>
        <p:spPr>
          <a:xfrm>
            <a:off x="274018" y="2432064"/>
            <a:ext cx="9065999" cy="996936"/>
          </a:xfrm>
        </p:spPr>
        <p:txBody>
          <a:bodyPr/>
          <a:lstStyle/>
          <a:p>
            <a:r>
              <a:rPr lang="en-US" sz="2800" b="1" dirty="0">
                <a:solidFill>
                  <a:srgbClr val="002986"/>
                </a:solidFill>
              </a:rPr>
              <a:t>End-Sem Review</a:t>
            </a:r>
          </a:p>
        </p:txBody>
      </p:sp>
      <p:pic>
        <p:nvPicPr>
          <p:cNvPr id="6" name="Picture Placeholder 14">
            <a:extLst>
              <a:ext uri="{FF2B5EF4-FFF2-40B4-BE49-F238E27FC236}">
                <a16:creationId xmlns:a16="http://schemas.microsoft.com/office/drawing/2014/main" id="{62062B0C-117D-DD93-4A75-BCD9A3E1E77F}"/>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t="195" b="195"/>
          <a:stretch/>
        </p:blipFill>
        <p:spPr bwMode="black">
          <a:xfrm>
            <a:off x="6275341" y="893"/>
            <a:ext cx="5916659" cy="6856215"/>
          </a:xfrm>
          <a:prstGeom prst="rect">
            <a:avLst/>
          </a:prstGeom>
        </p:spPr>
      </p:pic>
      <p:sp>
        <p:nvSpPr>
          <p:cNvPr id="4" name="TextBox 3">
            <a:extLst>
              <a:ext uri="{FF2B5EF4-FFF2-40B4-BE49-F238E27FC236}">
                <a16:creationId xmlns:a16="http://schemas.microsoft.com/office/drawing/2014/main" id="{15030256-AA97-B701-4F04-E59CFE24A257}"/>
              </a:ext>
            </a:extLst>
          </p:cNvPr>
          <p:cNvSpPr txBox="1"/>
          <p:nvPr/>
        </p:nvSpPr>
        <p:spPr>
          <a:xfrm>
            <a:off x="274019" y="3386104"/>
            <a:ext cx="5400830" cy="646331"/>
          </a:xfrm>
          <a:prstGeom prst="rect">
            <a:avLst/>
          </a:prstGeom>
          <a:noFill/>
        </p:spPr>
        <p:txBody>
          <a:bodyPr wrap="square">
            <a:spAutoFit/>
          </a:bodyPr>
          <a:lstStyle/>
          <a:p>
            <a:r>
              <a:rPr lang="en-IN" dirty="0">
                <a:highlight>
                  <a:srgbClr val="FFFFFF"/>
                </a:highlight>
              </a:rPr>
              <a:t>API METADATA BASED DYNAMIC APPLICATION GENERATION FOR BUSINESS INSIGHTS</a:t>
            </a:r>
          </a:p>
        </p:txBody>
      </p:sp>
      <p:sp>
        <p:nvSpPr>
          <p:cNvPr id="5" name="Process 4">
            <a:extLst>
              <a:ext uri="{FF2B5EF4-FFF2-40B4-BE49-F238E27FC236}">
                <a16:creationId xmlns:a16="http://schemas.microsoft.com/office/drawing/2014/main" id="{EE703EF8-A19C-2C42-3201-CCBC8DC4E62B}"/>
              </a:ext>
            </a:extLst>
          </p:cNvPr>
          <p:cNvSpPr/>
          <p:nvPr/>
        </p:nvSpPr>
        <p:spPr bwMode="gray">
          <a:xfrm>
            <a:off x="210206" y="2984936"/>
            <a:ext cx="96827" cy="996935"/>
          </a:xfrm>
          <a:prstGeom prst="flowChartProcess">
            <a:avLst/>
          </a:prstGeom>
          <a:solidFill>
            <a:srgbClr val="002986"/>
          </a:solidFill>
          <a:ln w="25400" algn="ctr">
            <a:noFill/>
            <a:miter lim="800000"/>
            <a:headEnd/>
            <a:tailEnd/>
          </a:ln>
          <a:effectLst>
            <a:outerShdw blurRad="50800" dist="38100" dir="10800000" algn="r" rotWithShape="0">
              <a:prstClr val="black">
                <a:alpha val="40000"/>
              </a:prstClr>
            </a:outerShdw>
          </a:effectLst>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002986"/>
              </a:solidFill>
              <a:effectLst/>
              <a:uLnTx/>
              <a:uFillTx/>
              <a:latin typeface="Arial"/>
              <a:ea typeface="Arial Unicode MS" pitchFamily="34" charset="-128"/>
              <a:cs typeface="Arial Unicode MS" pitchFamily="34" charset="-128"/>
            </a:endParaRPr>
          </a:p>
        </p:txBody>
      </p:sp>
      <p:sp>
        <p:nvSpPr>
          <p:cNvPr id="8" name="Spaker name - Dynamic" descr="{&quot;templafy&quot;:{&quot;id&quot;:&quot;a6c41296-500e-46b2-a311-823124569f56&quot;}}">
            <a:extLst>
              <a:ext uri="{FF2B5EF4-FFF2-40B4-BE49-F238E27FC236}">
                <a16:creationId xmlns:a16="http://schemas.microsoft.com/office/drawing/2014/main" id="{80DF5A99-32F6-1D31-C58E-6449F72242AA}"/>
              </a:ext>
            </a:extLst>
          </p:cNvPr>
          <p:cNvSpPr txBox="1">
            <a:spLocks/>
          </p:cNvSpPr>
          <p:nvPr/>
        </p:nvSpPr>
        <p:spPr>
          <a:xfrm>
            <a:off x="252247" y="4753581"/>
            <a:ext cx="5400830" cy="270000"/>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72 Brand Medium" panose="020B0504030603020204" pitchFamily="34" charset="0"/>
                <a:ea typeface="+mn-ea"/>
                <a:cs typeface="72" panose="020B0503030000000003" pitchFamily="34" charset="0"/>
              </a:rPr>
              <a:t>Navya Khurana</a:t>
            </a:r>
          </a:p>
        </p:txBody>
      </p:sp>
    </p:spTree>
    <p:custDataLst>
      <p:custData r:id="rId1"/>
      <p:custData r:id="rId2"/>
    </p:custDataLst>
    <p:extLst>
      <p:ext uri="{BB962C8B-B14F-4D97-AF65-F5344CB8AC3E}">
        <p14:creationId xmlns:p14="http://schemas.microsoft.com/office/powerpoint/2010/main" val="331687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6954D7-2859-AD72-5D33-F7A5AC0FB67D}"/>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0687" t="22029" r="37877" b="4533"/>
          <a:stretch/>
        </p:blipFill>
        <p:spPr>
          <a:xfrm>
            <a:off x="1588" y="1"/>
            <a:ext cx="6876000" cy="6854613"/>
          </a:xfrm>
          <a:prstGeom prst="rect">
            <a:avLst/>
          </a:prstGeom>
        </p:spPr>
      </p:pic>
      <p:graphicFrame>
        <p:nvGraphicFramePr>
          <p:cNvPr id="21" name="think-cell data - do not delete" hidden="1">
            <a:extLst>
              <a:ext uri="{FF2B5EF4-FFF2-40B4-BE49-F238E27FC236}">
                <a16:creationId xmlns:a16="http://schemas.microsoft.com/office/drawing/2014/main" id="{D133F7FA-D6A3-88B3-7455-8EE69EDD960A}"/>
              </a:ext>
            </a:extLst>
          </p:cNvPr>
          <p:cNvGraphicFramePr>
            <a:graphicFrameLocks noChangeAspect="1"/>
          </p:cNvGraphicFramePr>
          <p:nvPr>
            <p:custDataLst>
              <p:tags r:id="rId2"/>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21" name="think-cell data - do not delete" hidden="1">
                        <a:extLst>
                          <a:ext uri="{FF2B5EF4-FFF2-40B4-BE49-F238E27FC236}">
                            <a16:creationId xmlns:a16="http://schemas.microsoft.com/office/drawing/2014/main" id="{D133F7FA-D6A3-88B3-7455-8EE69EDD960A}"/>
                          </a:ext>
                        </a:extLst>
                      </p:cNvPr>
                      <p:cNvPicPr/>
                      <p:nvPr/>
                    </p:nvPicPr>
                    <p:blipFill>
                      <a:blip r:embed="rId7"/>
                      <a:stretch>
                        <a:fillRect/>
                      </a:stretch>
                    </p:blipFill>
                    <p:spPr>
                      <a:xfrm>
                        <a:off x="1588" y="2480"/>
                        <a:ext cx="1227" cy="1588"/>
                      </a:xfrm>
                      <a:prstGeom prst="rect">
                        <a:avLst/>
                      </a:prstGeom>
                    </p:spPr>
                  </p:pic>
                </p:oleObj>
              </mc:Fallback>
            </mc:AlternateContent>
          </a:graphicData>
        </a:graphic>
      </p:graphicFrame>
      <p:sp>
        <p:nvSpPr>
          <p:cNvPr id="5" name="Right Triangle 4">
            <a:extLst>
              <a:ext uri="{FF2B5EF4-FFF2-40B4-BE49-F238E27FC236}">
                <a16:creationId xmlns:a16="http://schemas.microsoft.com/office/drawing/2014/main" id="{F2D4E645-B024-845D-32BA-1DFDC03C043C}"/>
              </a:ext>
            </a:extLst>
          </p:cNvPr>
          <p:cNvSpPr/>
          <p:nvPr/>
        </p:nvSpPr>
        <p:spPr bwMode="auto">
          <a:xfrm rot="16200000">
            <a:off x="12897" y="-5177"/>
            <a:ext cx="6859515" cy="6869868"/>
          </a:xfrm>
          <a:prstGeom prst="r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eaLnBrk="0" fontAlgn="base" hangingPunct="0">
              <a:spcBef>
                <a:spcPct val="0"/>
              </a:spcBef>
              <a:spcAft>
                <a:spcPct val="0"/>
              </a:spcAft>
              <a:defRPr/>
            </a:pPr>
            <a:endParaRPr lang="en-US" sz="2000">
              <a:gradFill>
                <a:gsLst>
                  <a:gs pos="0">
                    <a:srgbClr val="000000"/>
                  </a:gs>
                  <a:gs pos="100000">
                    <a:srgbClr val="000000"/>
                  </a:gs>
                </a:gsLst>
                <a:lin ang="5400000" scaled="1"/>
              </a:gradFill>
              <a:latin typeface="Arial" panose="020B0604020202020204"/>
              <a:ea typeface="Segoe UI" pitchFamily="34" charset="0"/>
              <a:cs typeface="Arial" panose="020B0604020202020204" pitchFamily="34" charset="0"/>
            </a:endParaRPr>
          </a:p>
        </p:txBody>
      </p:sp>
      <p:sp>
        <p:nvSpPr>
          <p:cNvPr id="6" name="object 8">
            <a:extLst>
              <a:ext uri="{FF2B5EF4-FFF2-40B4-BE49-F238E27FC236}">
                <a16:creationId xmlns:a16="http://schemas.microsoft.com/office/drawing/2014/main" id="{5E4FB97E-1F05-7097-78A3-B7AEAC45A2C8}"/>
              </a:ext>
            </a:extLst>
          </p:cNvPr>
          <p:cNvSpPr txBox="1">
            <a:spLocks noGrp="1"/>
          </p:cNvSpPr>
          <p:nvPr>
            <p:ph type="title"/>
          </p:nvPr>
        </p:nvSpPr>
        <p:spPr>
          <a:xfrm>
            <a:off x="638159" y="931738"/>
            <a:ext cx="2264410" cy="359073"/>
          </a:xfrm>
          <a:prstGeom prst="rect">
            <a:avLst/>
          </a:prstGeom>
        </p:spPr>
        <p:txBody>
          <a:bodyPr vert="horz" wrap="square" lIns="0" tIns="12700" rIns="0" bIns="0" rtlCol="0" anchor="t">
            <a:spAutoFit/>
          </a:bodyPr>
          <a:lstStyle/>
          <a:p>
            <a:pPr marL="12700">
              <a:spcBef>
                <a:spcPts val="100"/>
              </a:spcBef>
            </a:pPr>
            <a:r>
              <a:rPr sz="2500" b="1" spc="-10">
                <a:solidFill>
                  <a:schemeClr val="bg1"/>
                </a:solidFill>
                <a:latin typeface="72 Brand" panose="020B0504030603020204" pitchFamily="34" charset="0"/>
              </a:rPr>
              <a:t>Agenda</a:t>
            </a:r>
            <a:endParaRPr sz="2500" b="1">
              <a:solidFill>
                <a:schemeClr val="bg1"/>
              </a:solidFill>
              <a:latin typeface="72 Brand" panose="020B0504030603020204" pitchFamily="34" charset="0"/>
            </a:endParaRPr>
          </a:p>
        </p:txBody>
      </p:sp>
      <p:sp>
        <p:nvSpPr>
          <p:cNvPr id="2" name="TextBox 1">
            <a:extLst>
              <a:ext uri="{FF2B5EF4-FFF2-40B4-BE49-F238E27FC236}">
                <a16:creationId xmlns:a16="http://schemas.microsoft.com/office/drawing/2014/main" id="{67169B5F-233D-B888-83AA-B7B5E41E11D2}"/>
              </a:ext>
            </a:extLst>
          </p:cNvPr>
          <p:cNvSpPr txBox="1"/>
          <p:nvPr/>
        </p:nvSpPr>
        <p:spPr>
          <a:xfrm>
            <a:off x="6200134" y="1451285"/>
            <a:ext cx="4611449" cy="4801314"/>
          </a:xfrm>
          <a:prstGeom prst="rect">
            <a:avLst/>
          </a:prstGeom>
          <a:noFill/>
        </p:spPr>
        <p:txBody>
          <a:bodyPr wrap="square" lIns="0" tIns="0" rIns="0" bIns="0" rtlCol="0" anchor="t">
            <a:spAutoFit/>
          </a:bodyPr>
          <a:lstStyle/>
          <a:p>
            <a:pPr marL="457200" indent="-457200" defTabSz="1088449" fontAlgn="base">
              <a:spcBef>
                <a:spcPct val="50000"/>
              </a:spcBef>
              <a:spcAft>
                <a:spcPct val="0"/>
              </a:spcAft>
              <a:buClr>
                <a:srgbClr val="0070F2"/>
              </a:buClr>
              <a:buSzPct val="80000"/>
              <a:buFont typeface="Wingdings" pitchFamily="2" charset="2"/>
              <a:buChar char="Ø"/>
            </a:pPr>
            <a:r>
              <a:rPr lang="en-GB" sz="2000" kern="0">
                <a:solidFill>
                  <a:srgbClr val="000000"/>
                </a:solidFill>
                <a:latin typeface="72" panose="020B0503030000000003" pitchFamily="34" charset="0"/>
                <a:ea typeface="Arial Unicode MS" pitchFamily="34" charset="-128"/>
                <a:cs typeface="72" panose="020B0503030000000003" pitchFamily="34" charset="0"/>
              </a:rPr>
              <a:t>Problem Statement</a:t>
            </a:r>
          </a:p>
          <a:p>
            <a:pPr marL="457200" indent="-457200" defTabSz="1088449" fontAlgn="base">
              <a:spcBef>
                <a:spcPct val="50000"/>
              </a:spcBef>
              <a:spcAft>
                <a:spcPct val="0"/>
              </a:spcAft>
              <a:buClr>
                <a:srgbClr val="0070F2"/>
              </a:buClr>
              <a:buSzPct val="80000"/>
              <a:buFont typeface="Wingdings" pitchFamily="2" charset="2"/>
              <a:buChar char="Ø"/>
            </a:pPr>
            <a:r>
              <a:rPr lang="en-IN" sz="2000">
                <a:latin typeface="72" panose="020B0503030000000003" pitchFamily="34" charset="0"/>
                <a:cs typeface="72" panose="020B0503030000000003" pitchFamily="34" charset="0"/>
              </a:rPr>
              <a:t>Solution &amp; Architecture</a:t>
            </a:r>
          </a:p>
          <a:p>
            <a:pPr marL="457200" indent="-457200" defTabSz="1088449" fontAlgn="base">
              <a:spcBef>
                <a:spcPct val="50000"/>
              </a:spcBef>
              <a:spcAft>
                <a:spcPct val="0"/>
              </a:spcAft>
              <a:buClr>
                <a:srgbClr val="0070F2"/>
              </a:buClr>
              <a:buSzPct val="80000"/>
              <a:buFont typeface="Wingdings" pitchFamily="2" charset="2"/>
              <a:buChar char="Ø"/>
            </a:pPr>
            <a:r>
              <a:rPr lang="en-IN" sz="2000">
                <a:latin typeface="72"/>
                <a:cs typeface="72" panose="020B0503030000000003" pitchFamily="34" charset="0"/>
              </a:rPr>
              <a:t>Summarisation Chain techniques</a:t>
            </a:r>
          </a:p>
          <a:p>
            <a:pPr marL="742950" lvl="1" indent="-285750" defTabSz="1088449" fontAlgn="base">
              <a:spcBef>
                <a:spcPct val="50000"/>
              </a:spcBef>
              <a:spcAft>
                <a:spcPct val="0"/>
              </a:spcAft>
              <a:buClr>
                <a:srgbClr val="0070F2"/>
              </a:buClr>
              <a:buSzPct val="80000"/>
              <a:buFont typeface="Arial" panose="020B0604020202020204" pitchFamily="34" charset="0"/>
              <a:buChar char="•"/>
            </a:pPr>
            <a:r>
              <a:rPr lang="en-GB" sz="1600" kern="0">
                <a:solidFill>
                  <a:srgbClr val="000000"/>
                </a:solidFill>
                <a:latin typeface="72" panose="020B0503030000000003" pitchFamily="34" charset="0"/>
                <a:ea typeface="Arial Unicode MS" pitchFamily="34" charset="-128"/>
                <a:cs typeface="72" panose="020B0503030000000003" pitchFamily="34" charset="0"/>
              </a:rPr>
              <a:t>Stuff</a:t>
            </a:r>
          </a:p>
          <a:p>
            <a:pPr marL="742950" lvl="1" indent="-285750" defTabSz="1088449" fontAlgn="base">
              <a:spcBef>
                <a:spcPct val="50000"/>
              </a:spcBef>
              <a:spcAft>
                <a:spcPct val="0"/>
              </a:spcAft>
              <a:buClr>
                <a:srgbClr val="0070F2"/>
              </a:buClr>
              <a:buSzPct val="80000"/>
              <a:buFont typeface="Arial" panose="020B0604020202020204" pitchFamily="34" charset="0"/>
              <a:buChar char="•"/>
            </a:pPr>
            <a:r>
              <a:rPr lang="en-GB" sz="1600" kern="0">
                <a:solidFill>
                  <a:srgbClr val="000000"/>
                </a:solidFill>
                <a:latin typeface="72" panose="020B0503030000000003" pitchFamily="34" charset="0"/>
                <a:ea typeface="Arial Unicode MS" pitchFamily="34" charset="-128"/>
                <a:cs typeface="72" panose="020B0503030000000003" pitchFamily="34" charset="0"/>
              </a:rPr>
              <a:t>Map Reduced</a:t>
            </a:r>
          </a:p>
          <a:p>
            <a:pPr marL="742950" lvl="1" indent="-285750" defTabSz="1088449" fontAlgn="base">
              <a:spcBef>
                <a:spcPct val="50000"/>
              </a:spcBef>
              <a:spcAft>
                <a:spcPct val="0"/>
              </a:spcAft>
              <a:buClr>
                <a:srgbClr val="0070F2"/>
              </a:buClr>
              <a:buSzPct val="80000"/>
              <a:buFont typeface="Arial" panose="020B0604020202020204" pitchFamily="34" charset="0"/>
              <a:buChar char="•"/>
            </a:pPr>
            <a:r>
              <a:rPr lang="en-GB" sz="1600" kern="0">
                <a:solidFill>
                  <a:srgbClr val="000000"/>
                </a:solidFill>
                <a:latin typeface="72" panose="020B0503030000000003" pitchFamily="34" charset="0"/>
                <a:ea typeface="Arial Unicode MS" pitchFamily="34" charset="-128"/>
                <a:cs typeface="72" panose="020B0503030000000003" pitchFamily="34" charset="0"/>
              </a:rPr>
              <a:t>Refine</a:t>
            </a:r>
            <a:endParaRPr lang="en-IN" sz="1600">
              <a:latin typeface="72" panose="020B0503030000000003" pitchFamily="34" charset="0"/>
              <a:cs typeface="72" panose="020B0503030000000003" pitchFamily="34" charset="0"/>
            </a:endParaRPr>
          </a:p>
          <a:p>
            <a:pPr marL="457200" indent="-457200" defTabSz="1088449" fontAlgn="base">
              <a:spcBef>
                <a:spcPct val="50000"/>
              </a:spcBef>
              <a:spcAft>
                <a:spcPct val="0"/>
              </a:spcAft>
              <a:buClr>
                <a:srgbClr val="0070F2"/>
              </a:buClr>
              <a:buSzPct val="80000"/>
              <a:buFont typeface="Wingdings" pitchFamily="2" charset="2"/>
              <a:buChar char="Ø"/>
            </a:pPr>
            <a:r>
              <a:rPr lang="en-GB" sz="2000" kern="0">
                <a:solidFill>
                  <a:srgbClr val="000000"/>
                </a:solidFill>
                <a:latin typeface="72"/>
                <a:ea typeface="Arial Unicode MS"/>
                <a:cs typeface="72" panose="020B0503030000000003" pitchFamily="34" charset="0"/>
              </a:rPr>
              <a:t>Custom Model Creation &amp; consuming cap-llm</a:t>
            </a:r>
          </a:p>
          <a:p>
            <a:pPr marL="457200" indent="-457200" defTabSz="1088449" fontAlgn="base">
              <a:spcBef>
                <a:spcPct val="50000"/>
              </a:spcBef>
              <a:spcAft>
                <a:spcPct val="0"/>
              </a:spcAft>
              <a:buClr>
                <a:srgbClr val="0070F2"/>
              </a:buClr>
              <a:buSzPct val="80000"/>
              <a:buFont typeface="Wingdings" pitchFamily="2" charset="2"/>
              <a:buChar char="Ø"/>
            </a:pPr>
            <a:r>
              <a:rPr lang="en-IN" sz="2000">
                <a:latin typeface="72"/>
                <a:cs typeface="72" panose="020B0503030000000003" pitchFamily="34" charset="0"/>
              </a:rPr>
              <a:t>Consuming custom model in summarization chain</a:t>
            </a:r>
          </a:p>
          <a:p>
            <a:pPr marL="457200" indent="-457200" defTabSz="1088449" fontAlgn="base">
              <a:spcBef>
                <a:spcPct val="50000"/>
              </a:spcBef>
              <a:spcAft>
                <a:spcPct val="0"/>
              </a:spcAft>
              <a:buClr>
                <a:srgbClr val="0070F2"/>
              </a:buClr>
              <a:buSzPct val="80000"/>
              <a:buFont typeface="Wingdings" pitchFamily="2" charset="2"/>
              <a:buChar char="Ø"/>
            </a:pPr>
            <a:r>
              <a:rPr lang="en-IN" sz="2000">
                <a:latin typeface="72"/>
                <a:cs typeface="72" panose="020B0503030000000003" pitchFamily="34" charset="0"/>
              </a:rPr>
              <a:t>Demo: BO Summarisation</a:t>
            </a:r>
            <a:endParaRPr lang="en-GB" sz="2000" b="1" kern="0">
              <a:solidFill>
                <a:srgbClr val="000000"/>
              </a:solidFill>
              <a:latin typeface="72"/>
              <a:ea typeface="Arial Unicode MS" pitchFamily="34" charset="-128"/>
              <a:cs typeface="72" panose="020B0503030000000003" pitchFamily="34" charset="0"/>
            </a:endParaRPr>
          </a:p>
          <a:p>
            <a:pPr marL="457200" indent="-457200" defTabSz="1088449" fontAlgn="base">
              <a:spcBef>
                <a:spcPct val="50000"/>
              </a:spcBef>
              <a:spcAft>
                <a:spcPct val="0"/>
              </a:spcAft>
              <a:buClr>
                <a:srgbClr val="0070F2"/>
              </a:buClr>
              <a:buSzPct val="80000"/>
              <a:buFont typeface="Wingdings" pitchFamily="2" charset="2"/>
              <a:buChar char="Ø"/>
            </a:pPr>
            <a:r>
              <a:rPr lang="en-IN" sz="2000">
                <a:latin typeface="72" panose="020B0503030000000003" pitchFamily="34" charset="0"/>
                <a:cs typeface="72" panose="020B0503030000000003" pitchFamily="34" charset="0"/>
              </a:rPr>
              <a:t>Roadmap / Future Enhancements</a:t>
            </a:r>
          </a:p>
        </p:txBody>
      </p:sp>
      <p:pic>
        <p:nvPicPr>
          <p:cNvPr id="7" name="Picture Placeholder 11">
            <a:extLst>
              <a:ext uri="{FF2B5EF4-FFF2-40B4-BE49-F238E27FC236}">
                <a16:creationId xmlns:a16="http://schemas.microsoft.com/office/drawing/2014/main" id="{6C2D2D9E-8BBA-ECB5-6F79-A5F4A2D6F75E}"/>
              </a:ext>
            </a:extLst>
          </p:cNvPr>
          <p:cNvPicPr>
            <a:picLocks noChangeAspect="1"/>
          </p:cNvPicPr>
          <p:nvPr/>
        </p:nvPicPr>
        <p:blipFill rotWithShape="1">
          <a:blip r:embed="rId8"/>
          <a:srcRect l="6995" t="37794" r="23124" b="50347"/>
          <a:stretch/>
        </p:blipFill>
        <p:spPr bwMode="black">
          <a:xfrm rot="5400000">
            <a:off x="8504272" y="3170275"/>
            <a:ext cx="6858001" cy="517450"/>
          </a:xfrm>
          <a:prstGeom prst="rect">
            <a:avLst/>
          </a:prstGeom>
        </p:spPr>
      </p:pic>
    </p:spTree>
    <p:custDataLst>
      <p:tags r:id="rId1"/>
    </p:custDataLst>
    <p:extLst>
      <p:ext uri="{BB962C8B-B14F-4D97-AF65-F5344CB8AC3E}">
        <p14:creationId xmlns:p14="http://schemas.microsoft.com/office/powerpoint/2010/main" val="277005831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2">
                                            <p:txEl>
                                              <p:pRg st="1" end="1"/>
                                            </p:txEl>
                                          </p:spTgt>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2">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2">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2">
                                            <p:txEl>
                                              <p:pRg st="5" end="5"/>
                                            </p:txEl>
                                          </p:spTgt>
                                        </p:tgtEl>
                                      </p:cBhvr>
                                    </p:animEffect>
                                  </p:childTnLst>
                                </p:cTn>
                              </p:par>
                            </p:childTnLst>
                          </p:cTn>
                        </p:par>
                        <p:par>
                          <p:cTn id="31" fill="hold">
                            <p:stCondLst>
                              <p:cond delay="1500"/>
                            </p:stCondLst>
                            <p:childTnLst>
                              <p:par>
                                <p:cTn id="32" presetID="12" presetClass="entr" presetSubtype="4" fill="hold" grpId="0" nodeType="after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 calcmode="lin" valueType="num">
                                      <p:cBhvr additive="base">
                                        <p:cTn id="34" dur="500"/>
                                        <p:tgtEl>
                                          <p:spTgt spid="2">
                                            <p:txEl>
                                              <p:pRg st="6" end="6"/>
                                            </p:txEl>
                                          </p:spTgt>
                                        </p:tgtEl>
                                        <p:attrNameLst>
                                          <p:attrName>ppt_y</p:attrName>
                                        </p:attrNameLst>
                                      </p:cBhvr>
                                      <p:tavLst>
                                        <p:tav tm="0">
                                          <p:val>
                                            <p:strVal val="#ppt_y+#ppt_h*1.125000"/>
                                          </p:val>
                                        </p:tav>
                                        <p:tav tm="100000">
                                          <p:val>
                                            <p:strVal val="#ppt_y"/>
                                          </p:val>
                                        </p:tav>
                                      </p:tavLst>
                                    </p:anim>
                                    <p:animEffect transition="in" filter="wipe(up)">
                                      <p:cBhvr>
                                        <p:cTn id="35" dur="500"/>
                                        <p:tgtEl>
                                          <p:spTgt spid="2">
                                            <p:txEl>
                                              <p:pRg st="6" end="6"/>
                                            </p:txEl>
                                          </p:spTgt>
                                        </p:tgtEl>
                                      </p:cBhvr>
                                    </p:animEffect>
                                  </p:childTnLst>
                                </p:cTn>
                              </p:par>
                            </p:childTnLst>
                          </p:cTn>
                        </p:par>
                        <p:par>
                          <p:cTn id="36" fill="hold">
                            <p:stCondLst>
                              <p:cond delay="2000"/>
                            </p:stCondLst>
                            <p:childTnLst>
                              <p:par>
                                <p:cTn id="37" presetID="12" presetClass="entr" presetSubtype="4" fill="hold" grpId="0" nodeType="after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 calcmode="lin" valueType="num">
                                      <p:cBhvr additive="base">
                                        <p:cTn id="39" dur="500"/>
                                        <p:tgtEl>
                                          <p:spTgt spid="2">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2">
                                            <p:txEl>
                                              <p:pRg st="7" end="7"/>
                                            </p:txEl>
                                          </p:spTgt>
                                        </p:tgtEl>
                                      </p:cBhvr>
                                    </p:animEffect>
                                  </p:childTnLst>
                                </p:cTn>
                              </p:par>
                            </p:childTnLst>
                          </p:cTn>
                        </p:par>
                        <p:par>
                          <p:cTn id="41" fill="hold">
                            <p:stCondLst>
                              <p:cond delay="2500"/>
                            </p:stCondLst>
                            <p:childTnLst>
                              <p:par>
                                <p:cTn id="42" presetID="12" presetClass="entr" presetSubtype="4" fill="hold" grpId="0" nodeType="after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 calcmode="lin" valueType="num">
                                      <p:cBhvr additive="base">
                                        <p:cTn id="44" dur="500"/>
                                        <p:tgtEl>
                                          <p:spTgt spid="2">
                                            <p:txEl>
                                              <p:pRg st="8" end="8"/>
                                            </p:txEl>
                                          </p:spTgt>
                                        </p:tgtEl>
                                        <p:attrNameLst>
                                          <p:attrName>ppt_y</p:attrName>
                                        </p:attrNameLst>
                                      </p:cBhvr>
                                      <p:tavLst>
                                        <p:tav tm="0">
                                          <p:val>
                                            <p:strVal val="#ppt_y+#ppt_h*1.125000"/>
                                          </p:val>
                                        </p:tav>
                                        <p:tav tm="100000">
                                          <p:val>
                                            <p:strVal val="#ppt_y"/>
                                          </p:val>
                                        </p:tav>
                                      </p:tavLst>
                                    </p:anim>
                                    <p:animEffect transition="in" filter="wipe(up)">
                                      <p:cBhvr>
                                        <p:cTn id="45" dur="500"/>
                                        <p:tgtEl>
                                          <p:spTgt spid="2">
                                            <p:txEl>
                                              <p:pRg st="8" end="8"/>
                                            </p:txEl>
                                          </p:spTgt>
                                        </p:tgtEl>
                                      </p:cBhvr>
                                    </p:animEffect>
                                  </p:childTnLst>
                                </p:cTn>
                              </p:par>
                            </p:childTnLst>
                          </p:cTn>
                        </p:par>
                        <p:par>
                          <p:cTn id="46" fill="hold">
                            <p:stCondLst>
                              <p:cond delay="3000"/>
                            </p:stCondLst>
                            <p:childTnLst>
                              <p:par>
                                <p:cTn id="47" presetID="12" presetClass="entr" presetSubtype="4" fill="hold" grpId="0" nodeType="afterEffect">
                                  <p:stCondLst>
                                    <p:cond delay="0"/>
                                  </p:stCondLst>
                                  <p:childTnLst>
                                    <p:set>
                                      <p:cBhvr>
                                        <p:cTn id="48" dur="1" fill="hold">
                                          <p:stCondLst>
                                            <p:cond delay="0"/>
                                          </p:stCondLst>
                                        </p:cTn>
                                        <p:tgtEl>
                                          <p:spTgt spid="2">
                                            <p:txEl>
                                              <p:pRg st="9" end="9"/>
                                            </p:txEl>
                                          </p:spTgt>
                                        </p:tgtEl>
                                        <p:attrNameLst>
                                          <p:attrName>style.visibility</p:attrName>
                                        </p:attrNameLst>
                                      </p:cBhvr>
                                      <p:to>
                                        <p:strVal val="visible"/>
                                      </p:to>
                                    </p:set>
                                    <p:anim calcmode="lin" valueType="num">
                                      <p:cBhvr additive="base">
                                        <p:cTn id="49" dur="500"/>
                                        <p:tgtEl>
                                          <p:spTgt spid="2">
                                            <p:txEl>
                                              <p:pRg st="9" end="9"/>
                                            </p:txEl>
                                          </p:spTgt>
                                        </p:tgtEl>
                                        <p:attrNameLst>
                                          <p:attrName>ppt_y</p:attrName>
                                        </p:attrNameLst>
                                      </p:cBhvr>
                                      <p:tavLst>
                                        <p:tav tm="0">
                                          <p:val>
                                            <p:strVal val="#ppt_y+#ppt_h*1.125000"/>
                                          </p:val>
                                        </p:tav>
                                        <p:tav tm="100000">
                                          <p:val>
                                            <p:strVal val="#ppt_y"/>
                                          </p:val>
                                        </p:tav>
                                      </p:tavLst>
                                    </p:anim>
                                    <p:animEffect transition="in" filter="wipe(up)">
                                      <p:cBhvr>
                                        <p:cTn id="50"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FA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9E3346-2F73-8E94-9526-55FDC7D67B0A}"/>
              </a:ext>
            </a:extLst>
          </p:cNvPr>
          <p:cNvPicPr>
            <a:picLocks noChangeAspect="1"/>
          </p:cNvPicPr>
          <p:nvPr/>
        </p:nvPicPr>
        <p:blipFill rotWithShape="1">
          <a:blip r:embed="rId3"/>
          <a:srcRect l="17341" t="12004" r="19941" b="16155"/>
          <a:stretch/>
        </p:blipFill>
        <p:spPr>
          <a:xfrm>
            <a:off x="11451772" y="159202"/>
            <a:ext cx="537084" cy="520559"/>
          </a:xfrm>
          <a:prstGeom prst="rect">
            <a:avLst/>
          </a:prstGeom>
        </p:spPr>
      </p:pic>
      <p:sp>
        <p:nvSpPr>
          <p:cNvPr id="6" name="Freeform 5">
            <a:extLst>
              <a:ext uri="{FF2B5EF4-FFF2-40B4-BE49-F238E27FC236}">
                <a16:creationId xmlns:a16="http://schemas.microsoft.com/office/drawing/2014/main" id="{9848E814-FC20-71FC-BB0D-D6700A01B4AF}"/>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 name="TextBox 1">
            <a:extLst>
              <a:ext uri="{FF2B5EF4-FFF2-40B4-BE49-F238E27FC236}">
                <a16:creationId xmlns:a16="http://schemas.microsoft.com/office/drawing/2014/main" id="{A8E18FE0-63E3-2483-FD89-225623DC53A0}"/>
              </a:ext>
            </a:extLst>
          </p:cNvPr>
          <p:cNvSpPr txBox="1"/>
          <p:nvPr/>
        </p:nvSpPr>
        <p:spPr>
          <a:xfrm>
            <a:off x="568007" y="633165"/>
            <a:ext cx="1824538"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&lt;heading&gt;</a:t>
            </a:r>
          </a:p>
        </p:txBody>
      </p:sp>
      <p:sp>
        <p:nvSpPr>
          <p:cNvPr id="3" name="TextBox 2">
            <a:extLst>
              <a:ext uri="{FF2B5EF4-FFF2-40B4-BE49-F238E27FC236}">
                <a16:creationId xmlns:a16="http://schemas.microsoft.com/office/drawing/2014/main" id="{0B2D721E-7038-67C6-843C-263726DFC22F}"/>
              </a:ext>
            </a:extLst>
          </p:cNvPr>
          <p:cNvSpPr txBox="1"/>
          <p:nvPr/>
        </p:nvSpPr>
        <p:spPr>
          <a:xfrm>
            <a:off x="566285" y="1734032"/>
            <a:ext cx="628698" cy="456472"/>
          </a:xfrm>
          <a:prstGeom prst="rect">
            <a:avLst/>
          </a:prstGeom>
          <a:noFill/>
        </p:spPr>
        <p:txBody>
          <a:bodyPr wrap="none" rtlCol="0">
            <a:spAutoFit/>
          </a:bodyPr>
          <a:lstStyle/>
          <a:p>
            <a:pPr>
              <a:lnSpc>
                <a:spcPct val="150000"/>
              </a:lnSpc>
            </a:pPr>
            <a:r>
              <a:rPr lang="en-US">
                <a:solidFill>
                  <a:srgbClr val="002986"/>
                </a:solidFill>
                <a:latin typeface="72 Brand" panose="020B0504030603020204" pitchFamily="34" charset="0"/>
              </a:rPr>
              <a:t>Text</a:t>
            </a:r>
          </a:p>
        </p:txBody>
      </p:sp>
      <p:sp>
        <p:nvSpPr>
          <p:cNvPr id="4" name="Freeform 3">
            <a:extLst>
              <a:ext uri="{FF2B5EF4-FFF2-40B4-BE49-F238E27FC236}">
                <a16:creationId xmlns:a16="http://schemas.microsoft.com/office/drawing/2014/main" id="{F4DA2701-D7EE-3522-E4BE-EF98DA779A8C}"/>
              </a:ext>
            </a:extLst>
          </p:cNvPr>
          <p:cNvSpPr/>
          <p:nvPr/>
        </p:nvSpPr>
        <p:spPr bwMode="gray">
          <a:xfrm>
            <a:off x="0" y="0"/>
            <a:ext cx="12191400" cy="6538086"/>
          </a:xfrm>
          <a:custGeom>
            <a:avLst/>
            <a:gdLst>
              <a:gd name="connsiteX0" fmla="*/ 0 w 12564533"/>
              <a:gd name="connsiteY0" fmla="*/ 0 h 5987627"/>
              <a:gd name="connsiteX1" fmla="*/ 12564533 w 12564533"/>
              <a:gd name="connsiteY1" fmla="*/ 0 h 5987627"/>
              <a:gd name="connsiteX2" fmla="*/ 12564533 w 12564533"/>
              <a:gd name="connsiteY2" fmla="*/ 1366036 h 5987627"/>
              <a:gd name="connsiteX3" fmla="*/ 12486703 w 12564533"/>
              <a:gd name="connsiteY3" fmla="*/ 1385200 h 5987627"/>
              <a:gd name="connsiteX4" fmla="*/ 7613227 w 12564533"/>
              <a:gd name="connsiteY4" fmla="*/ 3379893 h 5987627"/>
              <a:gd name="connsiteX5" fmla="*/ 2682240 w 12564533"/>
              <a:gd name="connsiteY5" fmla="*/ 4700693 h 5987627"/>
              <a:gd name="connsiteX6" fmla="*/ 324644 w 12564533"/>
              <a:gd name="connsiteY6" fmla="*/ 5870681 h 5987627"/>
              <a:gd name="connsiteX7" fmla="*/ 152931 w 12564533"/>
              <a:gd name="connsiteY7" fmla="*/ 5987627 h 5987627"/>
              <a:gd name="connsiteX8" fmla="*/ 0 w 12564533"/>
              <a:gd name="connsiteY8" fmla="*/ 5987627 h 598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64533" h="5987627">
                <a:moveTo>
                  <a:pt x="0" y="0"/>
                </a:moveTo>
                <a:lnTo>
                  <a:pt x="12564533" y="0"/>
                </a:lnTo>
                <a:lnTo>
                  <a:pt x="12564533" y="1366036"/>
                </a:lnTo>
                <a:lnTo>
                  <a:pt x="12486703" y="1385200"/>
                </a:lnTo>
                <a:cubicBezTo>
                  <a:pt x="11378645" y="1697872"/>
                  <a:pt x="9177444" y="2853901"/>
                  <a:pt x="7613227" y="3379893"/>
                </a:cubicBezTo>
                <a:cubicBezTo>
                  <a:pt x="5944730" y="3940951"/>
                  <a:pt x="3973689" y="4231075"/>
                  <a:pt x="2682240" y="4700693"/>
                </a:cubicBezTo>
                <a:cubicBezTo>
                  <a:pt x="1713654" y="5052907"/>
                  <a:pt x="881592" y="5506720"/>
                  <a:pt x="324644" y="5870681"/>
                </a:cubicBezTo>
                <a:lnTo>
                  <a:pt x="152931" y="5987627"/>
                </a:lnTo>
                <a:lnTo>
                  <a:pt x="0" y="5987627"/>
                </a:lnTo>
                <a:close/>
              </a:path>
            </a:pathLst>
          </a:custGeom>
          <a:solidFill>
            <a:schemeClr val="bg1"/>
          </a:solidFill>
          <a:ln w="25400" algn="ctr">
            <a:noFill/>
            <a:miter lim="800000"/>
            <a:headEnd/>
            <a:tailEnd/>
          </a:ln>
        </p:spPr>
        <p:txBody>
          <a:bodyPr wrap="square" lIns="89977" tIns="71981" rIns="89977" bIns="71981" rtlCol="0" anchor="ctr">
            <a:noAutofit/>
          </a:bodyPr>
          <a:lstStyle/>
          <a:p>
            <a:pPr algn="ctr" defTabSz="914126" fontAlgn="base">
              <a:spcBef>
                <a:spcPct val="50000"/>
              </a:spcBef>
              <a:spcAft>
                <a:spcPct val="0"/>
              </a:spcAft>
              <a:buClr>
                <a:srgbClr val="F0AB00"/>
              </a:buClr>
              <a:buSzPct val="80000"/>
            </a:pPr>
            <a:endParaRPr lang="en-DE" sz="1799" kern="0" err="1">
              <a:solidFill>
                <a:srgbClr val="000000"/>
              </a:solidFill>
              <a:latin typeface="Arial"/>
              <a:ea typeface="Arial Unicode MS" pitchFamily="34" charset="-128"/>
              <a:cs typeface="Arial Unicode MS" pitchFamily="34" charset="-128"/>
            </a:endParaRPr>
          </a:p>
        </p:txBody>
      </p:sp>
      <p:grpSp>
        <p:nvGrpSpPr>
          <p:cNvPr id="18" name="Group 17">
            <a:extLst>
              <a:ext uri="{FF2B5EF4-FFF2-40B4-BE49-F238E27FC236}">
                <a16:creationId xmlns:a16="http://schemas.microsoft.com/office/drawing/2014/main" id="{D7BCFF0D-B3B6-4DB9-C140-15B8A2B70438}"/>
              </a:ext>
            </a:extLst>
          </p:cNvPr>
          <p:cNvGrpSpPr/>
          <p:nvPr/>
        </p:nvGrpSpPr>
        <p:grpSpPr>
          <a:xfrm>
            <a:off x="8071101" y="2190504"/>
            <a:ext cx="3380671" cy="3197782"/>
            <a:chOff x="8051525" y="2659762"/>
            <a:chExt cx="3380671" cy="3197782"/>
          </a:xfrm>
          <a:solidFill>
            <a:srgbClr val="002986"/>
          </a:solidFill>
        </p:grpSpPr>
        <p:grpSp>
          <p:nvGrpSpPr>
            <p:cNvPr id="21" name="Group 20">
              <a:extLst>
                <a:ext uri="{FF2B5EF4-FFF2-40B4-BE49-F238E27FC236}">
                  <a16:creationId xmlns:a16="http://schemas.microsoft.com/office/drawing/2014/main" id="{E4F7C03D-8E39-4B63-7F7E-8B8FFB768A47}"/>
                </a:ext>
              </a:extLst>
            </p:cNvPr>
            <p:cNvGrpSpPr/>
            <p:nvPr/>
          </p:nvGrpSpPr>
          <p:grpSpPr>
            <a:xfrm>
              <a:off x="8051525" y="2659762"/>
              <a:ext cx="3380671" cy="3197782"/>
              <a:chOff x="8053621" y="2659561"/>
              <a:chExt cx="3381551" cy="3198615"/>
            </a:xfrm>
            <a:grpFill/>
          </p:grpSpPr>
          <p:sp>
            <p:nvSpPr>
              <p:cNvPr id="22" name="Rectangle: Rounded Corners 3">
                <a:extLst>
                  <a:ext uri="{FF2B5EF4-FFF2-40B4-BE49-F238E27FC236}">
                    <a16:creationId xmlns:a16="http://schemas.microsoft.com/office/drawing/2014/main" id="{E38AFBF2-C32B-8187-977D-526D43DA7A87}"/>
                  </a:ext>
                </a:extLst>
              </p:cNvPr>
              <p:cNvSpPr/>
              <p:nvPr/>
            </p:nvSpPr>
            <p:spPr bwMode="auto">
              <a:xfrm flipH="1">
                <a:off x="8053621" y="2659561"/>
                <a:ext cx="3381551" cy="3198615"/>
              </a:xfrm>
              <a:prstGeom prst="roundRect">
                <a:avLst>
                  <a:gd name="adj" fmla="val 2588"/>
                </a:avLst>
              </a:prstGeom>
              <a:grp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sp>
            <p:nvSpPr>
              <p:cNvPr id="24" name="Rounded Rectangle 23">
                <a:hlinkClick r:id="rId4"/>
                <a:extLst>
                  <a:ext uri="{FF2B5EF4-FFF2-40B4-BE49-F238E27FC236}">
                    <a16:creationId xmlns:a16="http://schemas.microsoft.com/office/drawing/2014/main" id="{98C1CA7E-5D31-81A9-A695-2884F892764A}"/>
                  </a:ext>
                </a:extLst>
              </p:cNvPr>
              <p:cNvSpPr/>
              <p:nvPr/>
            </p:nvSpPr>
            <p:spPr bwMode="gray">
              <a:xfrm>
                <a:off x="8944629" y="5376412"/>
                <a:ext cx="2011047" cy="265373"/>
              </a:xfrm>
              <a:prstGeom prst="roundRect">
                <a:avLst>
                  <a:gd name="adj" fmla="val 50000"/>
                </a:avLst>
              </a:prstGeom>
              <a:solidFill>
                <a:schemeClr val="bg1"/>
              </a:solidFill>
              <a:ln w="25400" algn="ctr">
                <a:noFill/>
                <a:miter lim="800000"/>
                <a:headEnd/>
                <a:tailEnd/>
              </a:ln>
              <a:effectLst>
                <a:outerShdw blurRad="50800" dir="2700000" algn="tr" rotWithShape="0">
                  <a:prstClr val="black">
                    <a:alpha val="40000"/>
                  </a:prstClr>
                </a:outerShdw>
              </a:effectLst>
            </p:spPr>
            <p:txBody>
              <a:bodyPr rot="0" spcFirstLastPara="0" vertOverflow="overflow" horzOverflow="overflow" vert="horz" wrap="square" lIns="35991" tIns="35991" rIns="35991" bIns="35991" numCol="1" spcCol="0" rtlCol="0" fromWordArt="0" anchor="ctr" anchorCtr="0" forceAA="0" compatLnSpc="1">
                <a:prstTxWarp prst="textNoShape">
                  <a:avLst/>
                </a:prstTxWarp>
                <a:noAutofit/>
              </a:bodyPr>
              <a:lstStyle/>
              <a:p>
                <a:pPr algn="ctr" defTabSz="914126" fontAlgn="base">
                  <a:spcBef>
                    <a:spcPct val="50000"/>
                  </a:spcBef>
                  <a:spcAft>
                    <a:spcPct val="0"/>
                  </a:spcAft>
                  <a:buClr>
                    <a:srgbClr val="F0AB00"/>
                  </a:buClr>
                  <a:buSzPct val="80000"/>
                </a:pPr>
                <a:r>
                  <a:rPr lang="en-US" sz="1200" b="1" kern="0">
                    <a:latin typeface="72 Brand" panose="020B0504030603020204" pitchFamily="34" charset="0"/>
                    <a:ea typeface="Arial Unicode MS" pitchFamily="34" charset="-128"/>
                    <a:cs typeface="72" panose="020B0503030000000003" pitchFamily="34" charset="0"/>
                  </a:rPr>
                  <a:t>Business Object</a:t>
                </a:r>
                <a:endParaRPr lang="en-DE" sz="1200" b="1" kern="0">
                  <a:latin typeface="72 Brand" panose="020B0504030603020204" pitchFamily="34" charset="0"/>
                  <a:ea typeface="Arial Unicode MS" pitchFamily="34" charset="-128"/>
                  <a:cs typeface="72" panose="020B0503030000000003" pitchFamily="34" charset="0"/>
                </a:endParaRPr>
              </a:p>
            </p:txBody>
          </p:sp>
        </p:grpSp>
        <p:sp>
          <p:nvSpPr>
            <p:cNvPr id="10" name="Rectangle 9">
              <a:extLst>
                <a:ext uri="{FF2B5EF4-FFF2-40B4-BE49-F238E27FC236}">
                  <a16:creationId xmlns:a16="http://schemas.microsoft.com/office/drawing/2014/main" id="{012C0C1C-D838-82E8-2333-7A525208F58F}"/>
                </a:ext>
              </a:extLst>
            </p:cNvPr>
            <p:cNvSpPr/>
            <p:nvPr/>
          </p:nvSpPr>
          <p:spPr bwMode="auto">
            <a:xfrm>
              <a:off x="8291155" y="2783571"/>
              <a:ext cx="2901409" cy="249452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0" rIns="0" bIns="0" numCol="1" spcCol="0" rtlCol="0" fromWordArt="0" anchor="t" anchorCtr="0" forceAA="0" compatLnSpc="1">
              <a:prstTxWarp prst="textNoShape">
                <a:avLst/>
              </a:prstTxWarp>
              <a:spAutoFit/>
            </a:bodyPr>
            <a:lstStyle/>
            <a:p>
              <a:pPr marL="285750" indent="-285750" defTabSz="932192" fontAlgn="base">
                <a:lnSpc>
                  <a:spcPct val="90000"/>
                </a:lnSpc>
                <a:spcBef>
                  <a:spcPct val="0"/>
                </a:spcBef>
                <a:spcAft>
                  <a:spcPts val="600"/>
                </a:spcAft>
                <a:buFont typeface="Arial" panose="020B0604020202020204" pitchFamily="34" charset="0"/>
                <a:buChar char="•"/>
                <a:defRPr/>
              </a:pPr>
              <a:r>
                <a:rPr lang="en-US" sz="1300">
                  <a:solidFill>
                    <a:schemeClr val="bg1"/>
                  </a:solidFill>
                  <a:latin typeface="72 Brand Light" panose="020B0304030603020204" pitchFamily="34" charset="0"/>
                  <a:cs typeface="72" panose="020B0503030000000003" pitchFamily="34" charset="0"/>
                </a:rPr>
                <a:t>In general, any Business Object one uses from SAP has some latent data that is </a:t>
              </a:r>
              <a:r>
                <a:rPr lang="en-US" sz="1200" b="1">
                  <a:solidFill>
                    <a:schemeClr val="bg1"/>
                  </a:solidFill>
                  <a:latin typeface="72 Brand" panose="020B0504030603020204" pitchFamily="34" charset="0"/>
                  <a:cs typeface="72" panose="020B0503030000000003" pitchFamily="34" charset="0"/>
                </a:rPr>
                <a:t>very important to business decisions</a:t>
              </a:r>
              <a:r>
                <a:rPr lang="en-US" sz="1300">
                  <a:solidFill>
                    <a:schemeClr val="bg1"/>
                  </a:solidFill>
                  <a:latin typeface="72 Brand Light" panose="020B0304030603020204" pitchFamily="34" charset="0"/>
                  <a:cs typeface="72" panose="020B0503030000000003" pitchFamily="34" charset="0"/>
                </a:rPr>
                <a:t>.</a:t>
              </a:r>
            </a:p>
            <a:p>
              <a:pPr marL="285750" indent="-285750" defTabSz="932192" fontAlgn="base">
                <a:lnSpc>
                  <a:spcPct val="90000"/>
                </a:lnSpc>
                <a:spcBef>
                  <a:spcPct val="0"/>
                </a:spcBef>
                <a:spcAft>
                  <a:spcPts val="600"/>
                </a:spcAft>
                <a:buFont typeface="Arial" panose="020B0604020202020204" pitchFamily="34" charset="0"/>
                <a:buChar char="•"/>
                <a:defRPr/>
              </a:pPr>
              <a:r>
                <a:rPr lang="en-US" sz="1300">
                  <a:solidFill>
                    <a:schemeClr val="bg1"/>
                  </a:solidFill>
                  <a:latin typeface="72 Brand Light" panose="020B0304030603020204" pitchFamily="34" charset="0"/>
                  <a:cs typeface="72" panose="020B0503030000000003" pitchFamily="34" charset="0"/>
                </a:rPr>
                <a:t>But because this data is latent, a lot of times this data’s </a:t>
              </a:r>
              <a:r>
                <a:rPr lang="en-US" sz="1200" b="1">
                  <a:solidFill>
                    <a:schemeClr val="bg1"/>
                  </a:solidFill>
                  <a:latin typeface="72 Brand" panose="020B0504030603020204" pitchFamily="34" charset="0"/>
                  <a:cs typeface="72" panose="020B0503030000000003" pitchFamily="34" charset="0"/>
                </a:rPr>
                <a:t>true business value is not extracted </a:t>
              </a:r>
              <a:r>
                <a:rPr lang="en-US" sz="1300">
                  <a:solidFill>
                    <a:schemeClr val="bg1"/>
                  </a:solidFill>
                  <a:latin typeface="72 Brand Light" panose="020B0304030603020204" pitchFamily="34" charset="0"/>
                  <a:cs typeface="72" panose="020B0503030000000003" pitchFamily="34" charset="0"/>
                </a:rPr>
                <a:t>because these fields contain a lot of data.</a:t>
              </a:r>
            </a:p>
            <a:p>
              <a:pPr marL="285750" indent="-285750" defTabSz="932192" fontAlgn="base">
                <a:lnSpc>
                  <a:spcPct val="90000"/>
                </a:lnSpc>
                <a:spcBef>
                  <a:spcPct val="0"/>
                </a:spcBef>
                <a:spcAft>
                  <a:spcPts val="600"/>
                </a:spcAft>
                <a:buFont typeface="Arial" panose="020B0604020202020204" pitchFamily="34" charset="0"/>
                <a:buChar char="•"/>
                <a:defRPr/>
              </a:pPr>
              <a:r>
                <a:rPr lang="en-US" sz="1300">
                  <a:solidFill>
                    <a:schemeClr val="bg1"/>
                  </a:solidFill>
                  <a:latin typeface="72 Brand Light" panose="020B0304030603020204" pitchFamily="34" charset="0"/>
                  <a:cs typeface="72" panose="020B0503030000000003" pitchFamily="34" charset="0"/>
                </a:rPr>
                <a:t>Something that could make sense of all of the loads of data could </a:t>
              </a:r>
              <a:r>
                <a:rPr lang="en-US" sz="1200" b="1">
                  <a:solidFill>
                    <a:schemeClr val="bg1"/>
                  </a:solidFill>
                  <a:latin typeface="72 Brand" panose="020B0504030603020204" pitchFamily="34" charset="0"/>
                  <a:cs typeface="72" panose="020B0503030000000003" pitchFamily="34" charset="0"/>
                </a:rPr>
                <a:t>help in making better business decisions</a:t>
              </a:r>
              <a:endParaRPr lang="en-US" sz="1300" b="1">
                <a:solidFill>
                  <a:schemeClr val="bg1"/>
                </a:solidFill>
                <a:latin typeface="72 Brand" panose="020B0504030603020204" pitchFamily="34" charset="0"/>
                <a:cs typeface="72" panose="020B0503030000000003" pitchFamily="34" charset="0"/>
              </a:endParaRPr>
            </a:p>
          </p:txBody>
        </p:sp>
      </p:grpSp>
      <p:pic>
        <p:nvPicPr>
          <p:cNvPr id="19" name="Picture Placeholder 11">
            <a:extLst>
              <a:ext uri="{FF2B5EF4-FFF2-40B4-BE49-F238E27FC236}">
                <a16:creationId xmlns:a16="http://schemas.microsoft.com/office/drawing/2014/main" id="{3A27C02A-85EC-DDDF-D191-10154CEC6999}"/>
              </a:ext>
            </a:extLst>
          </p:cNvPr>
          <p:cNvPicPr>
            <a:picLocks noChangeAspect="1"/>
          </p:cNvPicPr>
          <p:nvPr/>
        </p:nvPicPr>
        <p:blipFill rotWithShape="1">
          <a:blip r:embed="rId5"/>
          <a:srcRect l="6995" t="66530" r="23124" b="30001"/>
          <a:stretch/>
        </p:blipFill>
        <p:spPr bwMode="black">
          <a:xfrm>
            <a:off x="600" y="6582851"/>
            <a:ext cx="12192000" cy="269094"/>
          </a:xfrm>
          <a:prstGeom prst="rect">
            <a:avLst/>
          </a:prstGeom>
        </p:spPr>
      </p:pic>
      <p:sp>
        <p:nvSpPr>
          <p:cNvPr id="9" name="Freeform 8">
            <a:extLst>
              <a:ext uri="{FF2B5EF4-FFF2-40B4-BE49-F238E27FC236}">
                <a16:creationId xmlns:a16="http://schemas.microsoft.com/office/drawing/2014/main" id="{44E0F9B3-2297-F241-2009-01E007FDA7CE}"/>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6" name="TextBox 15">
            <a:extLst>
              <a:ext uri="{FF2B5EF4-FFF2-40B4-BE49-F238E27FC236}">
                <a16:creationId xmlns:a16="http://schemas.microsoft.com/office/drawing/2014/main" id="{8231AFF2-93C0-01FB-FA00-B7BD368AFF2A}"/>
              </a:ext>
            </a:extLst>
          </p:cNvPr>
          <p:cNvSpPr txBox="1"/>
          <p:nvPr/>
        </p:nvSpPr>
        <p:spPr>
          <a:xfrm>
            <a:off x="568007" y="633165"/>
            <a:ext cx="3219151"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Problem Statement</a:t>
            </a:r>
          </a:p>
        </p:txBody>
      </p:sp>
      <p:grpSp>
        <p:nvGrpSpPr>
          <p:cNvPr id="26" name="Group 25">
            <a:extLst>
              <a:ext uri="{FF2B5EF4-FFF2-40B4-BE49-F238E27FC236}">
                <a16:creationId xmlns:a16="http://schemas.microsoft.com/office/drawing/2014/main" id="{A283E1AF-12D4-5DB5-A3E7-E72DA5692579}"/>
              </a:ext>
            </a:extLst>
          </p:cNvPr>
          <p:cNvGrpSpPr/>
          <p:nvPr/>
        </p:nvGrpSpPr>
        <p:grpSpPr>
          <a:xfrm>
            <a:off x="766777" y="1899058"/>
            <a:ext cx="3384785" cy="3489228"/>
            <a:chOff x="766777" y="1899058"/>
            <a:chExt cx="3384785" cy="3489228"/>
          </a:xfrm>
        </p:grpSpPr>
        <p:grpSp>
          <p:nvGrpSpPr>
            <p:cNvPr id="13" name="Group 12">
              <a:extLst>
                <a:ext uri="{FF2B5EF4-FFF2-40B4-BE49-F238E27FC236}">
                  <a16:creationId xmlns:a16="http://schemas.microsoft.com/office/drawing/2014/main" id="{5A2079CF-C7F7-A584-E34C-43B5A449EBB8}"/>
                </a:ext>
              </a:extLst>
            </p:cNvPr>
            <p:cNvGrpSpPr/>
            <p:nvPr/>
          </p:nvGrpSpPr>
          <p:grpSpPr>
            <a:xfrm>
              <a:off x="770891" y="2190504"/>
              <a:ext cx="3380671" cy="3197782"/>
              <a:chOff x="751315" y="2659762"/>
              <a:chExt cx="3380671" cy="3197782"/>
            </a:xfrm>
          </p:grpSpPr>
          <p:sp>
            <p:nvSpPr>
              <p:cNvPr id="17" name="Rectangle: Rounded Corners 3">
                <a:extLst>
                  <a:ext uri="{FF2B5EF4-FFF2-40B4-BE49-F238E27FC236}">
                    <a16:creationId xmlns:a16="http://schemas.microsoft.com/office/drawing/2014/main" id="{6CDCCFB2-20C9-FE2D-7A9F-B34A5E461DC2}"/>
                  </a:ext>
                </a:extLst>
              </p:cNvPr>
              <p:cNvSpPr/>
              <p:nvPr/>
            </p:nvSpPr>
            <p:spPr bwMode="auto">
              <a:xfrm flipH="1">
                <a:off x="751315" y="2659762"/>
                <a:ext cx="3380671" cy="3197782"/>
              </a:xfrm>
              <a:prstGeom prst="roundRect">
                <a:avLst>
                  <a:gd name="adj" fmla="val 2588"/>
                </a:avLst>
              </a:prstGeom>
              <a:solidFill>
                <a:schemeClr val="bg1"/>
              </a:solid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sp>
            <p:nvSpPr>
              <p:cNvPr id="20" name="Rounded Rectangle 19">
                <a:hlinkClick r:id="rId4"/>
                <a:extLst>
                  <a:ext uri="{FF2B5EF4-FFF2-40B4-BE49-F238E27FC236}">
                    <a16:creationId xmlns:a16="http://schemas.microsoft.com/office/drawing/2014/main" id="{D5F94A5C-0DA4-6BE9-E389-FA1A3AD4909D}"/>
                  </a:ext>
                </a:extLst>
              </p:cNvPr>
              <p:cNvSpPr/>
              <p:nvPr/>
            </p:nvSpPr>
            <p:spPr bwMode="gray">
              <a:xfrm>
                <a:off x="1436388" y="5375905"/>
                <a:ext cx="2010524" cy="265304"/>
              </a:xfrm>
              <a:prstGeom prst="roundRect">
                <a:avLst>
                  <a:gd name="adj" fmla="val 50000"/>
                </a:avLst>
              </a:prstGeom>
              <a:solidFill>
                <a:srgbClr val="002986"/>
              </a:solidFill>
              <a:ln w="25400" algn="ctr">
                <a:noFill/>
                <a:miter lim="800000"/>
                <a:headEnd/>
                <a:tailEnd/>
              </a:ln>
              <a:effectLst>
                <a:outerShdw blurRad="50800" dir="2700000" algn="tr" rotWithShape="0">
                  <a:prstClr val="black">
                    <a:alpha val="40000"/>
                  </a:prstClr>
                </a:outerShdw>
              </a:effectLst>
            </p:spPr>
            <p:txBody>
              <a:bodyPr rot="0" spcFirstLastPara="0" vertOverflow="overflow" horzOverflow="overflow" vert="horz" wrap="square" lIns="35991" tIns="35991" rIns="35991" bIns="35991" numCol="1" spcCol="0" rtlCol="0" fromWordArt="0" anchor="ctr" anchorCtr="0" forceAA="0" compatLnSpc="1">
                <a:prstTxWarp prst="textNoShape">
                  <a:avLst/>
                </a:prstTxWarp>
                <a:noAutofit/>
              </a:bodyPr>
              <a:lstStyle/>
              <a:p>
                <a:pPr algn="ctr" defTabSz="914126" fontAlgn="base">
                  <a:spcBef>
                    <a:spcPct val="50000"/>
                  </a:spcBef>
                  <a:spcAft>
                    <a:spcPct val="0"/>
                  </a:spcAft>
                  <a:buClr>
                    <a:srgbClr val="F0AB00"/>
                  </a:buClr>
                  <a:buSzPct val="80000"/>
                </a:pPr>
                <a:r>
                  <a:rPr lang="en-US" sz="1200" b="1" kern="0">
                    <a:solidFill>
                      <a:srgbClr val="FFFFFF"/>
                    </a:solidFill>
                    <a:latin typeface="72 Brand" panose="020B0504030603020204" pitchFamily="34" charset="0"/>
                    <a:ea typeface="Arial Unicode MS" pitchFamily="34" charset="-128"/>
                    <a:cs typeface="72" panose="020B0503030000000003" pitchFamily="34" charset="0"/>
                  </a:rPr>
                  <a:t>Plant Maintenance</a:t>
                </a:r>
                <a:endParaRPr lang="en-DE" sz="1200" b="1" kern="0">
                  <a:solidFill>
                    <a:srgbClr val="FFFFFF"/>
                  </a:solidFill>
                  <a:latin typeface="72 Brand" panose="020B0504030603020204" pitchFamily="34" charset="0"/>
                  <a:ea typeface="Arial Unicode MS" pitchFamily="34" charset="-128"/>
                  <a:cs typeface="72" panose="020B0503030000000003" pitchFamily="34" charset="0"/>
                </a:endParaRPr>
              </a:p>
            </p:txBody>
          </p:sp>
          <p:sp>
            <p:nvSpPr>
              <p:cNvPr id="23" name="TextBox 22">
                <a:extLst>
                  <a:ext uri="{FF2B5EF4-FFF2-40B4-BE49-F238E27FC236}">
                    <a16:creationId xmlns:a16="http://schemas.microsoft.com/office/drawing/2014/main" id="{472EBE38-5876-7FE7-9856-CDF1D5C0B20F}"/>
                  </a:ext>
                </a:extLst>
              </p:cNvPr>
              <p:cNvSpPr txBox="1"/>
              <p:nvPr/>
            </p:nvSpPr>
            <p:spPr>
              <a:xfrm>
                <a:off x="990946" y="2727774"/>
                <a:ext cx="3100188" cy="2369880"/>
              </a:xfrm>
              <a:prstGeom prst="rect">
                <a:avLst/>
              </a:prstGeom>
              <a:noFill/>
            </p:spPr>
            <p:txBody>
              <a:bodyPr wrap="square">
                <a:spAutoFit/>
              </a:bodyPr>
              <a:lstStyle/>
              <a:p>
                <a:pPr marL="285492" marR="231566" indent="-285492" defTabSz="1087144" eaLnBrk="0" fontAlgn="base" hangingPunct="0">
                  <a:spcBef>
                    <a:spcPct val="0"/>
                  </a:spcBef>
                  <a:spcAft>
                    <a:spcPts val="600"/>
                  </a:spcAft>
                  <a:buClr>
                    <a:srgbClr val="002986"/>
                  </a:buClr>
                  <a:buSzPct val="80000"/>
                  <a:buFont typeface="Arial" panose="020B0604020202020204" pitchFamily="34" charset="0"/>
                  <a:buChar char="●"/>
                  <a:defRPr/>
                </a:pPr>
                <a:r>
                  <a:rPr lang="en-IN" sz="1300">
                    <a:latin typeface="72 Brand Light" panose="020B0304030603020204" pitchFamily="34" charset="0"/>
                  </a:rPr>
                  <a:t>All Equipment undergoes extensive maintenance, making it crucial to have </a:t>
                </a:r>
                <a:r>
                  <a:rPr lang="en-IN" sz="1300" b="1">
                    <a:latin typeface="72 Brand" panose="020B0504030603020204" pitchFamily="34" charset="0"/>
                  </a:rPr>
                  <a:t>immediate access </a:t>
                </a:r>
                <a:r>
                  <a:rPr lang="en-IN" sz="1300">
                    <a:latin typeface="72 Brand Light" panose="020B0304030603020204" pitchFamily="34" charset="0"/>
                  </a:rPr>
                  <a:t>to the maintenance history readily available for prompt action.</a:t>
                </a:r>
              </a:p>
              <a:p>
                <a:pPr marL="285492" marR="231566" indent="-285492" defTabSz="1087144" eaLnBrk="0" fontAlgn="base" hangingPunct="0">
                  <a:spcBef>
                    <a:spcPct val="0"/>
                  </a:spcBef>
                  <a:spcAft>
                    <a:spcPts val="600"/>
                  </a:spcAft>
                  <a:buClr>
                    <a:srgbClr val="002986"/>
                  </a:buClr>
                  <a:buSzPct val="80000"/>
                  <a:buFont typeface="Arial" panose="020B0604020202020204" pitchFamily="34" charset="0"/>
                  <a:buChar char="●"/>
                  <a:defRPr/>
                </a:pPr>
                <a:r>
                  <a:rPr lang="en-US" sz="1300" kern="0" spc="25">
                    <a:solidFill>
                      <a:srgbClr val="000000"/>
                    </a:solidFill>
                    <a:latin typeface="72 Brand Light" panose="020B0304030603020204" pitchFamily="34" charset="0"/>
                    <a:cs typeface="72" panose="020B0503030000000003" pitchFamily="34" charset="0"/>
                  </a:rPr>
                  <a:t>Keeping a track of the </a:t>
                </a:r>
                <a:r>
                  <a:rPr lang="en-US" sz="1300" b="1" kern="0" spc="25">
                    <a:solidFill>
                      <a:srgbClr val="000000"/>
                    </a:solidFill>
                    <a:latin typeface="72 Brand" panose="020B0504030603020204" pitchFamily="34" charset="0"/>
                    <a:cs typeface="72" panose="020B0503030000000003" pitchFamily="34" charset="0"/>
                  </a:rPr>
                  <a:t>overall history </a:t>
                </a:r>
                <a:r>
                  <a:rPr lang="en-US" sz="1300" kern="0" spc="25">
                    <a:solidFill>
                      <a:srgbClr val="000000"/>
                    </a:solidFill>
                    <a:latin typeface="72 Brand Light" panose="020B0304030603020204" pitchFamily="34" charset="0"/>
                    <a:cs typeface="72" panose="020B0503030000000003" pitchFamily="34" charset="0"/>
                  </a:rPr>
                  <a:t>of maintenance is tiresome as that can be a lot of data, confusing the user as to what action to take next.</a:t>
                </a:r>
              </a:p>
            </p:txBody>
          </p:sp>
        </p:grpSp>
        <p:sp>
          <p:nvSpPr>
            <p:cNvPr id="5" name="TextBox 4">
              <a:extLst>
                <a:ext uri="{FF2B5EF4-FFF2-40B4-BE49-F238E27FC236}">
                  <a16:creationId xmlns:a16="http://schemas.microsoft.com/office/drawing/2014/main" id="{B7741D72-0A25-6AB0-EAA4-FA6BB4D72465}"/>
                </a:ext>
              </a:extLst>
            </p:cNvPr>
            <p:cNvSpPr txBox="1"/>
            <p:nvPr/>
          </p:nvSpPr>
          <p:spPr>
            <a:xfrm>
              <a:off x="766777" y="1899058"/>
              <a:ext cx="2137841" cy="307777"/>
            </a:xfrm>
            <a:prstGeom prst="rect">
              <a:avLst/>
            </a:prstGeom>
            <a:noFill/>
          </p:spPr>
          <p:txBody>
            <a:bodyPr wrap="square" rtlCol="0">
              <a:spAutoFit/>
            </a:bodyPr>
            <a:lstStyle/>
            <a:p>
              <a:r>
                <a:rPr lang="en-US" sz="1400" b="1">
                  <a:solidFill>
                    <a:srgbClr val="002986"/>
                  </a:solidFill>
                  <a:latin typeface="72 Brand" panose="020B0504030603020204" pitchFamily="34" charset="0"/>
                </a:rPr>
                <a:t>Example-1</a:t>
              </a:r>
            </a:p>
          </p:txBody>
        </p:sp>
      </p:grpSp>
      <p:grpSp>
        <p:nvGrpSpPr>
          <p:cNvPr id="27" name="Group 26">
            <a:extLst>
              <a:ext uri="{FF2B5EF4-FFF2-40B4-BE49-F238E27FC236}">
                <a16:creationId xmlns:a16="http://schemas.microsoft.com/office/drawing/2014/main" id="{008D6A54-568E-E822-F21A-587E50873E1B}"/>
              </a:ext>
            </a:extLst>
          </p:cNvPr>
          <p:cNvGrpSpPr/>
          <p:nvPr/>
        </p:nvGrpSpPr>
        <p:grpSpPr>
          <a:xfrm>
            <a:off x="4421705" y="1873937"/>
            <a:ext cx="3380671" cy="3514349"/>
            <a:chOff x="4421705" y="1873937"/>
            <a:chExt cx="3380671" cy="3514349"/>
          </a:xfrm>
        </p:grpSpPr>
        <p:grpSp>
          <p:nvGrpSpPr>
            <p:cNvPr id="11" name="Group 10">
              <a:extLst>
                <a:ext uri="{FF2B5EF4-FFF2-40B4-BE49-F238E27FC236}">
                  <a16:creationId xmlns:a16="http://schemas.microsoft.com/office/drawing/2014/main" id="{865516D4-70D1-775F-9AB7-A8E89D28FF7A}"/>
                </a:ext>
              </a:extLst>
            </p:cNvPr>
            <p:cNvGrpSpPr/>
            <p:nvPr/>
          </p:nvGrpSpPr>
          <p:grpSpPr>
            <a:xfrm>
              <a:off x="4421705" y="2190504"/>
              <a:ext cx="3380671" cy="3197782"/>
              <a:chOff x="4403275" y="2678389"/>
              <a:chExt cx="3381551" cy="3198615"/>
            </a:xfrm>
          </p:grpSpPr>
          <p:sp>
            <p:nvSpPr>
              <p:cNvPr id="12" name="Rectangle: Rounded Corners 3">
                <a:extLst>
                  <a:ext uri="{FF2B5EF4-FFF2-40B4-BE49-F238E27FC236}">
                    <a16:creationId xmlns:a16="http://schemas.microsoft.com/office/drawing/2014/main" id="{B70D00CD-54EB-4DAC-282A-FE55AF5F1EC3}"/>
                  </a:ext>
                </a:extLst>
              </p:cNvPr>
              <p:cNvSpPr/>
              <p:nvPr/>
            </p:nvSpPr>
            <p:spPr bwMode="auto">
              <a:xfrm flipH="1">
                <a:off x="4403275" y="2678389"/>
                <a:ext cx="3381551" cy="3198615"/>
              </a:xfrm>
              <a:prstGeom prst="roundRect">
                <a:avLst>
                  <a:gd name="adj" fmla="val 2588"/>
                </a:avLst>
              </a:prstGeom>
              <a:solidFill>
                <a:schemeClr val="bg1"/>
              </a:solid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sp>
            <p:nvSpPr>
              <p:cNvPr id="15" name="Rectangle 14">
                <a:extLst>
                  <a:ext uri="{FF2B5EF4-FFF2-40B4-BE49-F238E27FC236}">
                    <a16:creationId xmlns:a16="http://schemas.microsoft.com/office/drawing/2014/main" id="{A048E6D5-7907-559F-148F-E16D16B174CF}"/>
                  </a:ext>
                </a:extLst>
              </p:cNvPr>
              <p:cNvSpPr/>
              <p:nvPr/>
            </p:nvSpPr>
            <p:spPr bwMode="auto">
              <a:xfrm>
                <a:off x="4626923" y="2817020"/>
                <a:ext cx="2902164" cy="213498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0" rIns="0" bIns="0" numCol="1" spcCol="0" rtlCol="0" fromWordArt="0" anchor="t" anchorCtr="0" forceAA="0" compatLnSpc="1">
                <a:prstTxWarp prst="textNoShape">
                  <a:avLst/>
                </a:prstTxWarp>
                <a:spAutoFit/>
              </a:bodyPr>
              <a:lstStyle/>
              <a:p>
                <a:pPr marL="285750" indent="-285750" defTabSz="932192" fontAlgn="base">
                  <a:lnSpc>
                    <a:spcPct val="90000"/>
                  </a:lnSpc>
                  <a:spcBef>
                    <a:spcPct val="0"/>
                  </a:spcBef>
                  <a:spcAft>
                    <a:spcPts val="600"/>
                  </a:spcAft>
                  <a:buClr>
                    <a:srgbClr val="002986"/>
                  </a:buClr>
                  <a:buFont typeface="Arial" panose="020B0604020202020204" pitchFamily="34" charset="0"/>
                  <a:buChar char="•"/>
                  <a:defRPr/>
                </a:pPr>
                <a:r>
                  <a:rPr lang="en-US" sz="1300">
                    <a:solidFill>
                      <a:srgbClr val="000000"/>
                    </a:solidFill>
                    <a:latin typeface="72 Brand Light" panose="020B0304030603020204" pitchFamily="34" charset="0"/>
                    <a:cs typeface="72" panose="020B0503030000000003" pitchFamily="34" charset="0"/>
                  </a:rPr>
                  <a:t>Different people handle different purchase orders and make </a:t>
                </a:r>
                <a:r>
                  <a:rPr lang="en-US" sz="1300" b="1">
                    <a:solidFill>
                      <a:srgbClr val="000000"/>
                    </a:solidFill>
                    <a:latin typeface="72 Brand" panose="020B0504030603020204" pitchFamily="34" charset="0"/>
                    <a:cs typeface="72" panose="020B0503030000000003" pitchFamily="34" charset="0"/>
                  </a:rPr>
                  <a:t>different business decisions </a:t>
                </a:r>
                <a:r>
                  <a:rPr lang="en-US" sz="1300">
                    <a:solidFill>
                      <a:srgbClr val="000000"/>
                    </a:solidFill>
                    <a:latin typeface="72 Brand Light" panose="020B0304030603020204" pitchFamily="34" charset="0"/>
                    <a:cs typeface="72" panose="020B0503030000000003" pitchFamily="34" charset="0"/>
                  </a:rPr>
                  <a:t>based on this data</a:t>
                </a:r>
              </a:p>
              <a:p>
                <a:pPr marL="285750" indent="-285750" defTabSz="932192" fontAlgn="base">
                  <a:lnSpc>
                    <a:spcPct val="90000"/>
                  </a:lnSpc>
                  <a:spcBef>
                    <a:spcPct val="0"/>
                  </a:spcBef>
                  <a:spcAft>
                    <a:spcPts val="600"/>
                  </a:spcAft>
                  <a:buClr>
                    <a:srgbClr val="002986"/>
                  </a:buClr>
                  <a:buFont typeface="Arial" panose="020B0604020202020204" pitchFamily="34" charset="0"/>
                  <a:buChar char="•"/>
                  <a:defRPr/>
                </a:pPr>
                <a:r>
                  <a:rPr lang="en-US" sz="1300">
                    <a:solidFill>
                      <a:srgbClr val="000000"/>
                    </a:solidFill>
                    <a:latin typeface="72 Brand Light" panose="020B0304030603020204" pitchFamily="34" charset="0"/>
                    <a:cs typeface="72" panose="020B0503030000000003" pitchFamily="34" charset="0"/>
                  </a:rPr>
                  <a:t>Once there is a lot of this data, the different personas </a:t>
                </a:r>
                <a:r>
                  <a:rPr lang="en-US" sz="1300" b="1">
                    <a:solidFill>
                      <a:srgbClr val="000000"/>
                    </a:solidFill>
                    <a:latin typeface="72 Brand" panose="020B0504030603020204" pitchFamily="34" charset="0"/>
                    <a:cs typeface="72" panose="020B0503030000000003" pitchFamily="34" charset="0"/>
                  </a:rPr>
                  <a:t>might be confusing</a:t>
                </a:r>
                <a:r>
                  <a:rPr lang="en-US" sz="1300" b="1">
                    <a:solidFill>
                      <a:srgbClr val="000000"/>
                    </a:solidFill>
                    <a:latin typeface="72 Brand Light" panose="020B0304030603020204" pitchFamily="34" charset="0"/>
                    <a:cs typeface="72" panose="020B0503030000000003" pitchFamily="34" charset="0"/>
                  </a:rPr>
                  <a:t>.</a:t>
                </a:r>
                <a:endParaRPr lang="en-US" sz="1300">
                  <a:solidFill>
                    <a:srgbClr val="000000"/>
                  </a:solidFill>
                  <a:latin typeface="72 Brand Light" panose="020B0304030603020204" pitchFamily="34" charset="0"/>
                  <a:cs typeface="72" panose="020B0503030000000003" pitchFamily="34" charset="0"/>
                </a:endParaRPr>
              </a:p>
              <a:p>
                <a:pPr marL="285750" indent="-285750" defTabSz="932192" fontAlgn="base">
                  <a:lnSpc>
                    <a:spcPct val="90000"/>
                  </a:lnSpc>
                  <a:spcBef>
                    <a:spcPct val="0"/>
                  </a:spcBef>
                  <a:spcAft>
                    <a:spcPts val="600"/>
                  </a:spcAft>
                  <a:buClr>
                    <a:srgbClr val="002986"/>
                  </a:buClr>
                  <a:buFont typeface="Arial" panose="020B0604020202020204" pitchFamily="34" charset="0"/>
                  <a:buChar char="•"/>
                  <a:defRPr/>
                </a:pPr>
                <a:r>
                  <a:rPr lang="en-US" sz="1300">
                    <a:solidFill>
                      <a:srgbClr val="000000"/>
                    </a:solidFill>
                    <a:latin typeface="72 Brand Light" panose="020B0304030603020204" pitchFamily="34" charset="0"/>
                    <a:cs typeface="72" panose="020B0503030000000003" pitchFamily="34" charset="0"/>
                  </a:rPr>
                  <a:t>A </a:t>
                </a:r>
                <a:r>
                  <a:rPr lang="en-US" sz="1300" b="1">
                    <a:solidFill>
                      <a:srgbClr val="000000"/>
                    </a:solidFill>
                    <a:latin typeface="72 Brand" panose="020B0504030603020204" pitchFamily="34" charset="0"/>
                    <a:cs typeface="72" panose="020B0503030000000003" pitchFamily="34" charset="0"/>
                  </a:rPr>
                  <a:t>concise map of the data </a:t>
                </a:r>
                <a:r>
                  <a:rPr lang="en-US" sz="1300">
                    <a:solidFill>
                      <a:srgbClr val="000000"/>
                    </a:solidFill>
                    <a:latin typeface="72 Brand Light" panose="020B0304030603020204" pitchFamily="34" charset="0"/>
                    <a:cs typeface="72" panose="020B0503030000000003" pitchFamily="34" charset="0"/>
                  </a:rPr>
                  <a:t>telling the personas exactly what they want would enable them to take action</a:t>
                </a:r>
              </a:p>
            </p:txBody>
          </p:sp>
          <p:sp>
            <p:nvSpPr>
              <p:cNvPr id="14" name="Rounded Rectangle 13">
                <a:hlinkClick r:id="rId4"/>
                <a:extLst>
                  <a:ext uri="{FF2B5EF4-FFF2-40B4-BE49-F238E27FC236}">
                    <a16:creationId xmlns:a16="http://schemas.microsoft.com/office/drawing/2014/main" id="{4E623895-7FAB-90F8-3ED4-749B12D8FD33}"/>
                  </a:ext>
                </a:extLst>
              </p:cNvPr>
              <p:cNvSpPr/>
              <p:nvPr/>
            </p:nvSpPr>
            <p:spPr bwMode="gray">
              <a:xfrm>
                <a:off x="5088525" y="5395240"/>
                <a:ext cx="2011047" cy="265373"/>
              </a:xfrm>
              <a:prstGeom prst="roundRect">
                <a:avLst>
                  <a:gd name="adj" fmla="val 50000"/>
                </a:avLst>
              </a:prstGeom>
              <a:solidFill>
                <a:srgbClr val="002986"/>
              </a:solidFill>
              <a:ln w="25400" algn="ctr">
                <a:noFill/>
                <a:miter lim="800000"/>
                <a:headEnd/>
                <a:tailEnd/>
              </a:ln>
              <a:effectLst>
                <a:outerShdw blurRad="50800" dir="2700000" algn="tr" rotWithShape="0">
                  <a:prstClr val="black">
                    <a:alpha val="40000"/>
                  </a:prstClr>
                </a:outerShdw>
              </a:effectLst>
            </p:spPr>
            <p:txBody>
              <a:bodyPr rot="0" spcFirstLastPara="0" vertOverflow="overflow" horzOverflow="overflow" vert="horz" wrap="square" lIns="35991" tIns="35991" rIns="35991" bIns="35991" numCol="1" spcCol="0" rtlCol="0" fromWordArt="0" anchor="ctr" anchorCtr="0" forceAA="0" compatLnSpc="1">
                <a:prstTxWarp prst="textNoShape">
                  <a:avLst/>
                </a:prstTxWarp>
                <a:noAutofit/>
              </a:bodyPr>
              <a:lstStyle/>
              <a:p>
                <a:pPr algn="ctr" defTabSz="914126" fontAlgn="base">
                  <a:spcBef>
                    <a:spcPct val="50000"/>
                  </a:spcBef>
                  <a:spcAft>
                    <a:spcPct val="0"/>
                  </a:spcAft>
                  <a:buClr>
                    <a:srgbClr val="F0AB00"/>
                  </a:buClr>
                  <a:buSzPct val="80000"/>
                </a:pPr>
                <a:r>
                  <a:rPr lang="en-US" sz="1200" b="1" kern="0">
                    <a:solidFill>
                      <a:srgbClr val="FFFFFF"/>
                    </a:solidFill>
                    <a:latin typeface="72 Brand" panose="020B0504030603020204" pitchFamily="34" charset="0"/>
                    <a:ea typeface="Arial Unicode MS" pitchFamily="34" charset="-128"/>
                    <a:cs typeface="72" panose="020B0503030000000003" pitchFamily="34" charset="0"/>
                  </a:rPr>
                  <a:t>Purchase Order</a:t>
                </a:r>
                <a:endParaRPr lang="en-DE" sz="1200" b="1" kern="0">
                  <a:solidFill>
                    <a:srgbClr val="FFFFFF"/>
                  </a:solidFill>
                  <a:latin typeface="72 Brand" panose="020B0504030603020204" pitchFamily="34" charset="0"/>
                  <a:ea typeface="Arial Unicode MS" pitchFamily="34" charset="-128"/>
                  <a:cs typeface="72" panose="020B0503030000000003" pitchFamily="34" charset="0"/>
                </a:endParaRPr>
              </a:p>
            </p:txBody>
          </p:sp>
        </p:grpSp>
        <p:sp>
          <p:nvSpPr>
            <p:cNvPr id="7" name="TextBox 6">
              <a:extLst>
                <a:ext uri="{FF2B5EF4-FFF2-40B4-BE49-F238E27FC236}">
                  <a16:creationId xmlns:a16="http://schemas.microsoft.com/office/drawing/2014/main" id="{027ED9D1-2D9F-F108-6A70-2A83BEA117C4}"/>
                </a:ext>
              </a:extLst>
            </p:cNvPr>
            <p:cNvSpPr txBox="1"/>
            <p:nvPr/>
          </p:nvSpPr>
          <p:spPr>
            <a:xfrm>
              <a:off x="4456154" y="1873937"/>
              <a:ext cx="2137841" cy="307777"/>
            </a:xfrm>
            <a:prstGeom prst="rect">
              <a:avLst/>
            </a:prstGeom>
            <a:noFill/>
          </p:spPr>
          <p:txBody>
            <a:bodyPr wrap="square" rtlCol="0">
              <a:spAutoFit/>
            </a:bodyPr>
            <a:lstStyle/>
            <a:p>
              <a:r>
                <a:rPr lang="en-US" sz="1400" b="1">
                  <a:solidFill>
                    <a:srgbClr val="002986"/>
                  </a:solidFill>
                  <a:latin typeface="72 Brand" panose="020B0504030603020204" pitchFamily="34" charset="0"/>
                </a:rPr>
                <a:t>Example-2</a:t>
              </a:r>
            </a:p>
          </p:txBody>
        </p:sp>
      </p:grpSp>
      <p:sp>
        <p:nvSpPr>
          <p:cNvPr id="25" name="TextBox 24">
            <a:extLst>
              <a:ext uri="{FF2B5EF4-FFF2-40B4-BE49-F238E27FC236}">
                <a16:creationId xmlns:a16="http://schemas.microsoft.com/office/drawing/2014/main" id="{BD9E3E5C-4E0F-7885-19C4-E95B5FB070BA}"/>
              </a:ext>
            </a:extLst>
          </p:cNvPr>
          <p:cNvSpPr txBox="1"/>
          <p:nvPr/>
        </p:nvSpPr>
        <p:spPr>
          <a:xfrm>
            <a:off x="1818167" y="6220047"/>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8591295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75000"/>
          </a:schemeClr>
        </a:solidFill>
        <a:effectLst/>
      </p:bgPr>
    </p:bg>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C7628357-2FBB-C9D2-B9F4-39CB32C99BC8}"/>
              </a:ext>
            </a:extLst>
          </p:cNvPr>
          <p:cNvSpPr>
            <a:spLocks/>
          </p:cNvSpPr>
          <p:nvPr/>
        </p:nvSpPr>
        <p:spPr bwMode="auto">
          <a:xfrm>
            <a:off x="978344" y="1573442"/>
            <a:ext cx="10185998" cy="4865076"/>
          </a:xfrm>
          <a:prstGeom prst="roundRect">
            <a:avLst>
              <a:gd name="adj" fmla="val 3201"/>
            </a:avLst>
          </a:prstGeom>
          <a:solidFill>
            <a:srgbClr val="D2EFFF"/>
          </a:solidFill>
          <a:ln w="9525" cap="flat" cmpd="sng" algn="ctr">
            <a:solidFill>
              <a:srgbClr val="006FF2"/>
            </a:solid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30" name="Rounded Rectangle 29">
            <a:extLst>
              <a:ext uri="{FF2B5EF4-FFF2-40B4-BE49-F238E27FC236}">
                <a16:creationId xmlns:a16="http://schemas.microsoft.com/office/drawing/2014/main" id="{79A7E9B5-6C33-6348-D983-C9F349DB7B87}"/>
              </a:ext>
            </a:extLst>
          </p:cNvPr>
          <p:cNvSpPr>
            <a:spLocks/>
          </p:cNvSpPr>
          <p:nvPr/>
        </p:nvSpPr>
        <p:spPr bwMode="auto">
          <a:xfrm>
            <a:off x="2607309" y="5895032"/>
            <a:ext cx="1781502"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Easier Maintenance</a:t>
            </a:r>
          </a:p>
        </p:txBody>
      </p:sp>
      <p:sp>
        <p:nvSpPr>
          <p:cNvPr id="31" name="Rounded Rectangle 30">
            <a:extLst>
              <a:ext uri="{FF2B5EF4-FFF2-40B4-BE49-F238E27FC236}">
                <a16:creationId xmlns:a16="http://schemas.microsoft.com/office/drawing/2014/main" id="{A2B5FECB-AD2D-5AF1-0B52-4DEB572D5D48}"/>
              </a:ext>
            </a:extLst>
          </p:cNvPr>
          <p:cNvSpPr>
            <a:spLocks/>
          </p:cNvSpPr>
          <p:nvPr/>
        </p:nvSpPr>
        <p:spPr bwMode="auto">
          <a:xfrm>
            <a:off x="5068762" y="5895032"/>
            <a:ext cx="1781502"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Shared Computing Resources</a:t>
            </a:r>
          </a:p>
        </p:txBody>
      </p:sp>
      <p:sp>
        <p:nvSpPr>
          <p:cNvPr id="32" name="Rounded Rectangle 31">
            <a:extLst>
              <a:ext uri="{FF2B5EF4-FFF2-40B4-BE49-F238E27FC236}">
                <a16:creationId xmlns:a16="http://schemas.microsoft.com/office/drawing/2014/main" id="{DA46F5FA-A55E-4F07-7B79-B19AECCD66F0}"/>
              </a:ext>
            </a:extLst>
          </p:cNvPr>
          <p:cNvSpPr>
            <a:spLocks/>
          </p:cNvSpPr>
          <p:nvPr/>
        </p:nvSpPr>
        <p:spPr bwMode="auto">
          <a:xfrm>
            <a:off x="7371913" y="5895032"/>
            <a:ext cx="1781502"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One Deployment for all</a:t>
            </a:r>
          </a:p>
        </p:txBody>
      </p:sp>
      <p:sp>
        <p:nvSpPr>
          <p:cNvPr id="33" name="Rounded Rectangle 32">
            <a:extLst>
              <a:ext uri="{FF2B5EF4-FFF2-40B4-BE49-F238E27FC236}">
                <a16:creationId xmlns:a16="http://schemas.microsoft.com/office/drawing/2014/main" id="{60EA405A-E370-544D-1B40-B3080AE9985B}"/>
              </a:ext>
            </a:extLst>
          </p:cNvPr>
          <p:cNvSpPr>
            <a:spLocks/>
          </p:cNvSpPr>
          <p:nvPr/>
        </p:nvSpPr>
        <p:spPr bwMode="auto">
          <a:xfrm>
            <a:off x="8502765" y="3376550"/>
            <a:ext cx="1555635" cy="220463"/>
          </a:xfrm>
          <a:prstGeom prst="roundRect">
            <a:avLst>
              <a:gd name="adj" fmla="val 3201"/>
            </a:avLst>
          </a:prstGeom>
          <a:gradFill>
            <a:gsLst>
              <a:gs pos="0">
                <a:srgbClr val="0070F2"/>
              </a:gs>
              <a:gs pos="100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BO</a:t>
            </a:r>
            <a:r>
              <a:rPr lang="en-GB" sz="800" kern="0">
                <a:solidFill>
                  <a:schemeClr val="bg1"/>
                </a:solidFill>
                <a:latin typeface="72 Brand Medium" panose="020B0504030603020204" pitchFamily="34" charset="0"/>
                <a:ea typeface="Arial Unicode MS" pitchFamily="34" charset="-128"/>
                <a:cs typeface="72 Black" panose="020B0503030000000003" pitchFamily="34" charset="0"/>
              </a:rPr>
              <a:t>(n)</a:t>
            </a: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 * Computing Resource</a:t>
            </a:r>
          </a:p>
        </p:txBody>
      </p:sp>
      <p:grpSp>
        <p:nvGrpSpPr>
          <p:cNvPr id="41" name="Group 40">
            <a:extLst>
              <a:ext uri="{FF2B5EF4-FFF2-40B4-BE49-F238E27FC236}">
                <a16:creationId xmlns:a16="http://schemas.microsoft.com/office/drawing/2014/main" id="{C34EBA6B-0ADB-92C9-5EE0-1FF722FE22FC}"/>
              </a:ext>
            </a:extLst>
          </p:cNvPr>
          <p:cNvGrpSpPr/>
          <p:nvPr/>
        </p:nvGrpSpPr>
        <p:grpSpPr>
          <a:xfrm>
            <a:off x="1355637" y="2694173"/>
            <a:ext cx="1789289" cy="1138888"/>
            <a:chOff x="484167" y="1847450"/>
            <a:chExt cx="1847517" cy="1158453"/>
          </a:xfrm>
        </p:grpSpPr>
        <p:sp>
          <p:nvSpPr>
            <p:cNvPr id="8" name="Rounded Rectangle 7">
              <a:extLst>
                <a:ext uri="{FF2B5EF4-FFF2-40B4-BE49-F238E27FC236}">
                  <a16:creationId xmlns:a16="http://schemas.microsoft.com/office/drawing/2014/main" id="{F75C8268-A611-0899-9777-B98A0CF8DE96}"/>
                </a:ext>
              </a:extLst>
            </p:cNvPr>
            <p:cNvSpPr>
              <a:spLocks/>
            </p:cNvSpPr>
            <p:nvPr/>
          </p:nvSpPr>
          <p:spPr bwMode="auto">
            <a:xfrm>
              <a:off x="484167" y="1847450"/>
              <a:ext cx="1847517" cy="1158453"/>
            </a:xfrm>
            <a:prstGeom prst="roundRect">
              <a:avLst>
                <a:gd name="adj" fmla="val 3201"/>
              </a:avLst>
            </a:prstGeom>
            <a:solidFill>
              <a:schemeClr val="bg1">
                <a:lumMod val="95000"/>
              </a:schemeClr>
            </a:solidFill>
            <a:ln w="9525" cap="flat" cmpd="sng" algn="ctr">
              <a:solidFill>
                <a:schemeClr val="tx1">
                  <a:lumMod val="75000"/>
                  <a:lumOff val="2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37" name="Rounded Rectangle 36">
              <a:extLst>
                <a:ext uri="{FF2B5EF4-FFF2-40B4-BE49-F238E27FC236}">
                  <a16:creationId xmlns:a16="http://schemas.microsoft.com/office/drawing/2014/main" id="{5854C522-D2C7-C0B8-D95A-5B50CBF62394}"/>
                </a:ext>
              </a:extLst>
            </p:cNvPr>
            <p:cNvSpPr>
              <a:spLocks/>
            </p:cNvSpPr>
            <p:nvPr/>
          </p:nvSpPr>
          <p:spPr bwMode="auto">
            <a:xfrm>
              <a:off x="598574" y="1997188"/>
              <a:ext cx="1598830" cy="292948"/>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u="none" strike="noStrike" kern="0" cap="none" spc="0" normalizeH="0" baseline="0" noProof="0">
                  <a:ln>
                    <a:noFill/>
                  </a:ln>
                  <a:solidFill>
                    <a:srgbClr val="000000"/>
                  </a:solidFill>
                  <a:effectLst/>
                  <a:uLnTx/>
                  <a:uFillTx/>
                  <a:latin typeface="72 Brand Light" panose="020B0304030603020204" pitchFamily="34" charset="0"/>
                  <a:ea typeface="Arial Unicode MS" pitchFamily="34" charset="-128"/>
                  <a:cs typeface="72 Black" panose="020B0503030000000003" pitchFamily="34" charset="0"/>
                </a:rPr>
                <a:t>API Hub</a:t>
              </a:r>
            </a:p>
          </p:txBody>
        </p:sp>
        <p:sp>
          <p:nvSpPr>
            <p:cNvPr id="39" name="Rounded Rectangle 38">
              <a:extLst>
                <a:ext uri="{FF2B5EF4-FFF2-40B4-BE49-F238E27FC236}">
                  <a16:creationId xmlns:a16="http://schemas.microsoft.com/office/drawing/2014/main" id="{B3C6C3ED-FBC3-ADBE-1E7E-BD06062109E2}"/>
                </a:ext>
              </a:extLst>
            </p:cNvPr>
            <p:cNvSpPr>
              <a:spLocks/>
            </p:cNvSpPr>
            <p:nvPr/>
          </p:nvSpPr>
          <p:spPr bwMode="auto">
            <a:xfrm>
              <a:off x="598574" y="2428938"/>
              <a:ext cx="1598830" cy="477319"/>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u="none" strike="noStrike" kern="0" cap="none" spc="0" normalizeH="0" baseline="0" noProof="0">
                  <a:ln>
                    <a:noFill/>
                  </a:ln>
                  <a:solidFill>
                    <a:srgbClr val="000000"/>
                  </a:solidFill>
                  <a:effectLst/>
                  <a:uLnTx/>
                  <a:uFillTx/>
                  <a:latin typeface="72 Brand Light" panose="020B0304030603020204" pitchFamily="34" charset="0"/>
                  <a:ea typeface="Arial Unicode MS" pitchFamily="34" charset="-128"/>
                  <a:cs typeface="72 Black" panose="020B0503030000000003" pitchFamily="34" charset="0"/>
                </a:rPr>
                <a:t>SAP Help Documentation</a:t>
              </a:r>
            </a:p>
          </p:txBody>
        </p:sp>
      </p:grpSp>
      <p:grpSp>
        <p:nvGrpSpPr>
          <p:cNvPr id="42" name="Group 41">
            <a:extLst>
              <a:ext uri="{FF2B5EF4-FFF2-40B4-BE49-F238E27FC236}">
                <a16:creationId xmlns:a16="http://schemas.microsoft.com/office/drawing/2014/main" id="{ED4CDB92-C886-142A-A83F-4713945345E3}"/>
              </a:ext>
            </a:extLst>
          </p:cNvPr>
          <p:cNvGrpSpPr/>
          <p:nvPr/>
        </p:nvGrpSpPr>
        <p:grpSpPr>
          <a:xfrm>
            <a:off x="1399121" y="4989157"/>
            <a:ext cx="1607385" cy="702033"/>
            <a:chOff x="484167" y="1931069"/>
            <a:chExt cx="1847517" cy="1074834"/>
          </a:xfrm>
        </p:grpSpPr>
        <p:sp>
          <p:nvSpPr>
            <p:cNvPr id="43" name="Rounded Rectangle 42">
              <a:extLst>
                <a:ext uri="{FF2B5EF4-FFF2-40B4-BE49-F238E27FC236}">
                  <a16:creationId xmlns:a16="http://schemas.microsoft.com/office/drawing/2014/main" id="{DC97F1C9-BEC9-1674-4FBA-35F26717EE9B}"/>
                </a:ext>
              </a:extLst>
            </p:cNvPr>
            <p:cNvSpPr>
              <a:spLocks/>
            </p:cNvSpPr>
            <p:nvPr/>
          </p:nvSpPr>
          <p:spPr bwMode="auto">
            <a:xfrm>
              <a:off x="484167" y="1931069"/>
              <a:ext cx="1847517" cy="1074834"/>
            </a:xfrm>
            <a:prstGeom prst="roundRect">
              <a:avLst>
                <a:gd name="adj" fmla="val 3201"/>
              </a:avLst>
            </a:prstGeom>
            <a:solidFill>
              <a:schemeClr val="bg1">
                <a:lumMod val="95000"/>
              </a:schemeClr>
            </a:solidFill>
            <a:ln w="9525" cap="flat" cmpd="sng" algn="ctr">
              <a:solidFill>
                <a:schemeClr val="tx1">
                  <a:lumMod val="85000"/>
                  <a:lumOff val="1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44" name="Rounded Rectangle 43">
              <a:extLst>
                <a:ext uri="{FF2B5EF4-FFF2-40B4-BE49-F238E27FC236}">
                  <a16:creationId xmlns:a16="http://schemas.microsoft.com/office/drawing/2014/main" id="{D36FC983-4701-8F7A-2A35-8E14F718A240}"/>
                </a:ext>
              </a:extLst>
            </p:cNvPr>
            <p:cNvSpPr>
              <a:spLocks/>
            </p:cNvSpPr>
            <p:nvPr/>
          </p:nvSpPr>
          <p:spPr bwMode="auto">
            <a:xfrm>
              <a:off x="598574" y="2063630"/>
              <a:ext cx="1598830" cy="307996"/>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72000" rIns="36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700" u="none" strike="noStrike" kern="0" cap="none" spc="0" normalizeH="0" baseline="0" noProof="0">
                  <a:ln>
                    <a:noFill/>
                  </a:ln>
                  <a:solidFill>
                    <a:srgbClr val="000000"/>
                  </a:solidFill>
                  <a:effectLst/>
                  <a:uLnTx/>
                  <a:uFillTx/>
                  <a:latin typeface="72 Brand Light" panose="020B0304030603020204" pitchFamily="34" charset="0"/>
                  <a:ea typeface="Arial Unicode MS" pitchFamily="34" charset="-128"/>
                  <a:cs typeface="72 Black" panose="020B0503030000000003" pitchFamily="34" charset="0"/>
                </a:rPr>
                <a:t>API Hub</a:t>
              </a:r>
            </a:p>
          </p:txBody>
        </p:sp>
        <p:sp>
          <p:nvSpPr>
            <p:cNvPr id="45" name="Rounded Rectangle 44">
              <a:extLst>
                <a:ext uri="{FF2B5EF4-FFF2-40B4-BE49-F238E27FC236}">
                  <a16:creationId xmlns:a16="http://schemas.microsoft.com/office/drawing/2014/main" id="{5626A6C5-08DD-E833-2666-2C0B47E5CDC0}"/>
                </a:ext>
              </a:extLst>
            </p:cNvPr>
            <p:cNvSpPr>
              <a:spLocks/>
            </p:cNvSpPr>
            <p:nvPr/>
          </p:nvSpPr>
          <p:spPr bwMode="auto">
            <a:xfrm>
              <a:off x="598574" y="2461854"/>
              <a:ext cx="1598830" cy="413857"/>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72000" rIns="36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700" u="none" strike="noStrike" kern="0" cap="none" spc="0" normalizeH="0" baseline="0" noProof="0">
                  <a:ln>
                    <a:noFill/>
                  </a:ln>
                  <a:solidFill>
                    <a:srgbClr val="000000"/>
                  </a:solidFill>
                  <a:effectLst/>
                  <a:uLnTx/>
                  <a:uFillTx/>
                  <a:latin typeface="72 Brand Light" panose="020B0304030603020204" pitchFamily="34" charset="0"/>
                  <a:ea typeface="Arial Unicode MS" pitchFamily="34" charset="-128"/>
                  <a:cs typeface="72 Black" panose="020B0503030000000003" pitchFamily="34" charset="0"/>
                </a:rPr>
                <a:t>SAP Help Documentation</a:t>
              </a:r>
            </a:p>
          </p:txBody>
        </p:sp>
      </p:grpSp>
      <p:sp>
        <p:nvSpPr>
          <p:cNvPr id="17" name="Rounded Rectangle 16">
            <a:extLst>
              <a:ext uri="{FF2B5EF4-FFF2-40B4-BE49-F238E27FC236}">
                <a16:creationId xmlns:a16="http://schemas.microsoft.com/office/drawing/2014/main" id="{48411EFF-5222-E878-DA31-EF646215AC1D}"/>
              </a:ext>
            </a:extLst>
          </p:cNvPr>
          <p:cNvSpPr>
            <a:spLocks/>
          </p:cNvSpPr>
          <p:nvPr/>
        </p:nvSpPr>
        <p:spPr bwMode="auto">
          <a:xfrm>
            <a:off x="3567888" y="4870575"/>
            <a:ext cx="5032396" cy="820615"/>
          </a:xfrm>
          <a:prstGeom prst="roundRect">
            <a:avLst>
              <a:gd name="adj" fmla="val 3201"/>
            </a:avLst>
          </a:prstGeom>
          <a:solidFill>
            <a:schemeClr val="bg1"/>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2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Config File JSON</a:t>
            </a:r>
          </a:p>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GB" sz="1000" kern="0">
                <a:solidFill>
                  <a:srgbClr val="000000"/>
                </a:solidFill>
                <a:latin typeface="72 Brand Light" panose="020B0304030603020204" pitchFamily="34" charset="0"/>
                <a:ea typeface="Arial Unicode MS" pitchFamily="34" charset="-128"/>
                <a:cs typeface="72 Black" panose="020B0503030000000003" pitchFamily="34" charset="0"/>
              </a:rPr>
              <a:t>(Business Object 1,…n)</a:t>
            </a:r>
            <a:endParaRPr kumimoji="0" lang="en-GB" sz="1000" u="none" strike="noStrike" kern="0" cap="none" spc="0" normalizeH="0" baseline="0" noProof="0">
              <a:ln>
                <a:noFill/>
              </a:ln>
              <a:solidFill>
                <a:srgbClr val="000000"/>
              </a:solidFill>
              <a:effectLst/>
              <a:uLnTx/>
              <a:uFillTx/>
              <a:latin typeface="72 Brand Light" panose="020B0304030603020204" pitchFamily="34" charset="0"/>
              <a:ea typeface="Arial Unicode MS" pitchFamily="34" charset="-128"/>
              <a:cs typeface="72 Black" panose="020B0503030000000003" pitchFamily="34" charset="0"/>
            </a:endParaRPr>
          </a:p>
        </p:txBody>
      </p:sp>
      <p:sp>
        <p:nvSpPr>
          <p:cNvPr id="1024" name="TextBox 1023">
            <a:extLst>
              <a:ext uri="{FF2B5EF4-FFF2-40B4-BE49-F238E27FC236}">
                <a16:creationId xmlns:a16="http://schemas.microsoft.com/office/drawing/2014/main" id="{D23C8526-F732-89C9-3085-247B1A645FF3}"/>
              </a:ext>
            </a:extLst>
          </p:cNvPr>
          <p:cNvSpPr txBox="1"/>
          <p:nvPr/>
        </p:nvSpPr>
        <p:spPr>
          <a:xfrm>
            <a:off x="1930132" y="2030997"/>
            <a:ext cx="603050" cy="230832"/>
          </a:xfrm>
          <a:prstGeom prst="rect">
            <a:avLst/>
          </a:prstGeom>
          <a:noFill/>
        </p:spPr>
        <p:txBody>
          <a:bodyPr wrap="none" rtlCol="0">
            <a:spAutoFit/>
          </a:bodyPr>
          <a:lstStyle/>
          <a:p>
            <a:r>
              <a:rPr lang="en-US" sz="900" b="1">
                <a:latin typeface="72 Brand Light" panose="020B0304030603020204" pitchFamily="34" charset="0"/>
              </a:rPr>
              <a:t>Find API</a:t>
            </a:r>
          </a:p>
        </p:txBody>
      </p:sp>
      <p:sp>
        <p:nvSpPr>
          <p:cNvPr id="1049" name="Rounded Rectangle 1048">
            <a:extLst>
              <a:ext uri="{FF2B5EF4-FFF2-40B4-BE49-F238E27FC236}">
                <a16:creationId xmlns:a16="http://schemas.microsoft.com/office/drawing/2014/main" id="{DC2DA5D3-4B62-F02D-4355-26C64878CAA3}"/>
              </a:ext>
            </a:extLst>
          </p:cNvPr>
          <p:cNvSpPr>
            <a:spLocks/>
          </p:cNvSpPr>
          <p:nvPr/>
        </p:nvSpPr>
        <p:spPr bwMode="auto">
          <a:xfrm>
            <a:off x="8502766" y="3714783"/>
            <a:ext cx="1555635"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More Development Time</a:t>
            </a:r>
          </a:p>
        </p:txBody>
      </p:sp>
      <p:sp>
        <p:nvSpPr>
          <p:cNvPr id="1025" name="TextBox 1024">
            <a:extLst>
              <a:ext uri="{FF2B5EF4-FFF2-40B4-BE49-F238E27FC236}">
                <a16:creationId xmlns:a16="http://schemas.microsoft.com/office/drawing/2014/main" id="{C5FB6D03-5EC7-1A58-34F1-3F5AC18E9BE5}"/>
              </a:ext>
            </a:extLst>
          </p:cNvPr>
          <p:cNvSpPr txBox="1"/>
          <p:nvPr/>
        </p:nvSpPr>
        <p:spPr>
          <a:xfrm>
            <a:off x="1880027" y="4587257"/>
            <a:ext cx="603050" cy="230832"/>
          </a:xfrm>
          <a:prstGeom prst="rect">
            <a:avLst/>
          </a:prstGeom>
          <a:noFill/>
        </p:spPr>
        <p:txBody>
          <a:bodyPr wrap="none" rtlCol="0">
            <a:spAutoFit/>
          </a:bodyPr>
          <a:lstStyle/>
          <a:p>
            <a:r>
              <a:rPr lang="en-US" sz="900" b="1">
                <a:latin typeface="72 Brand Light" panose="020B0304030603020204" pitchFamily="34" charset="0"/>
              </a:rPr>
              <a:t>Find API</a:t>
            </a:r>
          </a:p>
        </p:txBody>
      </p:sp>
      <p:cxnSp>
        <p:nvCxnSpPr>
          <p:cNvPr id="1029" name="Straight Arrow Connector 1028">
            <a:extLst>
              <a:ext uri="{FF2B5EF4-FFF2-40B4-BE49-F238E27FC236}">
                <a16:creationId xmlns:a16="http://schemas.microsoft.com/office/drawing/2014/main" id="{F97E7D82-A48B-8001-7FD5-396EF2E2392B}"/>
              </a:ext>
            </a:extLst>
          </p:cNvPr>
          <p:cNvCxnSpPr>
            <a:cxnSpLocks/>
            <a:stCxn id="1024" idx="2"/>
          </p:cNvCxnSpPr>
          <p:nvPr/>
        </p:nvCxnSpPr>
        <p:spPr>
          <a:xfrm>
            <a:off x="2231657" y="2261829"/>
            <a:ext cx="0" cy="42637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1032" name="Straight Arrow Connector 1031">
            <a:extLst>
              <a:ext uri="{FF2B5EF4-FFF2-40B4-BE49-F238E27FC236}">
                <a16:creationId xmlns:a16="http://schemas.microsoft.com/office/drawing/2014/main" id="{55081744-B0CC-7ED2-E2E2-C39B3A2E816D}"/>
              </a:ext>
            </a:extLst>
          </p:cNvPr>
          <p:cNvCxnSpPr>
            <a:cxnSpLocks/>
          </p:cNvCxnSpPr>
          <p:nvPr/>
        </p:nvCxnSpPr>
        <p:spPr>
          <a:xfrm>
            <a:off x="2150499" y="4775972"/>
            <a:ext cx="0" cy="213185"/>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1035" name="Straight Arrow Connector 1034">
            <a:extLst>
              <a:ext uri="{FF2B5EF4-FFF2-40B4-BE49-F238E27FC236}">
                <a16:creationId xmlns:a16="http://schemas.microsoft.com/office/drawing/2014/main" id="{413752FC-090A-80DB-3D8D-C65E8A55A938}"/>
              </a:ext>
            </a:extLst>
          </p:cNvPr>
          <p:cNvCxnSpPr>
            <a:cxnSpLocks/>
            <a:stCxn id="43" idx="3"/>
          </p:cNvCxnSpPr>
          <p:nvPr/>
        </p:nvCxnSpPr>
        <p:spPr>
          <a:xfrm flipV="1">
            <a:off x="3006506" y="5335842"/>
            <a:ext cx="540294" cy="4332"/>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1039" name="Straight Arrow Connector 1038">
            <a:extLst>
              <a:ext uri="{FF2B5EF4-FFF2-40B4-BE49-F238E27FC236}">
                <a16:creationId xmlns:a16="http://schemas.microsoft.com/office/drawing/2014/main" id="{DBC0B921-2E4A-9FD3-BF10-B7F6E7A97A25}"/>
              </a:ext>
            </a:extLst>
          </p:cNvPr>
          <p:cNvCxnSpPr>
            <a:cxnSpLocks/>
          </p:cNvCxnSpPr>
          <p:nvPr/>
        </p:nvCxnSpPr>
        <p:spPr>
          <a:xfrm>
            <a:off x="3161096" y="3264801"/>
            <a:ext cx="540000"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
        <p:nvSpPr>
          <p:cNvPr id="1050" name="Rounded Rectangle 1049">
            <a:extLst>
              <a:ext uri="{FF2B5EF4-FFF2-40B4-BE49-F238E27FC236}">
                <a16:creationId xmlns:a16="http://schemas.microsoft.com/office/drawing/2014/main" id="{9917A1EC-FCED-CCEE-5F9C-7965305B8B70}"/>
              </a:ext>
            </a:extLst>
          </p:cNvPr>
          <p:cNvSpPr>
            <a:spLocks/>
          </p:cNvSpPr>
          <p:nvPr/>
        </p:nvSpPr>
        <p:spPr bwMode="auto">
          <a:xfrm>
            <a:off x="8502765" y="4061937"/>
            <a:ext cx="1555635"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r>
              <a:rPr kumimoji="0" lang="en-GB" sz="800" b="0" i="0" u="none" strike="noStrike" kern="0" cap="none" spc="0" normalizeH="0" baseline="0" noProof="0">
                <a:ln>
                  <a:noFill/>
                </a:ln>
                <a:solidFill>
                  <a:schemeClr val="bg1"/>
                </a:solidFill>
                <a:effectLst/>
                <a:uLnTx/>
                <a:uFillTx/>
                <a:latin typeface="72 Brand Medium" panose="020B0504030603020204" pitchFamily="34" charset="0"/>
                <a:ea typeface="Arial Unicode MS" pitchFamily="34" charset="-128"/>
                <a:cs typeface="72 Black" panose="020B0503030000000003" pitchFamily="34" charset="0"/>
              </a:rPr>
              <a:t>Repeat Maintenance</a:t>
            </a:r>
          </a:p>
        </p:txBody>
      </p:sp>
      <p:cxnSp>
        <p:nvCxnSpPr>
          <p:cNvPr id="1041" name="Straight Arrow Connector 1040">
            <a:extLst>
              <a:ext uri="{FF2B5EF4-FFF2-40B4-BE49-F238E27FC236}">
                <a16:creationId xmlns:a16="http://schemas.microsoft.com/office/drawing/2014/main" id="{825A15CE-1F4E-07E2-E7E2-B54682D92888}"/>
              </a:ext>
            </a:extLst>
          </p:cNvPr>
          <p:cNvCxnSpPr>
            <a:cxnSpLocks/>
          </p:cNvCxnSpPr>
          <p:nvPr/>
        </p:nvCxnSpPr>
        <p:spPr>
          <a:xfrm>
            <a:off x="8247928" y="2450806"/>
            <a:ext cx="537985"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nvGrpSpPr>
          <p:cNvPr id="1078" name="Group 1077">
            <a:extLst>
              <a:ext uri="{FF2B5EF4-FFF2-40B4-BE49-F238E27FC236}">
                <a16:creationId xmlns:a16="http://schemas.microsoft.com/office/drawing/2014/main" id="{E5F00671-1AAD-82B7-898B-D91CE682C275}"/>
              </a:ext>
            </a:extLst>
          </p:cNvPr>
          <p:cNvGrpSpPr/>
          <p:nvPr/>
        </p:nvGrpSpPr>
        <p:grpSpPr>
          <a:xfrm>
            <a:off x="8794424" y="2055419"/>
            <a:ext cx="1270355" cy="790774"/>
            <a:chOff x="9011822" y="1459257"/>
            <a:chExt cx="1270355" cy="790774"/>
          </a:xfrm>
        </p:grpSpPr>
        <p:sp>
          <p:nvSpPr>
            <p:cNvPr id="11" name="Rounded Rectangle 10">
              <a:extLst>
                <a:ext uri="{FF2B5EF4-FFF2-40B4-BE49-F238E27FC236}">
                  <a16:creationId xmlns:a16="http://schemas.microsoft.com/office/drawing/2014/main" id="{299A2F31-1AF4-EA31-26F1-F37C640790C7}"/>
                </a:ext>
              </a:extLst>
            </p:cNvPr>
            <p:cNvSpPr>
              <a:spLocks/>
            </p:cNvSpPr>
            <p:nvPr/>
          </p:nvSpPr>
          <p:spPr bwMode="auto">
            <a:xfrm>
              <a:off x="9011822" y="1459257"/>
              <a:ext cx="1270355" cy="790774"/>
            </a:xfrm>
            <a:prstGeom prst="roundRect">
              <a:avLst>
                <a:gd name="adj" fmla="val 3201"/>
              </a:avLst>
            </a:prstGeom>
            <a:solidFill>
              <a:srgbClr val="E2D8FF"/>
            </a:solidFill>
            <a:ln w="9525" cap="flat" cmpd="sng" algn="ctr">
              <a:solidFill>
                <a:srgbClr val="7030A0"/>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ctr" anchorCtr="0" forceAA="0" compatLnSpc="1">
              <a:prstTxWarp prst="textNoShape">
                <a:avLst/>
              </a:prstTxWarp>
              <a:noAutofit/>
            </a:bodyPr>
            <a:lstStyle/>
            <a:p>
              <a:pPr marL="0" marR="0" lvl="0" indent="0" algn="r" defTabSz="932192" rtl="0" eaLnBrk="1" fontAlgn="base" latinLnBrk="0" hangingPunct="1">
                <a:lnSpc>
                  <a:spcPct val="90000"/>
                </a:lnSpc>
                <a:spcBef>
                  <a:spcPct val="0"/>
                </a:spcBef>
                <a:spcAft>
                  <a:spcPts val="600"/>
                </a:spcAft>
                <a:buClr>
                  <a:srgbClr val="0070F2"/>
                </a:buClr>
                <a:buSzTx/>
                <a:buFontTx/>
                <a:buNone/>
                <a:tabLst/>
                <a:defRPr/>
              </a:pPr>
              <a:r>
                <a:rPr kumimoji="0" lang="en-GB" sz="1050" b="0" i="0" u="none" strike="noStrike" kern="0" cap="none" spc="0" normalizeH="0" baseline="0" noProof="0">
                  <a:ln>
                    <a:noFill/>
                  </a:ln>
                  <a:solidFill>
                    <a:srgbClr val="7030A0"/>
                  </a:solidFill>
                  <a:effectLst/>
                  <a:uLnTx/>
                  <a:uFillTx/>
                  <a:latin typeface="72 Brand Medium" panose="020B0504030603020204" pitchFamily="34" charset="0"/>
                  <a:ea typeface="Arial Unicode MS" pitchFamily="34" charset="-128"/>
                  <a:cs typeface="72 Black" panose="020B0503030000000003" pitchFamily="34" charset="0"/>
                </a:rPr>
                <a:t>SAP Build Work zone</a:t>
              </a:r>
            </a:p>
          </p:txBody>
        </p:sp>
        <p:pic>
          <p:nvPicPr>
            <p:cNvPr id="1056" name="Picture 4">
              <a:extLst>
                <a:ext uri="{FF2B5EF4-FFF2-40B4-BE49-F238E27FC236}">
                  <a16:creationId xmlns:a16="http://schemas.microsoft.com/office/drawing/2014/main" id="{3A5B3440-51BA-1C66-2D15-4D7A7417A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6567" y="1712720"/>
              <a:ext cx="322396" cy="3223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3" name="Group 1092">
            <a:extLst>
              <a:ext uri="{FF2B5EF4-FFF2-40B4-BE49-F238E27FC236}">
                <a16:creationId xmlns:a16="http://schemas.microsoft.com/office/drawing/2014/main" id="{929EA457-8849-7CCA-DEFA-A0418EE290C4}"/>
              </a:ext>
            </a:extLst>
          </p:cNvPr>
          <p:cNvGrpSpPr/>
          <p:nvPr/>
        </p:nvGrpSpPr>
        <p:grpSpPr>
          <a:xfrm>
            <a:off x="3896016" y="1790937"/>
            <a:ext cx="4540028" cy="2483224"/>
            <a:chOff x="3896016" y="1213957"/>
            <a:chExt cx="4540028" cy="2483224"/>
          </a:xfrm>
        </p:grpSpPr>
        <p:sp>
          <p:nvSpPr>
            <p:cNvPr id="1047" name="Rounded Rectangle 1046">
              <a:extLst>
                <a:ext uri="{FF2B5EF4-FFF2-40B4-BE49-F238E27FC236}">
                  <a16:creationId xmlns:a16="http://schemas.microsoft.com/office/drawing/2014/main" id="{10E0E9AB-1C72-16FF-5E0E-78114A11CF3D}"/>
                </a:ext>
              </a:extLst>
            </p:cNvPr>
            <p:cNvSpPr>
              <a:spLocks/>
            </p:cNvSpPr>
            <p:nvPr/>
          </p:nvSpPr>
          <p:spPr bwMode="auto">
            <a:xfrm>
              <a:off x="3896016" y="1280097"/>
              <a:ext cx="4540028" cy="2417084"/>
            </a:xfrm>
            <a:prstGeom prst="roundRect">
              <a:avLst>
                <a:gd name="adj" fmla="val 3201"/>
              </a:avLst>
            </a:prstGeom>
            <a:solidFill>
              <a:schemeClr val="bg1"/>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1061" name="TextBox 1060">
              <a:extLst>
                <a:ext uri="{FF2B5EF4-FFF2-40B4-BE49-F238E27FC236}">
                  <a16:creationId xmlns:a16="http://schemas.microsoft.com/office/drawing/2014/main" id="{450D193C-145F-7477-D054-08ABE74EDC4D}"/>
                </a:ext>
              </a:extLst>
            </p:cNvPr>
            <p:cNvSpPr txBox="1"/>
            <p:nvPr/>
          </p:nvSpPr>
          <p:spPr>
            <a:xfrm>
              <a:off x="8108704" y="1213957"/>
              <a:ext cx="252000" cy="123111"/>
            </a:xfrm>
            <a:prstGeom prst="rect">
              <a:avLst/>
            </a:prstGeom>
            <a:solidFill>
              <a:schemeClr val="bg1"/>
            </a:solidFill>
          </p:spPr>
          <p:txBody>
            <a:bodyPr wrap="square" lIns="0" tIns="0" rIns="0" bIns="0" rtlCol="0">
              <a:spAutoFit/>
            </a:bodyPr>
            <a:lstStyle/>
            <a:p>
              <a:pPr algn="ctr"/>
              <a:r>
                <a:rPr lang="en-US" sz="800" err="1">
                  <a:latin typeface="72 Brand" panose="020B0504030603020204" pitchFamily="34" charset="0"/>
                </a:rPr>
                <a:t>BOn</a:t>
              </a:r>
              <a:endParaRPr lang="en-US" sz="800">
                <a:latin typeface="72 Brand" panose="020B0504030603020204" pitchFamily="34" charset="0"/>
              </a:endParaRPr>
            </a:p>
          </p:txBody>
        </p:sp>
      </p:grpSp>
      <p:grpSp>
        <p:nvGrpSpPr>
          <p:cNvPr id="1092" name="Group 1091">
            <a:extLst>
              <a:ext uri="{FF2B5EF4-FFF2-40B4-BE49-F238E27FC236}">
                <a16:creationId xmlns:a16="http://schemas.microsoft.com/office/drawing/2014/main" id="{31CDD007-1678-5234-929D-AABB89D052BA}"/>
              </a:ext>
            </a:extLst>
          </p:cNvPr>
          <p:cNvGrpSpPr/>
          <p:nvPr/>
        </p:nvGrpSpPr>
        <p:grpSpPr>
          <a:xfrm>
            <a:off x="3805307" y="1888792"/>
            <a:ext cx="4540028" cy="2470788"/>
            <a:chOff x="3805307" y="1311812"/>
            <a:chExt cx="4540028" cy="2470788"/>
          </a:xfrm>
        </p:grpSpPr>
        <p:sp>
          <p:nvSpPr>
            <p:cNvPr id="9" name="Rounded Rectangle 8">
              <a:extLst>
                <a:ext uri="{FF2B5EF4-FFF2-40B4-BE49-F238E27FC236}">
                  <a16:creationId xmlns:a16="http://schemas.microsoft.com/office/drawing/2014/main" id="{01D2BA30-7FA6-99E3-B6A5-CB66DAF1E593}"/>
                </a:ext>
              </a:extLst>
            </p:cNvPr>
            <p:cNvSpPr>
              <a:spLocks/>
            </p:cNvSpPr>
            <p:nvPr/>
          </p:nvSpPr>
          <p:spPr bwMode="auto">
            <a:xfrm>
              <a:off x="3805307" y="1365516"/>
              <a:ext cx="4540028" cy="2417084"/>
            </a:xfrm>
            <a:prstGeom prst="roundRect">
              <a:avLst>
                <a:gd name="adj" fmla="val 3201"/>
              </a:avLst>
            </a:prstGeom>
            <a:solidFill>
              <a:schemeClr val="bg1"/>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1060" name="TextBox 1059">
              <a:extLst>
                <a:ext uri="{FF2B5EF4-FFF2-40B4-BE49-F238E27FC236}">
                  <a16:creationId xmlns:a16="http://schemas.microsoft.com/office/drawing/2014/main" id="{81090C8A-6116-78F1-7C89-17CA3329B31F}"/>
                </a:ext>
              </a:extLst>
            </p:cNvPr>
            <p:cNvSpPr txBox="1"/>
            <p:nvPr/>
          </p:nvSpPr>
          <p:spPr>
            <a:xfrm>
              <a:off x="7794818" y="1311812"/>
              <a:ext cx="252000" cy="123111"/>
            </a:xfrm>
            <a:prstGeom prst="rect">
              <a:avLst/>
            </a:prstGeom>
            <a:solidFill>
              <a:schemeClr val="bg1"/>
            </a:solidFill>
          </p:spPr>
          <p:txBody>
            <a:bodyPr wrap="square" lIns="0" tIns="0" rIns="0" bIns="0" rtlCol="0">
              <a:spAutoFit/>
            </a:bodyPr>
            <a:lstStyle/>
            <a:p>
              <a:pPr algn="ctr"/>
              <a:r>
                <a:rPr lang="en-US" sz="800">
                  <a:latin typeface="72 Brand" panose="020B0504030603020204" pitchFamily="34" charset="0"/>
                </a:rPr>
                <a:t>BO2</a:t>
              </a:r>
            </a:p>
          </p:txBody>
        </p:sp>
      </p:grpSp>
      <p:cxnSp>
        <p:nvCxnSpPr>
          <p:cNvPr id="1086" name="Straight Arrow Connector 1085">
            <a:extLst>
              <a:ext uri="{FF2B5EF4-FFF2-40B4-BE49-F238E27FC236}">
                <a16:creationId xmlns:a16="http://schemas.microsoft.com/office/drawing/2014/main" id="{5D58EFCC-F0A6-547C-10C0-5956CC8BB8F5}"/>
              </a:ext>
            </a:extLst>
          </p:cNvPr>
          <p:cNvCxnSpPr>
            <a:cxnSpLocks/>
          </p:cNvCxnSpPr>
          <p:nvPr/>
        </p:nvCxnSpPr>
        <p:spPr>
          <a:xfrm>
            <a:off x="8600283" y="5256492"/>
            <a:ext cx="540000"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nvGrpSpPr>
          <p:cNvPr id="1087" name="Group 1086">
            <a:extLst>
              <a:ext uri="{FF2B5EF4-FFF2-40B4-BE49-F238E27FC236}">
                <a16:creationId xmlns:a16="http://schemas.microsoft.com/office/drawing/2014/main" id="{A8EC226D-4FA3-274C-224B-FE19E37ECBD2}"/>
              </a:ext>
            </a:extLst>
          </p:cNvPr>
          <p:cNvGrpSpPr/>
          <p:nvPr/>
        </p:nvGrpSpPr>
        <p:grpSpPr>
          <a:xfrm>
            <a:off x="9146780" y="4861105"/>
            <a:ext cx="1270355" cy="790774"/>
            <a:chOff x="9011822" y="1459257"/>
            <a:chExt cx="1270355" cy="790774"/>
          </a:xfrm>
        </p:grpSpPr>
        <p:sp>
          <p:nvSpPr>
            <p:cNvPr id="1088" name="Rounded Rectangle 1087">
              <a:extLst>
                <a:ext uri="{FF2B5EF4-FFF2-40B4-BE49-F238E27FC236}">
                  <a16:creationId xmlns:a16="http://schemas.microsoft.com/office/drawing/2014/main" id="{C6D111AC-C0DA-08AB-E6CD-B2E07831C0A1}"/>
                </a:ext>
              </a:extLst>
            </p:cNvPr>
            <p:cNvSpPr>
              <a:spLocks/>
            </p:cNvSpPr>
            <p:nvPr/>
          </p:nvSpPr>
          <p:spPr bwMode="auto">
            <a:xfrm>
              <a:off x="9011822" y="1459257"/>
              <a:ext cx="1270355" cy="790774"/>
            </a:xfrm>
            <a:prstGeom prst="roundRect">
              <a:avLst>
                <a:gd name="adj" fmla="val 3201"/>
              </a:avLst>
            </a:prstGeom>
            <a:solidFill>
              <a:srgbClr val="E2D8FF"/>
            </a:solidFill>
            <a:ln w="9525" cap="flat" cmpd="sng" algn="ctr">
              <a:solidFill>
                <a:srgbClr val="7030A0"/>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ctr" anchorCtr="0" forceAA="0" compatLnSpc="1">
              <a:prstTxWarp prst="textNoShape">
                <a:avLst/>
              </a:prstTxWarp>
              <a:noAutofit/>
            </a:bodyPr>
            <a:lstStyle/>
            <a:p>
              <a:pPr marL="0" marR="0" lvl="0" indent="0" algn="r" defTabSz="932192" rtl="0" eaLnBrk="1" fontAlgn="base" latinLnBrk="0" hangingPunct="1">
                <a:lnSpc>
                  <a:spcPct val="90000"/>
                </a:lnSpc>
                <a:spcBef>
                  <a:spcPct val="0"/>
                </a:spcBef>
                <a:spcAft>
                  <a:spcPts val="600"/>
                </a:spcAft>
                <a:buClr>
                  <a:srgbClr val="0070F2"/>
                </a:buClr>
                <a:buSzTx/>
                <a:buFontTx/>
                <a:buNone/>
                <a:tabLst/>
                <a:defRPr/>
              </a:pPr>
              <a:r>
                <a:rPr kumimoji="0" lang="en-GB" sz="1050" b="0" i="0" u="none" strike="noStrike" kern="0" cap="none" spc="0" normalizeH="0" baseline="0" noProof="0">
                  <a:ln>
                    <a:noFill/>
                  </a:ln>
                  <a:solidFill>
                    <a:srgbClr val="7030A0"/>
                  </a:solidFill>
                  <a:effectLst/>
                  <a:uLnTx/>
                  <a:uFillTx/>
                  <a:latin typeface="72 Brand Medium" panose="020B0504030603020204" pitchFamily="34" charset="0"/>
                  <a:ea typeface="Arial Unicode MS" pitchFamily="34" charset="-128"/>
                  <a:cs typeface="72 Black" panose="020B0503030000000003" pitchFamily="34" charset="0"/>
                </a:rPr>
                <a:t>SAP Build Work zone</a:t>
              </a:r>
            </a:p>
          </p:txBody>
        </p:sp>
        <p:pic>
          <p:nvPicPr>
            <p:cNvPr id="1089" name="Picture 4">
              <a:extLst>
                <a:ext uri="{FF2B5EF4-FFF2-40B4-BE49-F238E27FC236}">
                  <a16:creationId xmlns:a16="http://schemas.microsoft.com/office/drawing/2014/main" id="{294C23F8-6AF0-5B25-CEAF-ADEBDE8EB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6567" y="1712720"/>
              <a:ext cx="322396" cy="3223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1" name="Group 1090">
            <a:extLst>
              <a:ext uri="{FF2B5EF4-FFF2-40B4-BE49-F238E27FC236}">
                <a16:creationId xmlns:a16="http://schemas.microsoft.com/office/drawing/2014/main" id="{3A955910-BC6D-CAEB-0746-23B83C34A142}"/>
              </a:ext>
            </a:extLst>
          </p:cNvPr>
          <p:cNvGrpSpPr/>
          <p:nvPr/>
        </p:nvGrpSpPr>
        <p:grpSpPr>
          <a:xfrm>
            <a:off x="3707900" y="1985424"/>
            <a:ext cx="4540028" cy="2473979"/>
            <a:chOff x="3707900" y="1408444"/>
            <a:chExt cx="4540028" cy="2473979"/>
          </a:xfrm>
        </p:grpSpPr>
        <p:sp>
          <p:nvSpPr>
            <p:cNvPr id="1048" name="Rounded Rectangle 1047">
              <a:extLst>
                <a:ext uri="{FF2B5EF4-FFF2-40B4-BE49-F238E27FC236}">
                  <a16:creationId xmlns:a16="http://schemas.microsoft.com/office/drawing/2014/main" id="{AA13A1B0-76D7-7426-C42E-47FE07F7A928}"/>
                </a:ext>
              </a:extLst>
            </p:cNvPr>
            <p:cNvSpPr>
              <a:spLocks/>
            </p:cNvSpPr>
            <p:nvPr/>
          </p:nvSpPr>
          <p:spPr bwMode="auto">
            <a:xfrm>
              <a:off x="3707900" y="1465339"/>
              <a:ext cx="4540028" cy="2417084"/>
            </a:xfrm>
            <a:prstGeom prst="roundRect">
              <a:avLst>
                <a:gd name="adj" fmla="val 3201"/>
              </a:avLst>
            </a:prstGeom>
            <a:solidFill>
              <a:schemeClr val="bg1"/>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0" rIns="180000" bIns="0" numCol="1" spcCol="0" rtlCol="0" fromWordArt="0" anchor="t" anchorCtr="0" forceAA="0" compatLnSpc="1">
              <a:prstTxWarp prst="textNoShape">
                <a:avLst/>
              </a:prstTxWarp>
              <a:noAutofit/>
            </a:bodyPr>
            <a:lstStyle/>
            <a:p>
              <a:pPr marL="0" marR="0" lvl="0" indent="0" algn="r"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sp>
          <p:nvSpPr>
            <p:cNvPr id="1058" name="Rounded Rectangle 1057">
              <a:extLst>
                <a:ext uri="{FF2B5EF4-FFF2-40B4-BE49-F238E27FC236}">
                  <a16:creationId xmlns:a16="http://schemas.microsoft.com/office/drawing/2014/main" id="{1CB9B7ED-DD27-C4B6-C4CF-F91742845DBA}"/>
                </a:ext>
              </a:extLst>
            </p:cNvPr>
            <p:cNvSpPr/>
            <p:nvPr/>
          </p:nvSpPr>
          <p:spPr>
            <a:xfrm>
              <a:off x="3970926" y="1569433"/>
              <a:ext cx="4073236" cy="1083556"/>
            </a:xfrm>
            <a:prstGeom prst="roundRect">
              <a:avLst>
                <a:gd name="adj" fmla="val 235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CA4BDF34-9B8F-32CA-6BF5-929900C018A9}"/>
                </a:ext>
              </a:extLst>
            </p:cNvPr>
            <p:cNvGrpSpPr/>
            <p:nvPr/>
          </p:nvGrpSpPr>
          <p:grpSpPr>
            <a:xfrm>
              <a:off x="4151267" y="1674087"/>
              <a:ext cx="887274" cy="854965"/>
              <a:chOff x="3998136" y="1551996"/>
              <a:chExt cx="887274" cy="854965"/>
            </a:xfrm>
            <a:solidFill>
              <a:schemeClr val="accent6">
                <a:lumMod val="20000"/>
                <a:lumOff val="80000"/>
              </a:schemeClr>
            </a:solidFill>
          </p:grpSpPr>
          <p:sp>
            <p:nvSpPr>
              <p:cNvPr id="12" name="Rounded Rectangle 11">
                <a:extLst>
                  <a:ext uri="{FF2B5EF4-FFF2-40B4-BE49-F238E27FC236}">
                    <a16:creationId xmlns:a16="http://schemas.microsoft.com/office/drawing/2014/main" id="{F7D55F13-8849-7559-1670-095C43CA6901}"/>
                  </a:ext>
                </a:extLst>
              </p:cNvPr>
              <p:cNvSpPr>
                <a:spLocks/>
              </p:cNvSpPr>
              <p:nvPr/>
            </p:nvSpPr>
            <p:spPr bwMode="auto">
              <a:xfrm>
                <a:off x="3998136" y="1551996"/>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9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Domain</a:t>
                </a:r>
              </a:p>
            </p:txBody>
          </p:sp>
          <p:pic>
            <p:nvPicPr>
              <p:cNvPr id="50" name="Picture 49">
                <a:extLst>
                  <a:ext uri="{FF2B5EF4-FFF2-40B4-BE49-F238E27FC236}">
                    <a16:creationId xmlns:a16="http://schemas.microsoft.com/office/drawing/2014/main" id="{A804C719-343C-EA7F-9656-9ECCF7D9F76D}"/>
                  </a:ext>
                </a:extLst>
              </p:cNvPr>
              <p:cNvPicPr>
                <a:picLocks noChangeAspect="1"/>
              </p:cNvPicPr>
              <p:nvPr/>
            </p:nvPicPr>
            <p:blipFill>
              <a:blip r:embed="rId4"/>
              <a:stretch>
                <a:fillRect/>
              </a:stretch>
            </p:blipFill>
            <p:spPr>
              <a:xfrm>
                <a:off x="4307496" y="1931710"/>
                <a:ext cx="214817" cy="240719"/>
              </a:xfrm>
              <a:prstGeom prst="rect">
                <a:avLst/>
              </a:prstGeom>
              <a:grpFill/>
              <a:ln>
                <a:solidFill>
                  <a:schemeClr val="accent6">
                    <a:lumMod val="75000"/>
                  </a:schemeClr>
                </a:solidFill>
              </a:ln>
            </p:spPr>
          </p:pic>
        </p:grpSp>
        <p:grpSp>
          <p:nvGrpSpPr>
            <p:cNvPr id="61" name="Group 60">
              <a:extLst>
                <a:ext uri="{FF2B5EF4-FFF2-40B4-BE49-F238E27FC236}">
                  <a16:creationId xmlns:a16="http://schemas.microsoft.com/office/drawing/2014/main" id="{D26CC7AA-BAF7-C250-4284-999422148AFB}"/>
                </a:ext>
              </a:extLst>
            </p:cNvPr>
            <p:cNvGrpSpPr/>
            <p:nvPr/>
          </p:nvGrpSpPr>
          <p:grpSpPr>
            <a:xfrm>
              <a:off x="5550109" y="1674086"/>
              <a:ext cx="887274" cy="854965"/>
              <a:chOff x="5678330" y="1551995"/>
              <a:chExt cx="887274" cy="854965"/>
            </a:xfrm>
            <a:solidFill>
              <a:schemeClr val="accent6">
                <a:lumMod val="20000"/>
                <a:lumOff val="80000"/>
              </a:schemeClr>
            </a:solidFill>
          </p:grpSpPr>
          <p:sp>
            <p:nvSpPr>
              <p:cNvPr id="22" name="Rounded Rectangle 21">
                <a:extLst>
                  <a:ext uri="{FF2B5EF4-FFF2-40B4-BE49-F238E27FC236}">
                    <a16:creationId xmlns:a16="http://schemas.microsoft.com/office/drawing/2014/main" id="{1E3F6C70-1DC6-5419-2A42-800015FFA13E}"/>
                  </a:ext>
                </a:extLst>
              </p:cNvPr>
              <p:cNvSpPr>
                <a:spLocks/>
              </p:cNvSpPr>
              <p:nvPr/>
            </p:nvSpPr>
            <p:spPr bwMode="auto">
              <a:xfrm>
                <a:off x="5678330" y="1551995"/>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9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Service</a:t>
                </a:r>
              </a:p>
            </p:txBody>
          </p:sp>
          <p:pic>
            <p:nvPicPr>
              <p:cNvPr id="52" name="Picture 51">
                <a:extLst>
                  <a:ext uri="{FF2B5EF4-FFF2-40B4-BE49-F238E27FC236}">
                    <a16:creationId xmlns:a16="http://schemas.microsoft.com/office/drawing/2014/main" id="{EB33540D-07AE-DB8A-B87D-1758E56613AC}"/>
                  </a:ext>
                </a:extLst>
              </p:cNvPr>
              <p:cNvPicPr>
                <a:picLocks noChangeAspect="1"/>
              </p:cNvPicPr>
              <p:nvPr/>
            </p:nvPicPr>
            <p:blipFill>
              <a:blip r:embed="rId5"/>
              <a:stretch>
                <a:fillRect/>
              </a:stretch>
            </p:blipFill>
            <p:spPr>
              <a:xfrm>
                <a:off x="5970265" y="1930387"/>
                <a:ext cx="242042" cy="242042"/>
              </a:xfrm>
              <a:prstGeom prst="rect">
                <a:avLst/>
              </a:prstGeom>
              <a:grpFill/>
              <a:ln>
                <a:solidFill>
                  <a:schemeClr val="accent6">
                    <a:lumMod val="75000"/>
                  </a:schemeClr>
                </a:solidFill>
              </a:ln>
            </p:spPr>
          </p:pic>
        </p:grpSp>
        <p:grpSp>
          <p:nvGrpSpPr>
            <p:cNvPr id="60" name="Group 59">
              <a:extLst>
                <a:ext uri="{FF2B5EF4-FFF2-40B4-BE49-F238E27FC236}">
                  <a16:creationId xmlns:a16="http://schemas.microsoft.com/office/drawing/2014/main" id="{56E82048-5D49-BAE0-59F6-74428482C9C6}"/>
                </a:ext>
              </a:extLst>
            </p:cNvPr>
            <p:cNvGrpSpPr/>
            <p:nvPr/>
          </p:nvGrpSpPr>
          <p:grpSpPr>
            <a:xfrm>
              <a:off x="6980927" y="1680480"/>
              <a:ext cx="887274" cy="854965"/>
              <a:chOff x="7358524" y="1551995"/>
              <a:chExt cx="887274" cy="854965"/>
            </a:xfrm>
            <a:solidFill>
              <a:schemeClr val="accent6">
                <a:lumMod val="20000"/>
                <a:lumOff val="80000"/>
              </a:schemeClr>
            </a:solidFill>
          </p:grpSpPr>
          <p:sp>
            <p:nvSpPr>
              <p:cNvPr id="23" name="Rounded Rectangle 22">
                <a:extLst>
                  <a:ext uri="{FF2B5EF4-FFF2-40B4-BE49-F238E27FC236}">
                    <a16:creationId xmlns:a16="http://schemas.microsoft.com/office/drawing/2014/main" id="{FFD5DF31-92DD-FDBC-3960-2E8CBE01AF3E}"/>
                  </a:ext>
                </a:extLst>
              </p:cNvPr>
              <p:cNvSpPr>
                <a:spLocks/>
              </p:cNvSpPr>
              <p:nvPr/>
            </p:nvSpPr>
            <p:spPr bwMode="auto">
              <a:xfrm>
                <a:off x="7358524" y="1551995"/>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9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UI App</a:t>
                </a:r>
              </a:p>
            </p:txBody>
          </p:sp>
          <p:pic>
            <p:nvPicPr>
              <p:cNvPr id="54" name="Picture 53">
                <a:extLst>
                  <a:ext uri="{FF2B5EF4-FFF2-40B4-BE49-F238E27FC236}">
                    <a16:creationId xmlns:a16="http://schemas.microsoft.com/office/drawing/2014/main" id="{EA7E2B97-460A-66C9-71ED-3648525601B1}"/>
                  </a:ext>
                </a:extLst>
              </p:cNvPr>
              <p:cNvPicPr>
                <a:picLocks noChangeAspect="1"/>
              </p:cNvPicPr>
              <p:nvPr/>
            </p:nvPicPr>
            <p:blipFill>
              <a:blip r:embed="rId6"/>
              <a:stretch>
                <a:fillRect/>
              </a:stretch>
            </p:blipFill>
            <p:spPr>
              <a:xfrm>
                <a:off x="7662142" y="1865583"/>
                <a:ext cx="306846" cy="306846"/>
              </a:xfrm>
              <a:prstGeom prst="rect">
                <a:avLst/>
              </a:prstGeom>
              <a:grpFill/>
              <a:ln>
                <a:solidFill>
                  <a:schemeClr val="accent6">
                    <a:lumMod val="75000"/>
                  </a:schemeClr>
                </a:solidFill>
              </a:ln>
            </p:spPr>
          </p:pic>
        </p:grpSp>
        <p:sp>
          <p:nvSpPr>
            <p:cNvPr id="55" name="Plus 54">
              <a:extLst>
                <a:ext uri="{FF2B5EF4-FFF2-40B4-BE49-F238E27FC236}">
                  <a16:creationId xmlns:a16="http://schemas.microsoft.com/office/drawing/2014/main" id="{05215384-6719-B5EB-F6AF-4AF29BC51881}"/>
                </a:ext>
              </a:extLst>
            </p:cNvPr>
            <p:cNvSpPr>
              <a:spLocks noChangeAspect="1"/>
            </p:cNvSpPr>
            <p:nvPr/>
          </p:nvSpPr>
          <p:spPr>
            <a:xfrm>
              <a:off x="5135327" y="1972642"/>
              <a:ext cx="324073" cy="270000"/>
            </a:xfrm>
            <a:prstGeom prst="mathPlus">
              <a:avLst/>
            </a:prstGeom>
            <a:solidFill>
              <a:schemeClr val="accent6">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lus 55">
              <a:extLst>
                <a:ext uri="{FF2B5EF4-FFF2-40B4-BE49-F238E27FC236}">
                  <a16:creationId xmlns:a16="http://schemas.microsoft.com/office/drawing/2014/main" id="{695E2F77-492B-63E9-209C-2CEADDD8D10A}"/>
                </a:ext>
              </a:extLst>
            </p:cNvPr>
            <p:cNvSpPr>
              <a:spLocks noChangeAspect="1"/>
            </p:cNvSpPr>
            <p:nvPr/>
          </p:nvSpPr>
          <p:spPr>
            <a:xfrm>
              <a:off x="6556279" y="1966121"/>
              <a:ext cx="324073" cy="270000"/>
            </a:xfrm>
            <a:prstGeom prst="mathPlus">
              <a:avLst/>
            </a:prstGeom>
            <a:solidFill>
              <a:schemeClr val="accent6">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E66B4F85-1CC7-3BEF-90C5-04763CB4BE52}"/>
                </a:ext>
              </a:extLst>
            </p:cNvPr>
            <p:cNvGrpSpPr/>
            <p:nvPr/>
          </p:nvGrpSpPr>
          <p:grpSpPr>
            <a:xfrm>
              <a:off x="6224021" y="3258389"/>
              <a:ext cx="1644180" cy="404180"/>
              <a:chOff x="5273910" y="3146658"/>
              <a:chExt cx="1644180" cy="404180"/>
            </a:xfrm>
          </p:grpSpPr>
          <p:sp>
            <p:nvSpPr>
              <p:cNvPr id="15" name="Rounded Rectangle 14">
                <a:extLst>
                  <a:ext uri="{FF2B5EF4-FFF2-40B4-BE49-F238E27FC236}">
                    <a16:creationId xmlns:a16="http://schemas.microsoft.com/office/drawing/2014/main" id="{4C77EC98-2D22-97EE-9D1D-9F9C25C1D351}"/>
                  </a:ext>
                </a:extLst>
              </p:cNvPr>
              <p:cNvSpPr>
                <a:spLocks/>
              </p:cNvSpPr>
              <p:nvPr/>
            </p:nvSpPr>
            <p:spPr bwMode="auto">
              <a:xfrm>
                <a:off x="5273910" y="3146658"/>
                <a:ext cx="1644180" cy="404180"/>
              </a:xfrm>
              <a:prstGeom prst="roundRect">
                <a:avLst>
                  <a:gd name="adj" fmla="val 3201"/>
                </a:avLst>
              </a:prstGeom>
              <a:solidFill>
                <a:srgbClr val="D2EFFF">
                  <a:alpha val="50000"/>
                </a:srgbClr>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endParaRPr kumimoji="0" lang="en-GB" sz="12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pic>
            <p:nvPicPr>
              <p:cNvPr id="1026" name="Picture 2">
                <a:extLst>
                  <a:ext uri="{FF2B5EF4-FFF2-40B4-BE49-F238E27FC236}">
                    <a16:creationId xmlns:a16="http://schemas.microsoft.com/office/drawing/2014/main" id="{54799CBD-A877-05EB-42DB-283ADB7BC6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1681" y="3230202"/>
                <a:ext cx="714319" cy="14944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45" name="Straight Arrow Connector 1044">
              <a:extLst>
                <a:ext uri="{FF2B5EF4-FFF2-40B4-BE49-F238E27FC236}">
                  <a16:creationId xmlns:a16="http://schemas.microsoft.com/office/drawing/2014/main" id="{AFC86098-DD8C-DD7E-D065-5302CBB69495}"/>
                </a:ext>
              </a:extLst>
            </p:cNvPr>
            <p:cNvCxnSpPr>
              <a:cxnSpLocks/>
              <a:stCxn id="22" idx="2"/>
              <a:endCxn id="15" idx="0"/>
            </p:cNvCxnSpPr>
            <p:nvPr/>
          </p:nvCxnSpPr>
          <p:spPr>
            <a:xfrm rot="16200000" flipH="1">
              <a:off x="6155259" y="2367537"/>
              <a:ext cx="729338" cy="1052365"/>
            </a:xfrm>
            <a:prstGeom prst="bentConnector3">
              <a:avLst>
                <a:gd name="adj1" fmla="val 50000"/>
              </a:avLst>
            </a:prstGeom>
            <a:ln w="6350">
              <a:tailEnd type="triangle"/>
            </a:ln>
          </p:spPr>
          <p:style>
            <a:lnRef idx="2">
              <a:schemeClr val="dk1"/>
            </a:lnRef>
            <a:fillRef idx="0">
              <a:schemeClr val="dk1"/>
            </a:fillRef>
            <a:effectRef idx="1">
              <a:schemeClr val="dk1"/>
            </a:effectRef>
            <a:fontRef idx="minor">
              <a:schemeClr val="tx1"/>
            </a:fontRef>
          </p:style>
        </p:cxnSp>
        <p:sp>
          <p:nvSpPr>
            <p:cNvPr id="1059" name="TextBox 1058">
              <a:extLst>
                <a:ext uri="{FF2B5EF4-FFF2-40B4-BE49-F238E27FC236}">
                  <a16:creationId xmlns:a16="http://schemas.microsoft.com/office/drawing/2014/main" id="{409A7479-5CE5-ECE6-49DA-4B7CA5A3F407}"/>
                </a:ext>
              </a:extLst>
            </p:cNvPr>
            <p:cNvSpPr txBox="1"/>
            <p:nvPr/>
          </p:nvSpPr>
          <p:spPr>
            <a:xfrm>
              <a:off x="7472477" y="1408444"/>
              <a:ext cx="252000" cy="123111"/>
            </a:xfrm>
            <a:prstGeom prst="rect">
              <a:avLst/>
            </a:prstGeom>
            <a:solidFill>
              <a:schemeClr val="bg1"/>
            </a:solidFill>
          </p:spPr>
          <p:txBody>
            <a:bodyPr wrap="square" lIns="0" tIns="0" rIns="0" bIns="0" rtlCol="0">
              <a:spAutoFit/>
            </a:bodyPr>
            <a:lstStyle/>
            <a:p>
              <a:pPr algn="ctr"/>
              <a:r>
                <a:rPr lang="en-US" sz="800">
                  <a:latin typeface="72 Brand" panose="020B0504030603020204" pitchFamily="34" charset="0"/>
                </a:rPr>
                <a:t>BO1</a:t>
              </a:r>
            </a:p>
          </p:txBody>
        </p:sp>
        <p:sp>
          <p:nvSpPr>
            <p:cNvPr id="1062" name="Rounded Rectangle 1061">
              <a:extLst>
                <a:ext uri="{FF2B5EF4-FFF2-40B4-BE49-F238E27FC236}">
                  <a16:creationId xmlns:a16="http://schemas.microsoft.com/office/drawing/2014/main" id="{5A386126-9272-3EB1-FFCE-EBAA0480FD43}"/>
                </a:ext>
              </a:extLst>
            </p:cNvPr>
            <p:cNvSpPr>
              <a:spLocks/>
            </p:cNvSpPr>
            <p:nvPr/>
          </p:nvSpPr>
          <p:spPr bwMode="auto">
            <a:xfrm>
              <a:off x="3970926" y="3258388"/>
              <a:ext cx="1684778" cy="404180"/>
            </a:xfrm>
            <a:prstGeom prst="roundRect">
              <a:avLst>
                <a:gd name="adj" fmla="val 3201"/>
              </a:avLst>
            </a:prstGeom>
            <a:solidFill>
              <a:srgbClr val="D2EFFF">
                <a:alpha val="50000"/>
              </a:srgbClr>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GB" sz="1200" kern="0">
                  <a:solidFill>
                    <a:srgbClr val="000000"/>
                  </a:solidFill>
                  <a:latin typeface="72 Brand Medium" panose="020B0504030603020204" pitchFamily="34" charset="0"/>
                  <a:ea typeface="Arial Unicode MS" pitchFamily="34" charset="-128"/>
                  <a:cs typeface="72 Black" panose="020B0503030000000003" pitchFamily="34" charset="0"/>
                </a:rPr>
                <a:t>       </a:t>
              </a:r>
              <a:endParaRPr kumimoji="0" lang="en-GB" sz="12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cxnSp>
          <p:nvCxnSpPr>
            <p:cNvPr id="1063" name="Straight Arrow Connector 1044">
              <a:extLst>
                <a:ext uri="{FF2B5EF4-FFF2-40B4-BE49-F238E27FC236}">
                  <a16:creationId xmlns:a16="http://schemas.microsoft.com/office/drawing/2014/main" id="{BCBECEFB-1ED2-8B2C-A95A-DD7986EF3CCF}"/>
                </a:ext>
              </a:extLst>
            </p:cNvPr>
            <p:cNvCxnSpPr>
              <a:cxnSpLocks/>
              <a:stCxn id="22" idx="2"/>
              <a:endCxn id="1062" idx="0"/>
            </p:cNvCxnSpPr>
            <p:nvPr/>
          </p:nvCxnSpPr>
          <p:spPr>
            <a:xfrm rot="5400000">
              <a:off x="5038863" y="2303504"/>
              <a:ext cx="729337" cy="1180431"/>
            </a:xfrm>
            <a:prstGeom prst="bentConnector3">
              <a:avLst>
                <a:gd name="adj1" fmla="val 50000"/>
              </a:avLst>
            </a:prstGeom>
            <a:ln w="6350">
              <a:tailEnd type="triangle"/>
            </a:ln>
          </p:spPr>
          <p:style>
            <a:lnRef idx="2">
              <a:schemeClr val="dk1"/>
            </a:lnRef>
            <a:fillRef idx="0">
              <a:schemeClr val="dk1"/>
            </a:fillRef>
            <a:effectRef idx="1">
              <a:schemeClr val="dk1"/>
            </a:effectRef>
            <a:fontRef idx="minor">
              <a:schemeClr val="tx1"/>
            </a:fontRef>
          </p:style>
        </p:cxnSp>
        <p:pic>
          <p:nvPicPr>
            <p:cNvPr id="1067" name="Picture 6">
              <a:extLst>
                <a:ext uri="{FF2B5EF4-FFF2-40B4-BE49-F238E27FC236}">
                  <a16:creationId xmlns:a16="http://schemas.microsoft.com/office/drawing/2014/main" id="{655DEF9B-50FF-E2E0-1195-1AF12EADF7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2307" y="3285724"/>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8">
              <a:extLst>
                <a:ext uri="{FF2B5EF4-FFF2-40B4-BE49-F238E27FC236}">
                  <a16:creationId xmlns:a16="http://schemas.microsoft.com/office/drawing/2014/main" id="{BA62A9B1-0A99-7D7E-CE32-7F3AD4B64E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9737" y="3285310"/>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69" name="Picture 10">
              <a:extLst>
                <a:ext uri="{FF2B5EF4-FFF2-40B4-BE49-F238E27FC236}">
                  <a16:creationId xmlns:a16="http://schemas.microsoft.com/office/drawing/2014/main" id="{EF31223D-C0CB-299F-4CE0-C2A57923C53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4935" y="3285310"/>
              <a:ext cx="360000" cy="360000"/>
            </a:xfrm>
            <a:prstGeom prst="rect">
              <a:avLst/>
            </a:prstGeom>
            <a:noFill/>
            <a:extLst>
              <a:ext uri="{909E8E84-426E-40DD-AFC4-6F175D3DCCD1}">
                <a14:hiddenFill xmlns:a14="http://schemas.microsoft.com/office/drawing/2010/main">
                  <a:solidFill>
                    <a:srgbClr val="FFFFFF"/>
                  </a:solidFill>
                </a14:hiddenFill>
              </a:ext>
            </a:extLst>
          </p:spPr>
        </p:pic>
        <p:cxnSp>
          <p:nvCxnSpPr>
            <p:cNvPr id="1070" name="Straight Connector 1069">
              <a:extLst>
                <a:ext uri="{FF2B5EF4-FFF2-40B4-BE49-F238E27FC236}">
                  <a16:creationId xmlns:a16="http://schemas.microsoft.com/office/drawing/2014/main" id="{C092FB37-F315-2CDC-14B9-331483086948}"/>
                </a:ext>
              </a:extLst>
            </p:cNvPr>
            <p:cNvCxnSpPr/>
            <p:nvPr/>
          </p:nvCxnSpPr>
          <p:spPr>
            <a:xfrm>
              <a:off x="4781721" y="3460478"/>
              <a:ext cx="360000" cy="0"/>
            </a:xfrm>
            <a:prstGeom prst="line">
              <a:avLst/>
            </a:prstGeom>
            <a:noFill/>
            <a:ln w="9525" cap="flat" cmpd="sng" algn="ctr">
              <a:solidFill>
                <a:srgbClr val="000000"/>
              </a:solidFill>
              <a:prstDash val="sysDash"/>
              <a:headEnd type="none" w="med" len="med"/>
              <a:tailEnd type="none" w="med" len="med"/>
            </a:ln>
            <a:effectLst/>
          </p:spPr>
        </p:cxnSp>
        <p:pic>
          <p:nvPicPr>
            <p:cNvPr id="1074" name="Picture 16">
              <a:extLst>
                <a:ext uri="{FF2B5EF4-FFF2-40B4-BE49-F238E27FC236}">
                  <a16:creationId xmlns:a16="http://schemas.microsoft.com/office/drawing/2014/main" id="{0B25C30F-2AB7-5589-6AAA-DC94602A73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66030" y="3460478"/>
              <a:ext cx="1183514" cy="236703"/>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18">
              <a:extLst>
                <a:ext uri="{FF2B5EF4-FFF2-40B4-BE49-F238E27FC236}">
                  <a16:creationId xmlns:a16="http://schemas.microsoft.com/office/drawing/2014/main" id="{AC9D1B1A-9C65-5D24-D81E-9C985D0759E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3634" y="3219216"/>
              <a:ext cx="780310" cy="278683"/>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20">
              <a:extLst>
                <a:ext uri="{FF2B5EF4-FFF2-40B4-BE49-F238E27FC236}">
                  <a16:creationId xmlns:a16="http://schemas.microsoft.com/office/drawing/2014/main" id="{68C1A355-9B04-9A94-8D28-CCF425D7DC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05164" y="3429206"/>
              <a:ext cx="682220" cy="284259"/>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22">
              <a:extLst>
                <a:ext uri="{FF2B5EF4-FFF2-40B4-BE49-F238E27FC236}">
                  <a16:creationId xmlns:a16="http://schemas.microsoft.com/office/drawing/2014/main" id="{63865E91-BD96-7225-9445-DB67E07696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89539" y="3334978"/>
              <a:ext cx="965876" cy="241469"/>
            </a:xfrm>
            <a:prstGeom prst="rect">
              <a:avLst/>
            </a:prstGeom>
            <a:noFill/>
            <a:extLst>
              <a:ext uri="{909E8E84-426E-40DD-AFC4-6F175D3DCCD1}">
                <a14:hiddenFill xmlns:a14="http://schemas.microsoft.com/office/drawing/2010/main">
                  <a:solidFill>
                    <a:srgbClr val="FFFFFF"/>
                  </a:solidFill>
                </a14:hiddenFill>
              </a:ext>
            </a:extLst>
          </p:spPr>
        </p:pic>
        <p:sp>
          <p:nvSpPr>
            <p:cNvPr id="1090" name="TextBox 1089">
              <a:extLst>
                <a:ext uri="{FF2B5EF4-FFF2-40B4-BE49-F238E27FC236}">
                  <a16:creationId xmlns:a16="http://schemas.microsoft.com/office/drawing/2014/main" id="{B26BC670-1F5E-BA30-4D3A-7BB90540C302}"/>
                </a:ext>
              </a:extLst>
            </p:cNvPr>
            <p:cNvSpPr txBox="1"/>
            <p:nvPr/>
          </p:nvSpPr>
          <p:spPr>
            <a:xfrm>
              <a:off x="5645574" y="2922680"/>
              <a:ext cx="673582" cy="215444"/>
            </a:xfrm>
            <a:prstGeom prst="rect">
              <a:avLst/>
            </a:prstGeom>
            <a:noFill/>
          </p:spPr>
          <p:txBody>
            <a:bodyPr wrap="none" rtlCol="0">
              <a:spAutoFit/>
            </a:bodyPr>
            <a:lstStyle/>
            <a:p>
              <a:r>
                <a:rPr lang="en-US" sz="800">
                  <a:latin typeface="72 Brand" panose="020B0504030603020204" pitchFamily="34" charset="0"/>
                </a:rPr>
                <a:t>Integration</a:t>
              </a:r>
            </a:p>
          </p:txBody>
        </p:sp>
      </p:grpSp>
      <p:sp>
        <p:nvSpPr>
          <p:cNvPr id="1094" name="Rounded Rectangle 1093">
            <a:extLst>
              <a:ext uri="{FF2B5EF4-FFF2-40B4-BE49-F238E27FC236}">
                <a16:creationId xmlns:a16="http://schemas.microsoft.com/office/drawing/2014/main" id="{57554F04-1CD6-ECF1-253A-CD355E1A14F4}"/>
              </a:ext>
            </a:extLst>
          </p:cNvPr>
          <p:cNvSpPr>
            <a:spLocks/>
          </p:cNvSpPr>
          <p:nvPr/>
        </p:nvSpPr>
        <p:spPr bwMode="auto">
          <a:xfrm>
            <a:off x="1130744" y="1725842"/>
            <a:ext cx="9835662" cy="2852750"/>
          </a:xfrm>
          <a:prstGeom prst="roundRect">
            <a:avLst>
              <a:gd name="adj" fmla="val 3201"/>
            </a:avLst>
          </a:prstGeom>
          <a:solidFill>
            <a:srgbClr val="D2EFFF">
              <a:alpha val="50000"/>
            </a:srgbClr>
          </a:solidFill>
          <a:ln w="9525" cap="flat" cmpd="sng" algn="ctr">
            <a:no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pic>
        <p:nvPicPr>
          <p:cNvPr id="2" name="Picture Placeholder 11">
            <a:extLst>
              <a:ext uri="{FF2B5EF4-FFF2-40B4-BE49-F238E27FC236}">
                <a16:creationId xmlns:a16="http://schemas.microsoft.com/office/drawing/2014/main" id="{D3870F5F-8E2D-07B9-AB5E-1590B5DA4AF5}"/>
              </a:ext>
            </a:extLst>
          </p:cNvPr>
          <p:cNvPicPr>
            <a:picLocks noChangeAspect="1"/>
          </p:cNvPicPr>
          <p:nvPr/>
        </p:nvPicPr>
        <p:blipFill rotWithShape="1">
          <a:blip r:embed="rId15"/>
          <a:srcRect l="6995" t="66530" r="23124" b="30001"/>
          <a:stretch/>
        </p:blipFill>
        <p:spPr bwMode="black">
          <a:xfrm>
            <a:off x="600" y="6588907"/>
            <a:ext cx="12192000" cy="269094"/>
          </a:xfrm>
          <a:prstGeom prst="rect">
            <a:avLst/>
          </a:prstGeom>
        </p:spPr>
      </p:pic>
      <p:sp>
        <p:nvSpPr>
          <p:cNvPr id="3" name="Freeform 2">
            <a:extLst>
              <a:ext uri="{FF2B5EF4-FFF2-40B4-BE49-F238E27FC236}">
                <a16:creationId xmlns:a16="http://schemas.microsoft.com/office/drawing/2014/main" id="{CBD8D022-24EE-1C75-6876-44447938D267}"/>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4" name="TextBox 3">
            <a:extLst>
              <a:ext uri="{FF2B5EF4-FFF2-40B4-BE49-F238E27FC236}">
                <a16:creationId xmlns:a16="http://schemas.microsoft.com/office/drawing/2014/main" id="{ADD503B0-AE79-C8BB-73EB-619B5450A2AC}"/>
              </a:ext>
            </a:extLst>
          </p:cNvPr>
          <p:cNvSpPr txBox="1"/>
          <p:nvPr/>
        </p:nvSpPr>
        <p:spPr>
          <a:xfrm>
            <a:off x="568007" y="633165"/>
            <a:ext cx="1502334"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Solution</a:t>
            </a:r>
          </a:p>
        </p:txBody>
      </p:sp>
    </p:spTree>
    <p:extLst>
      <p:ext uri="{BB962C8B-B14F-4D97-AF65-F5344CB8AC3E}">
        <p14:creationId xmlns:p14="http://schemas.microsoft.com/office/powerpoint/2010/main" val="83037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
                                        </p:tgtEl>
                                        <p:attrNameLst>
                                          <p:attrName>style.visibility</p:attrName>
                                        </p:attrNameLst>
                                      </p:cBhvr>
                                      <p:to>
                                        <p:strVal val="visible"/>
                                      </p:to>
                                    </p:set>
                                    <p:animEffect transition="in" filter="fade">
                                      <p:cBhvr>
                                        <p:cTn id="7" dur="500"/>
                                        <p:tgtEl>
                                          <p:spTgt spid="102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29"/>
                                        </p:tgtEl>
                                        <p:attrNameLst>
                                          <p:attrName>style.visibility</p:attrName>
                                        </p:attrNameLst>
                                      </p:cBhvr>
                                      <p:to>
                                        <p:strVal val="visible"/>
                                      </p:to>
                                    </p:set>
                                    <p:animEffect transition="in" filter="wipe(up)">
                                      <p:cBhvr>
                                        <p:cTn id="11" dur="500"/>
                                        <p:tgtEl>
                                          <p:spTgt spid="102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39"/>
                                        </p:tgtEl>
                                        <p:attrNameLst>
                                          <p:attrName>style.visibility</p:attrName>
                                        </p:attrNameLst>
                                      </p:cBhvr>
                                      <p:to>
                                        <p:strVal val="visible"/>
                                      </p:to>
                                    </p:set>
                                    <p:animEffect transition="in" filter="wipe(left)">
                                      <p:cBhvr>
                                        <p:cTn id="19" dur="500"/>
                                        <p:tgtEl>
                                          <p:spTgt spid="103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091"/>
                                        </p:tgtEl>
                                        <p:attrNameLst>
                                          <p:attrName>style.visibility</p:attrName>
                                        </p:attrNameLst>
                                      </p:cBhvr>
                                      <p:to>
                                        <p:strVal val="visible"/>
                                      </p:to>
                                    </p:set>
                                    <p:animEffect transition="in" filter="fade">
                                      <p:cBhvr>
                                        <p:cTn id="23" dur="500"/>
                                        <p:tgtEl>
                                          <p:spTgt spid="109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041"/>
                                        </p:tgtEl>
                                        <p:attrNameLst>
                                          <p:attrName>style.visibility</p:attrName>
                                        </p:attrNameLst>
                                      </p:cBhvr>
                                      <p:to>
                                        <p:strVal val="visible"/>
                                      </p:to>
                                    </p:set>
                                    <p:animEffect transition="in" filter="wipe(left)">
                                      <p:cBhvr>
                                        <p:cTn id="27" dur="500"/>
                                        <p:tgtEl>
                                          <p:spTgt spid="1041"/>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78"/>
                                        </p:tgtEl>
                                        <p:attrNameLst>
                                          <p:attrName>style.visibility</p:attrName>
                                        </p:attrNameLst>
                                      </p:cBhvr>
                                      <p:to>
                                        <p:strVal val="visible"/>
                                      </p:to>
                                    </p:set>
                                    <p:animEffect transition="in" filter="fade">
                                      <p:cBhvr>
                                        <p:cTn id="31" dur="500"/>
                                        <p:tgtEl>
                                          <p:spTgt spid="1078"/>
                                        </p:tgtEl>
                                      </p:cBhvr>
                                    </p:animEffect>
                                  </p:childTnLst>
                                </p:cTn>
                              </p:par>
                            </p:childTnLst>
                          </p:cTn>
                        </p:par>
                        <p:par>
                          <p:cTn id="32" fill="hold">
                            <p:stCondLst>
                              <p:cond delay="3500"/>
                            </p:stCondLst>
                            <p:childTnLst>
                              <p:par>
                                <p:cTn id="33" presetID="2" presetClass="entr" presetSubtype="1" fill="hold" nodeType="afterEffect">
                                  <p:stCondLst>
                                    <p:cond delay="0"/>
                                  </p:stCondLst>
                                  <p:childTnLst>
                                    <p:set>
                                      <p:cBhvr>
                                        <p:cTn id="34" dur="1" fill="hold">
                                          <p:stCondLst>
                                            <p:cond delay="0"/>
                                          </p:stCondLst>
                                        </p:cTn>
                                        <p:tgtEl>
                                          <p:spTgt spid="1092"/>
                                        </p:tgtEl>
                                        <p:attrNameLst>
                                          <p:attrName>style.visibility</p:attrName>
                                        </p:attrNameLst>
                                      </p:cBhvr>
                                      <p:to>
                                        <p:strVal val="visible"/>
                                      </p:to>
                                    </p:set>
                                    <p:anim calcmode="lin" valueType="num">
                                      <p:cBhvr additive="base">
                                        <p:cTn id="35" dur="500" fill="hold"/>
                                        <p:tgtEl>
                                          <p:spTgt spid="1092"/>
                                        </p:tgtEl>
                                        <p:attrNameLst>
                                          <p:attrName>ppt_x</p:attrName>
                                        </p:attrNameLst>
                                      </p:cBhvr>
                                      <p:tavLst>
                                        <p:tav tm="0">
                                          <p:val>
                                            <p:strVal val="#ppt_x"/>
                                          </p:val>
                                        </p:tav>
                                        <p:tav tm="100000">
                                          <p:val>
                                            <p:strVal val="#ppt_x"/>
                                          </p:val>
                                        </p:tav>
                                      </p:tavLst>
                                    </p:anim>
                                    <p:anim calcmode="lin" valueType="num">
                                      <p:cBhvr additive="base">
                                        <p:cTn id="36" dur="500" fill="hold"/>
                                        <p:tgtEl>
                                          <p:spTgt spid="1092"/>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 presetClass="entr" presetSubtype="1" fill="hold" nodeType="afterEffect">
                                  <p:stCondLst>
                                    <p:cond delay="500"/>
                                  </p:stCondLst>
                                  <p:childTnLst>
                                    <p:set>
                                      <p:cBhvr>
                                        <p:cTn id="39" dur="1" fill="hold">
                                          <p:stCondLst>
                                            <p:cond delay="0"/>
                                          </p:stCondLst>
                                        </p:cTn>
                                        <p:tgtEl>
                                          <p:spTgt spid="1093"/>
                                        </p:tgtEl>
                                        <p:attrNameLst>
                                          <p:attrName>style.visibility</p:attrName>
                                        </p:attrNameLst>
                                      </p:cBhvr>
                                      <p:to>
                                        <p:strVal val="visible"/>
                                      </p:to>
                                    </p:set>
                                    <p:anim calcmode="lin" valueType="num">
                                      <p:cBhvr additive="base">
                                        <p:cTn id="40" dur="500" fill="hold"/>
                                        <p:tgtEl>
                                          <p:spTgt spid="1093"/>
                                        </p:tgtEl>
                                        <p:attrNameLst>
                                          <p:attrName>ppt_x</p:attrName>
                                        </p:attrNameLst>
                                      </p:cBhvr>
                                      <p:tavLst>
                                        <p:tav tm="0">
                                          <p:val>
                                            <p:strVal val="#ppt_x"/>
                                          </p:val>
                                        </p:tav>
                                        <p:tav tm="100000">
                                          <p:val>
                                            <p:strVal val="#ppt_x"/>
                                          </p:val>
                                        </p:tav>
                                      </p:tavLst>
                                    </p:anim>
                                    <p:anim calcmode="lin" valueType="num">
                                      <p:cBhvr additive="base">
                                        <p:cTn id="41" dur="500" fill="hold"/>
                                        <p:tgtEl>
                                          <p:spTgt spid="1093"/>
                                        </p:tgtEl>
                                        <p:attrNameLst>
                                          <p:attrName>ppt_y</p:attrName>
                                        </p:attrNameLst>
                                      </p:cBhvr>
                                      <p:tavLst>
                                        <p:tav tm="0">
                                          <p:val>
                                            <p:strVal val="0-#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049"/>
                                        </p:tgtEl>
                                        <p:attrNameLst>
                                          <p:attrName>style.visibility</p:attrName>
                                        </p:attrNameLst>
                                      </p:cBhvr>
                                      <p:to>
                                        <p:strVal val="visible"/>
                                      </p:to>
                                    </p:set>
                                    <p:animEffect transition="in" filter="wipe(left)">
                                      <p:cBhvr>
                                        <p:cTn id="49" dur="500"/>
                                        <p:tgtEl>
                                          <p:spTgt spid="1049"/>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050"/>
                                        </p:tgtEl>
                                        <p:attrNameLst>
                                          <p:attrName>style.visibility</p:attrName>
                                        </p:attrNameLst>
                                      </p:cBhvr>
                                      <p:to>
                                        <p:strVal val="visible"/>
                                      </p:to>
                                    </p:set>
                                    <p:animEffect transition="in" filter="wipe(left)">
                                      <p:cBhvr>
                                        <p:cTn id="52" dur="500"/>
                                        <p:tgtEl>
                                          <p:spTgt spid="105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9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025"/>
                                        </p:tgtEl>
                                        <p:attrNameLst>
                                          <p:attrName>style.visibility</p:attrName>
                                        </p:attrNameLst>
                                      </p:cBhvr>
                                      <p:to>
                                        <p:strVal val="visible"/>
                                      </p:to>
                                    </p:set>
                                    <p:animEffect transition="in" filter="fade">
                                      <p:cBhvr>
                                        <p:cTn id="61" dur="500"/>
                                        <p:tgtEl>
                                          <p:spTgt spid="1025"/>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1032"/>
                                        </p:tgtEl>
                                        <p:attrNameLst>
                                          <p:attrName>style.visibility</p:attrName>
                                        </p:attrNameLst>
                                      </p:cBhvr>
                                      <p:to>
                                        <p:strVal val="visible"/>
                                      </p:to>
                                    </p:set>
                                    <p:animEffect transition="in" filter="wipe(up)">
                                      <p:cBhvr>
                                        <p:cTn id="65" dur="500"/>
                                        <p:tgtEl>
                                          <p:spTgt spid="1032"/>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500"/>
                                        <p:tgtEl>
                                          <p:spTgt spid="42"/>
                                        </p:tgtEl>
                                      </p:cBhvr>
                                    </p:animEffect>
                                  </p:childTnLst>
                                </p:cTn>
                              </p:par>
                            </p:childTnLst>
                          </p:cTn>
                        </p:par>
                        <p:par>
                          <p:cTn id="70" fill="hold">
                            <p:stCondLst>
                              <p:cond delay="1500"/>
                            </p:stCondLst>
                            <p:childTnLst>
                              <p:par>
                                <p:cTn id="71" presetID="22" presetClass="entr" presetSubtype="8" fill="hold" nodeType="afterEffect">
                                  <p:stCondLst>
                                    <p:cond delay="0"/>
                                  </p:stCondLst>
                                  <p:childTnLst>
                                    <p:set>
                                      <p:cBhvr>
                                        <p:cTn id="72" dur="1" fill="hold">
                                          <p:stCondLst>
                                            <p:cond delay="0"/>
                                          </p:stCondLst>
                                        </p:cTn>
                                        <p:tgtEl>
                                          <p:spTgt spid="1035"/>
                                        </p:tgtEl>
                                        <p:attrNameLst>
                                          <p:attrName>style.visibility</p:attrName>
                                        </p:attrNameLst>
                                      </p:cBhvr>
                                      <p:to>
                                        <p:strVal val="visible"/>
                                      </p:to>
                                    </p:set>
                                    <p:animEffect transition="in" filter="wipe(left)">
                                      <p:cBhvr>
                                        <p:cTn id="73" dur="500"/>
                                        <p:tgtEl>
                                          <p:spTgt spid="1035"/>
                                        </p:tgtEl>
                                      </p:cBhvr>
                                    </p:animEffect>
                                  </p:childTnLst>
                                </p:cTn>
                              </p:par>
                            </p:childTnLst>
                          </p:cTn>
                        </p:par>
                        <p:par>
                          <p:cTn id="74" fill="hold">
                            <p:stCondLst>
                              <p:cond delay="2000"/>
                            </p:stCondLst>
                            <p:childTnLst>
                              <p:par>
                                <p:cTn id="75" presetID="10" presetClass="entr" presetSubtype="0" fill="hold" grpId="0" nodeType="after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childTnLst>
                                </p:cTn>
                              </p:par>
                            </p:childTnLst>
                          </p:cTn>
                        </p:par>
                        <p:par>
                          <p:cTn id="78" fill="hold">
                            <p:stCondLst>
                              <p:cond delay="2500"/>
                            </p:stCondLst>
                            <p:childTnLst>
                              <p:par>
                                <p:cTn id="79" presetID="22" presetClass="entr" presetSubtype="8" fill="hold" nodeType="afterEffect">
                                  <p:stCondLst>
                                    <p:cond delay="0"/>
                                  </p:stCondLst>
                                  <p:childTnLst>
                                    <p:set>
                                      <p:cBhvr>
                                        <p:cTn id="80" dur="1" fill="hold">
                                          <p:stCondLst>
                                            <p:cond delay="0"/>
                                          </p:stCondLst>
                                        </p:cTn>
                                        <p:tgtEl>
                                          <p:spTgt spid="1086"/>
                                        </p:tgtEl>
                                        <p:attrNameLst>
                                          <p:attrName>style.visibility</p:attrName>
                                        </p:attrNameLst>
                                      </p:cBhvr>
                                      <p:to>
                                        <p:strVal val="visible"/>
                                      </p:to>
                                    </p:set>
                                    <p:animEffect transition="in" filter="wipe(left)">
                                      <p:cBhvr>
                                        <p:cTn id="81" dur="500"/>
                                        <p:tgtEl>
                                          <p:spTgt spid="1086"/>
                                        </p:tgtEl>
                                      </p:cBhvr>
                                    </p:animEffect>
                                  </p:childTnLst>
                                </p:cTn>
                              </p:par>
                            </p:childTnLst>
                          </p:cTn>
                        </p:par>
                        <p:par>
                          <p:cTn id="82" fill="hold">
                            <p:stCondLst>
                              <p:cond delay="3000"/>
                            </p:stCondLst>
                            <p:childTnLst>
                              <p:par>
                                <p:cTn id="83" presetID="10" presetClass="entr" presetSubtype="0" fill="hold" nodeType="afterEffect">
                                  <p:stCondLst>
                                    <p:cond delay="0"/>
                                  </p:stCondLst>
                                  <p:childTnLst>
                                    <p:set>
                                      <p:cBhvr>
                                        <p:cTn id="84" dur="1" fill="hold">
                                          <p:stCondLst>
                                            <p:cond delay="0"/>
                                          </p:stCondLst>
                                        </p:cTn>
                                        <p:tgtEl>
                                          <p:spTgt spid="1087"/>
                                        </p:tgtEl>
                                        <p:attrNameLst>
                                          <p:attrName>style.visibility</p:attrName>
                                        </p:attrNameLst>
                                      </p:cBhvr>
                                      <p:to>
                                        <p:strVal val="visible"/>
                                      </p:to>
                                    </p:set>
                                    <p:animEffect transition="in" filter="fade">
                                      <p:cBhvr>
                                        <p:cTn id="85" dur="500"/>
                                        <p:tgtEl>
                                          <p:spTgt spid="1087"/>
                                        </p:tgtEl>
                                      </p:cBhvr>
                                    </p:animEffect>
                                  </p:childTnLst>
                                </p:cTn>
                              </p:par>
                            </p:childTnLst>
                          </p:cTn>
                        </p:par>
                        <p:par>
                          <p:cTn id="86" fill="hold">
                            <p:stCondLst>
                              <p:cond delay="3500"/>
                            </p:stCondLst>
                            <p:childTnLst>
                              <p:par>
                                <p:cTn id="87" presetID="22" presetClass="entr" presetSubtype="4"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down)">
                                      <p:cBhvr>
                                        <p:cTn id="89" dur="500"/>
                                        <p:tgtEl>
                                          <p:spTgt spid="30"/>
                                        </p:tgtEl>
                                      </p:cBhvr>
                                    </p:animEffect>
                                  </p:childTnLst>
                                </p:cTn>
                              </p:par>
                            </p:childTnLst>
                          </p:cTn>
                        </p:par>
                        <p:par>
                          <p:cTn id="90" fill="hold">
                            <p:stCondLst>
                              <p:cond delay="4000"/>
                            </p:stCondLst>
                            <p:childTnLst>
                              <p:par>
                                <p:cTn id="91" presetID="22" presetClass="entr" presetSubtype="4"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wipe(down)">
                                      <p:cBhvr>
                                        <p:cTn id="93" dur="500"/>
                                        <p:tgtEl>
                                          <p:spTgt spid="31"/>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wipe(down)">
                                      <p:cBhvr>
                                        <p:cTn id="9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17" grpId="0" animBg="1"/>
      <p:bldP spid="1024" grpId="0"/>
      <p:bldP spid="1049" grpId="0" animBg="1"/>
      <p:bldP spid="1025" grpId="0"/>
      <p:bldP spid="1050" grpId="0" animBg="1"/>
      <p:bldP spid="109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alpha val="75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D0E78E4D-79DE-54D8-806A-179E7E5D23A2}"/>
              </a:ext>
            </a:extLst>
          </p:cNvPr>
          <p:cNvSpPr>
            <a:spLocks/>
          </p:cNvSpPr>
          <p:nvPr/>
        </p:nvSpPr>
        <p:spPr bwMode="auto">
          <a:xfrm>
            <a:off x="696000" y="996462"/>
            <a:ext cx="10800000" cy="5075154"/>
          </a:xfrm>
          <a:prstGeom prst="roundRect">
            <a:avLst>
              <a:gd name="adj" fmla="val 3201"/>
            </a:avLst>
          </a:prstGeom>
          <a:solidFill>
            <a:srgbClr val="D2EFFF"/>
          </a:solidFill>
          <a:ln w="9525" cap="flat" cmpd="sng" algn="ctr">
            <a:solidFill>
              <a:srgbClr val="006FF2"/>
            </a:solid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grpSp>
        <p:nvGrpSpPr>
          <p:cNvPr id="6" name="Group 5">
            <a:extLst>
              <a:ext uri="{FF2B5EF4-FFF2-40B4-BE49-F238E27FC236}">
                <a16:creationId xmlns:a16="http://schemas.microsoft.com/office/drawing/2014/main" id="{F6B55732-C2BF-F36B-2372-196DD27301A0}"/>
              </a:ext>
            </a:extLst>
          </p:cNvPr>
          <p:cNvGrpSpPr/>
          <p:nvPr/>
        </p:nvGrpSpPr>
        <p:grpSpPr>
          <a:xfrm>
            <a:off x="662019" y="1487708"/>
            <a:ext cx="10867962" cy="3882585"/>
            <a:chOff x="881475" y="1527087"/>
            <a:chExt cx="10867962" cy="3882585"/>
          </a:xfrm>
        </p:grpSpPr>
        <p:grpSp>
          <p:nvGrpSpPr>
            <p:cNvPr id="41" name="Group 40">
              <a:extLst>
                <a:ext uri="{FF2B5EF4-FFF2-40B4-BE49-F238E27FC236}">
                  <a16:creationId xmlns:a16="http://schemas.microsoft.com/office/drawing/2014/main" id="{C34EBA6B-0ADB-92C9-5EE0-1FF722FE22FC}"/>
                </a:ext>
              </a:extLst>
            </p:cNvPr>
            <p:cNvGrpSpPr/>
            <p:nvPr/>
          </p:nvGrpSpPr>
          <p:grpSpPr>
            <a:xfrm>
              <a:off x="1236288" y="2739260"/>
              <a:ext cx="1440000" cy="990000"/>
              <a:chOff x="504257" y="1847450"/>
              <a:chExt cx="1486860" cy="1007009"/>
            </a:xfrm>
          </p:grpSpPr>
          <p:sp>
            <p:nvSpPr>
              <p:cNvPr id="8" name="Rounded Rectangle 7">
                <a:extLst>
                  <a:ext uri="{FF2B5EF4-FFF2-40B4-BE49-F238E27FC236}">
                    <a16:creationId xmlns:a16="http://schemas.microsoft.com/office/drawing/2014/main" id="{F75C8268-A611-0899-9777-B98A0CF8DE96}"/>
                  </a:ext>
                </a:extLst>
              </p:cNvPr>
              <p:cNvSpPr>
                <a:spLocks/>
              </p:cNvSpPr>
              <p:nvPr/>
            </p:nvSpPr>
            <p:spPr bwMode="auto">
              <a:xfrm>
                <a:off x="504257" y="1847450"/>
                <a:ext cx="1486860" cy="1007009"/>
              </a:xfrm>
              <a:prstGeom prst="roundRect">
                <a:avLst>
                  <a:gd name="adj" fmla="val 3201"/>
                </a:avLst>
              </a:prstGeom>
              <a:solidFill>
                <a:schemeClr val="bg1">
                  <a:lumMod val="95000"/>
                </a:schemeClr>
              </a:solidFill>
              <a:ln w="9525" cap="flat" cmpd="sng" algn="ctr">
                <a:solidFill>
                  <a:schemeClr val="tx1">
                    <a:lumMod val="75000"/>
                    <a:lumOff val="2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sp>
            <p:nvSpPr>
              <p:cNvPr id="37" name="Rounded Rectangle 36">
                <a:extLst>
                  <a:ext uri="{FF2B5EF4-FFF2-40B4-BE49-F238E27FC236}">
                    <a16:creationId xmlns:a16="http://schemas.microsoft.com/office/drawing/2014/main" id="{5854C522-D2C7-C0B8-D95A-5B50CBF62394}"/>
                  </a:ext>
                </a:extLst>
              </p:cNvPr>
              <p:cNvSpPr>
                <a:spLocks/>
              </p:cNvSpPr>
              <p:nvPr/>
            </p:nvSpPr>
            <p:spPr bwMode="auto">
              <a:xfrm>
                <a:off x="598573" y="1967503"/>
                <a:ext cx="1301004" cy="256329"/>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API Hub</a:t>
                </a:r>
              </a:p>
            </p:txBody>
          </p:sp>
          <p:sp>
            <p:nvSpPr>
              <p:cNvPr id="39" name="Rounded Rectangle 38">
                <a:extLst>
                  <a:ext uri="{FF2B5EF4-FFF2-40B4-BE49-F238E27FC236}">
                    <a16:creationId xmlns:a16="http://schemas.microsoft.com/office/drawing/2014/main" id="{B3C6C3ED-FBC3-ADBE-1E7E-BD06062109E2}"/>
                  </a:ext>
                </a:extLst>
              </p:cNvPr>
              <p:cNvSpPr>
                <a:spLocks/>
              </p:cNvSpPr>
              <p:nvPr/>
            </p:nvSpPr>
            <p:spPr bwMode="auto">
              <a:xfrm>
                <a:off x="598573" y="2349781"/>
                <a:ext cx="1301004" cy="366184"/>
              </a:xfrm>
              <a:prstGeom prst="roundRect">
                <a:avLst>
                  <a:gd name="adj" fmla="val 3201"/>
                </a:avLst>
              </a:prstGeom>
              <a:solidFill>
                <a:schemeClr val="bg1"/>
              </a:solidFill>
              <a:ln w="9525" cap="flat" cmpd="sng" algn="ctr">
                <a:solidFill>
                  <a:schemeClr val="bg1">
                    <a:lumMod val="65000"/>
                  </a:schemeClr>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SAP Help </a:t>
                </a:r>
                <a:br>
                  <a:rPr kumimoji="0" lang="en-GB" sz="100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br>
                <a:r>
                  <a:rPr kumimoji="0" lang="en-GB" sz="100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Documentation</a:t>
                </a:r>
              </a:p>
            </p:txBody>
          </p:sp>
        </p:grpSp>
        <p:sp>
          <p:nvSpPr>
            <p:cNvPr id="4" name="Rounded Rectangle 3">
              <a:extLst>
                <a:ext uri="{FF2B5EF4-FFF2-40B4-BE49-F238E27FC236}">
                  <a16:creationId xmlns:a16="http://schemas.microsoft.com/office/drawing/2014/main" id="{F8177555-ED24-A93C-2B89-852D47AEBFDF}"/>
                </a:ext>
              </a:extLst>
            </p:cNvPr>
            <p:cNvSpPr>
              <a:spLocks/>
            </p:cNvSpPr>
            <p:nvPr/>
          </p:nvSpPr>
          <p:spPr bwMode="auto">
            <a:xfrm>
              <a:off x="3038384" y="1527087"/>
              <a:ext cx="6552000" cy="3415298"/>
            </a:xfrm>
            <a:prstGeom prst="roundRect">
              <a:avLst>
                <a:gd name="adj" fmla="val 3201"/>
              </a:avLst>
            </a:prstGeom>
            <a:solidFill>
              <a:schemeClr val="bg1"/>
            </a:solidFill>
            <a:ln w="19050"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200" b="1" i="0" u="none" strike="noStrike" kern="0" cap="none" spc="0" normalizeH="0" baseline="0" noProof="0">
                  <a:ln>
                    <a:noFill/>
                  </a:ln>
                  <a:effectLst/>
                  <a:uLnTx/>
                  <a:uFillTx/>
                  <a:latin typeface="72" panose="020B0503030000000003" pitchFamily="34" charset="0"/>
                  <a:ea typeface="Arial Unicode MS" pitchFamily="34" charset="-128"/>
                  <a:cs typeface="72" panose="020B0503030000000003" pitchFamily="34" charset="0"/>
                </a:rPr>
                <a:t>Confi</a:t>
              </a:r>
              <a:r>
                <a:rPr lang="en-GB" sz="1200" b="1" kern="0">
                  <a:latin typeface="72" panose="020B0503030000000003" pitchFamily="34" charset="0"/>
                  <a:ea typeface="Arial Unicode MS" pitchFamily="34" charset="-128"/>
                  <a:cs typeface="72" panose="020B0503030000000003" pitchFamily="34" charset="0"/>
                </a:rPr>
                <a:t>g File (JSON)</a:t>
              </a:r>
            </a:p>
            <a:p>
              <a:pPr algn="ctr" defTabSz="932192" fontAlgn="base">
                <a:lnSpc>
                  <a:spcPct val="90000"/>
                </a:lnSpc>
                <a:spcBef>
                  <a:spcPct val="0"/>
                </a:spcBef>
                <a:spcAft>
                  <a:spcPts val="600"/>
                </a:spcAft>
                <a:buClr>
                  <a:srgbClr val="0070F2"/>
                </a:buClr>
                <a:defRPr/>
              </a:pPr>
              <a:r>
                <a:rPr lang="en-GB" sz="1000" kern="0">
                  <a:solidFill>
                    <a:srgbClr val="000000"/>
                  </a:solidFill>
                  <a:latin typeface="72" panose="020B0503030000000003" pitchFamily="34" charset="0"/>
                  <a:ea typeface="Arial Unicode MS" pitchFamily="34" charset="-128"/>
                  <a:cs typeface="72" panose="020B0503030000000003" pitchFamily="34" charset="0"/>
                </a:rPr>
                <a:t>(Business Object 1..n)</a:t>
              </a:r>
              <a:endParaRPr kumimoji="0" lang="en-GB" sz="100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sp>
          <p:nvSpPr>
            <p:cNvPr id="1024" name="TextBox 1023">
              <a:extLst>
                <a:ext uri="{FF2B5EF4-FFF2-40B4-BE49-F238E27FC236}">
                  <a16:creationId xmlns:a16="http://schemas.microsoft.com/office/drawing/2014/main" id="{D23C8526-F732-89C9-3085-247B1A645FF3}"/>
                </a:ext>
              </a:extLst>
            </p:cNvPr>
            <p:cNvSpPr txBox="1"/>
            <p:nvPr/>
          </p:nvSpPr>
          <p:spPr>
            <a:xfrm>
              <a:off x="1616225" y="2076088"/>
              <a:ext cx="696024" cy="246221"/>
            </a:xfrm>
            <a:prstGeom prst="rect">
              <a:avLst/>
            </a:prstGeom>
            <a:noFill/>
          </p:spPr>
          <p:txBody>
            <a:bodyPr wrap="none" rtlCol="0">
              <a:spAutoFit/>
            </a:bodyPr>
            <a:lstStyle/>
            <a:p>
              <a:r>
                <a:rPr lang="en-US" sz="1000" b="1">
                  <a:latin typeface="72" panose="020B0503030000000003" pitchFamily="34" charset="0"/>
                  <a:cs typeface="72" panose="020B0503030000000003" pitchFamily="34" charset="0"/>
                </a:rPr>
                <a:t>Find API</a:t>
              </a:r>
            </a:p>
          </p:txBody>
        </p:sp>
        <p:grpSp>
          <p:nvGrpSpPr>
            <p:cNvPr id="1078" name="Group 1077">
              <a:extLst>
                <a:ext uri="{FF2B5EF4-FFF2-40B4-BE49-F238E27FC236}">
                  <a16:creationId xmlns:a16="http://schemas.microsoft.com/office/drawing/2014/main" id="{E5F00671-1AAD-82B7-898B-D91CE682C275}"/>
                </a:ext>
              </a:extLst>
            </p:cNvPr>
            <p:cNvGrpSpPr/>
            <p:nvPr/>
          </p:nvGrpSpPr>
          <p:grpSpPr>
            <a:xfrm>
              <a:off x="10032957" y="2737045"/>
              <a:ext cx="1270355" cy="990000"/>
              <a:chOff x="9011822" y="1341017"/>
              <a:chExt cx="1270355" cy="990000"/>
            </a:xfrm>
          </p:grpSpPr>
          <p:sp>
            <p:nvSpPr>
              <p:cNvPr id="11" name="Rounded Rectangle 10">
                <a:extLst>
                  <a:ext uri="{FF2B5EF4-FFF2-40B4-BE49-F238E27FC236}">
                    <a16:creationId xmlns:a16="http://schemas.microsoft.com/office/drawing/2014/main" id="{299A2F31-1AF4-EA31-26F1-F37C640790C7}"/>
                  </a:ext>
                </a:extLst>
              </p:cNvPr>
              <p:cNvSpPr>
                <a:spLocks/>
              </p:cNvSpPr>
              <p:nvPr/>
            </p:nvSpPr>
            <p:spPr bwMode="auto">
              <a:xfrm>
                <a:off x="9011822" y="1341017"/>
                <a:ext cx="1270355" cy="990000"/>
              </a:xfrm>
              <a:prstGeom prst="roundRect">
                <a:avLst>
                  <a:gd name="adj" fmla="val 3201"/>
                </a:avLst>
              </a:prstGeom>
              <a:solidFill>
                <a:srgbClr val="E2D8FF"/>
              </a:solidFill>
              <a:ln w="9525" cap="flat" cmpd="sng" algn="ctr">
                <a:solidFill>
                  <a:srgbClr val="7030A0"/>
                </a:solidFill>
                <a:prstDash val="solid"/>
                <a:headEnd type="none" w="med" len="med"/>
                <a:tailEnd type="none" w="med" len="med"/>
              </a:ln>
              <a:effectLst/>
            </p:spPr>
            <p:txBody>
              <a:bodyPr rot="0" spcFirstLastPara="0" vertOverflow="overflow" horzOverflow="overflow" vert="horz" wrap="square" lIns="180000" tIns="360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rgbClr val="7030A0"/>
                    </a:solidFill>
                    <a:effectLst/>
                    <a:uLnTx/>
                    <a:uFillTx/>
                    <a:latin typeface="72" panose="020B0503030000000003" pitchFamily="34" charset="0"/>
                    <a:ea typeface="Arial Unicode MS" pitchFamily="34" charset="-128"/>
                    <a:cs typeface="72" panose="020B0503030000000003" pitchFamily="34" charset="0"/>
                  </a:rPr>
                  <a:t>SAP Build Work zone</a:t>
                </a:r>
              </a:p>
            </p:txBody>
          </p:sp>
          <p:pic>
            <p:nvPicPr>
              <p:cNvPr id="1056" name="Picture 4">
                <a:extLst>
                  <a:ext uri="{FF2B5EF4-FFF2-40B4-BE49-F238E27FC236}">
                    <a16:creationId xmlns:a16="http://schemas.microsoft.com/office/drawing/2014/main" id="{3A5B3440-51BA-1C66-2D15-4D7A7417A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2304" y="1350956"/>
                <a:ext cx="360000" cy="360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29" name="Straight Arrow Connector 1028">
              <a:extLst>
                <a:ext uri="{FF2B5EF4-FFF2-40B4-BE49-F238E27FC236}">
                  <a16:creationId xmlns:a16="http://schemas.microsoft.com/office/drawing/2014/main" id="{F97E7D82-A48B-8001-7FD5-396EF2E2392B}"/>
                </a:ext>
              </a:extLst>
            </p:cNvPr>
            <p:cNvCxnSpPr>
              <a:cxnSpLocks/>
              <a:stCxn id="1024" idx="2"/>
              <a:endCxn id="8" idx="0"/>
            </p:cNvCxnSpPr>
            <p:nvPr/>
          </p:nvCxnSpPr>
          <p:spPr>
            <a:xfrm flipH="1">
              <a:off x="1956288" y="2322309"/>
              <a:ext cx="7949" cy="416951"/>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1039" name="Straight Arrow Connector 1038">
              <a:extLst>
                <a:ext uri="{FF2B5EF4-FFF2-40B4-BE49-F238E27FC236}">
                  <a16:creationId xmlns:a16="http://schemas.microsoft.com/office/drawing/2014/main" id="{DBC0B921-2E4A-9FD3-BF10-B7F6E7A97A25}"/>
                </a:ext>
              </a:extLst>
            </p:cNvPr>
            <p:cNvCxnSpPr>
              <a:cxnSpLocks/>
              <a:stCxn id="8" idx="3"/>
              <a:endCxn id="4" idx="1"/>
            </p:cNvCxnSpPr>
            <p:nvPr/>
          </p:nvCxnSpPr>
          <p:spPr>
            <a:xfrm>
              <a:off x="2676288" y="3234260"/>
              <a:ext cx="362096" cy="476"/>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cxnSp>
          <p:nvCxnSpPr>
            <p:cNvPr id="1041" name="Straight Arrow Connector 1040">
              <a:extLst>
                <a:ext uri="{FF2B5EF4-FFF2-40B4-BE49-F238E27FC236}">
                  <a16:creationId xmlns:a16="http://schemas.microsoft.com/office/drawing/2014/main" id="{825A15CE-1F4E-07E2-E7E2-B54682D92888}"/>
                </a:ext>
              </a:extLst>
            </p:cNvPr>
            <p:cNvCxnSpPr>
              <a:cxnSpLocks/>
              <a:stCxn id="4" idx="3"/>
              <a:endCxn id="11" idx="1"/>
            </p:cNvCxnSpPr>
            <p:nvPr/>
          </p:nvCxnSpPr>
          <p:spPr>
            <a:xfrm flipV="1">
              <a:off x="9590384" y="3232045"/>
              <a:ext cx="442573" cy="2691"/>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
          <p:nvSpPr>
            <p:cNvPr id="1048" name="Rounded Rectangle 1047">
              <a:extLst>
                <a:ext uri="{FF2B5EF4-FFF2-40B4-BE49-F238E27FC236}">
                  <a16:creationId xmlns:a16="http://schemas.microsoft.com/office/drawing/2014/main" id="{AA13A1B0-76D7-7426-C42E-47FE07F7A928}"/>
                </a:ext>
              </a:extLst>
            </p:cNvPr>
            <p:cNvSpPr>
              <a:spLocks/>
            </p:cNvSpPr>
            <p:nvPr/>
          </p:nvSpPr>
          <p:spPr bwMode="auto">
            <a:xfrm>
              <a:off x="3167372" y="2196410"/>
              <a:ext cx="6300000" cy="2600651"/>
            </a:xfrm>
            <a:prstGeom prst="roundRect">
              <a:avLst>
                <a:gd name="adj" fmla="val 3201"/>
              </a:avLst>
            </a:prstGeom>
            <a:solidFill>
              <a:schemeClr val="bg1"/>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0" rIns="180000" bIns="0" numCol="1" spcCol="0" rtlCol="0" fromWordArt="0" anchor="t" anchorCtr="0" forceAA="0" compatLnSpc="1">
              <a:prstTxWarp prst="textNoShape">
                <a:avLst/>
              </a:prstTxWarp>
              <a:noAutofit/>
            </a:bodyPr>
            <a:lstStyle/>
            <a:p>
              <a:pPr marL="0" marR="0" lvl="0" indent="0" algn="r" defTabSz="932192" rtl="0" eaLnBrk="1" fontAlgn="base" latinLnBrk="0" hangingPunct="1">
                <a:lnSpc>
                  <a:spcPct val="90000"/>
                </a:lnSpc>
                <a:spcBef>
                  <a:spcPct val="0"/>
                </a:spcBef>
                <a:spcAft>
                  <a:spcPts val="600"/>
                </a:spcAft>
                <a:buClr>
                  <a:srgbClr val="0070F2"/>
                </a:buClr>
                <a:buSzTx/>
                <a:buFontTx/>
                <a:buNone/>
                <a:tabLst/>
                <a:defRPr/>
              </a:pPr>
              <a:endParaRPr kumimoji="0" lang="en-GB" sz="14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sp>
          <p:nvSpPr>
            <p:cNvPr id="1058" name="Rounded Rectangle 1057">
              <a:extLst>
                <a:ext uri="{FF2B5EF4-FFF2-40B4-BE49-F238E27FC236}">
                  <a16:creationId xmlns:a16="http://schemas.microsoft.com/office/drawing/2014/main" id="{1CB9B7ED-DD27-C4B6-C4CF-F91742845DBA}"/>
                </a:ext>
              </a:extLst>
            </p:cNvPr>
            <p:cNvSpPr/>
            <p:nvPr/>
          </p:nvSpPr>
          <p:spPr>
            <a:xfrm>
              <a:off x="3973745" y="2380228"/>
              <a:ext cx="4808551" cy="1083556"/>
            </a:xfrm>
            <a:prstGeom prst="roundRect">
              <a:avLst>
                <a:gd name="adj" fmla="val 235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62" name="Group 61">
              <a:extLst>
                <a:ext uri="{FF2B5EF4-FFF2-40B4-BE49-F238E27FC236}">
                  <a16:creationId xmlns:a16="http://schemas.microsoft.com/office/drawing/2014/main" id="{CA4BDF34-9B8F-32CA-6BF5-929900C018A9}"/>
                </a:ext>
              </a:extLst>
            </p:cNvPr>
            <p:cNvGrpSpPr/>
            <p:nvPr/>
          </p:nvGrpSpPr>
          <p:grpSpPr>
            <a:xfrm>
              <a:off x="4186642" y="2484882"/>
              <a:ext cx="1047448" cy="854965"/>
              <a:chOff x="3998136" y="1551996"/>
              <a:chExt cx="887274" cy="854965"/>
            </a:xfrm>
            <a:solidFill>
              <a:schemeClr val="accent6">
                <a:lumMod val="20000"/>
                <a:lumOff val="80000"/>
              </a:schemeClr>
            </a:solidFill>
          </p:grpSpPr>
          <p:sp>
            <p:nvSpPr>
              <p:cNvPr id="12" name="Rounded Rectangle 11">
                <a:extLst>
                  <a:ext uri="{FF2B5EF4-FFF2-40B4-BE49-F238E27FC236}">
                    <a16:creationId xmlns:a16="http://schemas.microsoft.com/office/drawing/2014/main" id="{F7D55F13-8849-7559-1670-095C43CA6901}"/>
                  </a:ext>
                </a:extLst>
              </p:cNvPr>
              <p:cNvSpPr>
                <a:spLocks/>
              </p:cNvSpPr>
              <p:nvPr/>
            </p:nvSpPr>
            <p:spPr bwMode="auto">
              <a:xfrm>
                <a:off x="3998136" y="1551996"/>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Domain</a:t>
                </a:r>
                <a:endParaRPr kumimoji="0" lang="en-GB" sz="9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pic>
            <p:nvPicPr>
              <p:cNvPr id="50" name="Picture 49">
                <a:extLst>
                  <a:ext uri="{FF2B5EF4-FFF2-40B4-BE49-F238E27FC236}">
                    <a16:creationId xmlns:a16="http://schemas.microsoft.com/office/drawing/2014/main" id="{A804C719-343C-EA7F-9656-9ECCF7D9F76D}"/>
                  </a:ext>
                </a:extLst>
              </p:cNvPr>
              <p:cNvPicPr>
                <a:picLocks noChangeAspect="1"/>
              </p:cNvPicPr>
              <p:nvPr/>
            </p:nvPicPr>
            <p:blipFill>
              <a:blip r:embed="rId4"/>
              <a:stretch>
                <a:fillRect/>
              </a:stretch>
            </p:blipFill>
            <p:spPr>
              <a:xfrm>
                <a:off x="4307496" y="1931710"/>
                <a:ext cx="214817" cy="240719"/>
              </a:xfrm>
              <a:prstGeom prst="rect">
                <a:avLst/>
              </a:prstGeom>
              <a:grpFill/>
              <a:ln>
                <a:solidFill>
                  <a:schemeClr val="accent6">
                    <a:lumMod val="75000"/>
                  </a:schemeClr>
                </a:solidFill>
              </a:ln>
            </p:spPr>
          </p:pic>
        </p:grpSp>
        <p:grpSp>
          <p:nvGrpSpPr>
            <p:cNvPr id="61" name="Group 60">
              <a:extLst>
                <a:ext uri="{FF2B5EF4-FFF2-40B4-BE49-F238E27FC236}">
                  <a16:creationId xmlns:a16="http://schemas.microsoft.com/office/drawing/2014/main" id="{D26CC7AA-BAF7-C250-4284-999422148AFB}"/>
                </a:ext>
              </a:extLst>
            </p:cNvPr>
            <p:cNvGrpSpPr/>
            <p:nvPr/>
          </p:nvGrpSpPr>
          <p:grpSpPr>
            <a:xfrm>
              <a:off x="5838008" y="2484881"/>
              <a:ext cx="1047448" cy="854965"/>
              <a:chOff x="5678330" y="1551995"/>
              <a:chExt cx="887274" cy="854965"/>
            </a:xfrm>
            <a:solidFill>
              <a:schemeClr val="accent6">
                <a:lumMod val="20000"/>
                <a:lumOff val="80000"/>
              </a:schemeClr>
            </a:solidFill>
          </p:grpSpPr>
          <p:sp>
            <p:nvSpPr>
              <p:cNvPr id="22" name="Rounded Rectangle 21">
                <a:extLst>
                  <a:ext uri="{FF2B5EF4-FFF2-40B4-BE49-F238E27FC236}">
                    <a16:creationId xmlns:a16="http://schemas.microsoft.com/office/drawing/2014/main" id="{1E3F6C70-1DC6-5419-2A42-800015FFA13E}"/>
                  </a:ext>
                </a:extLst>
              </p:cNvPr>
              <p:cNvSpPr>
                <a:spLocks/>
              </p:cNvSpPr>
              <p:nvPr/>
            </p:nvSpPr>
            <p:spPr bwMode="auto">
              <a:xfrm>
                <a:off x="5678330" y="1551995"/>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Service</a:t>
                </a:r>
                <a:endParaRPr kumimoji="0" lang="en-GB" sz="9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pic>
            <p:nvPicPr>
              <p:cNvPr id="52" name="Picture 51">
                <a:extLst>
                  <a:ext uri="{FF2B5EF4-FFF2-40B4-BE49-F238E27FC236}">
                    <a16:creationId xmlns:a16="http://schemas.microsoft.com/office/drawing/2014/main" id="{EB33540D-07AE-DB8A-B87D-1758E56613AC}"/>
                  </a:ext>
                </a:extLst>
              </p:cNvPr>
              <p:cNvPicPr>
                <a:picLocks noChangeAspect="1"/>
              </p:cNvPicPr>
              <p:nvPr/>
            </p:nvPicPr>
            <p:blipFill>
              <a:blip r:embed="rId5"/>
              <a:stretch>
                <a:fillRect/>
              </a:stretch>
            </p:blipFill>
            <p:spPr>
              <a:xfrm>
                <a:off x="5970265" y="1930387"/>
                <a:ext cx="242042" cy="242042"/>
              </a:xfrm>
              <a:prstGeom prst="rect">
                <a:avLst/>
              </a:prstGeom>
              <a:grpFill/>
              <a:ln>
                <a:solidFill>
                  <a:schemeClr val="accent6">
                    <a:lumMod val="75000"/>
                  </a:schemeClr>
                </a:solidFill>
              </a:ln>
            </p:spPr>
          </p:pic>
        </p:grpSp>
        <p:grpSp>
          <p:nvGrpSpPr>
            <p:cNvPr id="60" name="Group 59">
              <a:extLst>
                <a:ext uri="{FF2B5EF4-FFF2-40B4-BE49-F238E27FC236}">
                  <a16:creationId xmlns:a16="http://schemas.microsoft.com/office/drawing/2014/main" id="{56E82048-5D49-BAE0-59F6-74428482C9C6}"/>
                </a:ext>
              </a:extLst>
            </p:cNvPr>
            <p:cNvGrpSpPr/>
            <p:nvPr/>
          </p:nvGrpSpPr>
          <p:grpSpPr>
            <a:xfrm>
              <a:off x="7527122" y="2491275"/>
              <a:ext cx="1047448" cy="854965"/>
              <a:chOff x="7358524" y="1551995"/>
              <a:chExt cx="887274" cy="854965"/>
            </a:xfrm>
            <a:solidFill>
              <a:schemeClr val="accent6">
                <a:lumMod val="20000"/>
                <a:lumOff val="80000"/>
              </a:schemeClr>
            </a:solidFill>
          </p:grpSpPr>
          <p:sp>
            <p:nvSpPr>
              <p:cNvPr id="23" name="Rounded Rectangle 22">
                <a:extLst>
                  <a:ext uri="{FF2B5EF4-FFF2-40B4-BE49-F238E27FC236}">
                    <a16:creationId xmlns:a16="http://schemas.microsoft.com/office/drawing/2014/main" id="{FFD5DF31-92DD-FDBC-3960-2E8CBE01AF3E}"/>
                  </a:ext>
                </a:extLst>
              </p:cNvPr>
              <p:cNvSpPr>
                <a:spLocks/>
              </p:cNvSpPr>
              <p:nvPr/>
            </p:nvSpPr>
            <p:spPr bwMode="auto">
              <a:xfrm>
                <a:off x="7358524" y="1551995"/>
                <a:ext cx="887274" cy="854965"/>
              </a:xfrm>
              <a:prstGeom prst="roundRect">
                <a:avLst>
                  <a:gd name="adj" fmla="val 3201"/>
                </a:avLst>
              </a:prstGeom>
              <a:grpFill/>
              <a:ln w="9525" cap="flat" cmpd="sng" algn="ctr">
                <a:solidFill>
                  <a:schemeClr val="accent6">
                    <a:lumMod val="75000"/>
                  </a:schemeClr>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UI App</a:t>
                </a:r>
              </a:p>
            </p:txBody>
          </p:sp>
          <p:pic>
            <p:nvPicPr>
              <p:cNvPr id="54" name="Picture 53">
                <a:extLst>
                  <a:ext uri="{FF2B5EF4-FFF2-40B4-BE49-F238E27FC236}">
                    <a16:creationId xmlns:a16="http://schemas.microsoft.com/office/drawing/2014/main" id="{EA7E2B97-460A-66C9-71ED-3648525601B1}"/>
                  </a:ext>
                </a:extLst>
              </p:cNvPr>
              <p:cNvPicPr>
                <a:picLocks noChangeAspect="1"/>
              </p:cNvPicPr>
              <p:nvPr/>
            </p:nvPicPr>
            <p:blipFill>
              <a:blip r:embed="rId6"/>
              <a:stretch>
                <a:fillRect/>
              </a:stretch>
            </p:blipFill>
            <p:spPr>
              <a:xfrm>
                <a:off x="7662142" y="1865583"/>
                <a:ext cx="306846" cy="306846"/>
              </a:xfrm>
              <a:prstGeom prst="rect">
                <a:avLst/>
              </a:prstGeom>
              <a:grpFill/>
              <a:ln>
                <a:solidFill>
                  <a:schemeClr val="accent6">
                    <a:lumMod val="75000"/>
                  </a:schemeClr>
                </a:solidFill>
              </a:ln>
            </p:spPr>
          </p:pic>
        </p:grpSp>
        <p:sp>
          <p:nvSpPr>
            <p:cNvPr id="55" name="Plus 54">
              <a:extLst>
                <a:ext uri="{FF2B5EF4-FFF2-40B4-BE49-F238E27FC236}">
                  <a16:creationId xmlns:a16="http://schemas.microsoft.com/office/drawing/2014/main" id="{05215384-6719-B5EB-F6AF-4AF29BC51881}"/>
                </a:ext>
              </a:extLst>
            </p:cNvPr>
            <p:cNvSpPr>
              <a:spLocks noChangeAspect="1"/>
            </p:cNvSpPr>
            <p:nvPr/>
          </p:nvSpPr>
          <p:spPr>
            <a:xfrm>
              <a:off x="5348348" y="2783437"/>
              <a:ext cx="382576" cy="270000"/>
            </a:xfrm>
            <a:prstGeom prst="mathPlus">
              <a:avLst/>
            </a:prstGeom>
            <a:solidFill>
              <a:schemeClr val="accent6">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56" name="Plus 55">
              <a:extLst>
                <a:ext uri="{FF2B5EF4-FFF2-40B4-BE49-F238E27FC236}">
                  <a16:creationId xmlns:a16="http://schemas.microsoft.com/office/drawing/2014/main" id="{695E2F77-492B-63E9-209C-2CEADDD8D10A}"/>
                </a:ext>
              </a:extLst>
            </p:cNvPr>
            <p:cNvSpPr>
              <a:spLocks noChangeAspect="1"/>
            </p:cNvSpPr>
            <p:nvPr/>
          </p:nvSpPr>
          <p:spPr>
            <a:xfrm>
              <a:off x="7025815" y="2776916"/>
              <a:ext cx="382576" cy="270000"/>
            </a:xfrm>
            <a:prstGeom prst="mathPlus">
              <a:avLst/>
            </a:prstGeom>
            <a:solidFill>
              <a:schemeClr val="accent6">
                <a:lumMod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59" name="Group 58">
              <a:extLst>
                <a:ext uri="{FF2B5EF4-FFF2-40B4-BE49-F238E27FC236}">
                  <a16:creationId xmlns:a16="http://schemas.microsoft.com/office/drawing/2014/main" id="{E66B4F85-1CC7-3BEF-90C5-04763CB4BE52}"/>
                </a:ext>
              </a:extLst>
            </p:cNvPr>
            <p:cNvGrpSpPr/>
            <p:nvPr/>
          </p:nvGrpSpPr>
          <p:grpSpPr>
            <a:xfrm>
              <a:off x="7724508" y="3955101"/>
              <a:ext cx="1624875" cy="540000"/>
              <a:chOff x="5871760" y="3184439"/>
              <a:chExt cx="1376402" cy="540000"/>
            </a:xfrm>
          </p:grpSpPr>
          <p:sp>
            <p:nvSpPr>
              <p:cNvPr id="15" name="Rounded Rectangle 14">
                <a:extLst>
                  <a:ext uri="{FF2B5EF4-FFF2-40B4-BE49-F238E27FC236}">
                    <a16:creationId xmlns:a16="http://schemas.microsoft.com/office/drawing/2014/main" id="{4C77EC98-2D22-97EE-9D1D-9F9C25C1D351}"/>
                  </a:ext>
                </a:extLst>
              </p:cNvPr>
              <p:cNvSpPr>
                <a:spLocks/>
              </p:cNvSpPr>
              <p:nvPr/>
            </p:nvSpPr>
            <p:spPr bwMode="auto">
              <a:xfrm>
                <a:off x="5871760" y="3184439"/>
                <a:ext cx="1376402" cy="540000"/>
              </a:xfrm>
              <a:prstGeom prst="roundRect">
                <a:avLst>
                  <a:gd name="adj" fmla="val 3201"/>
                </a:avLst>
              </a:prstGeom>
              <a:solidFill>
                <a:srgbClr val="D2EFFF">
                  <a:alpha val="50000"/>
                </a:srgbClr>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b"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rPr>
                  <a:t>Business Systems</a:t>
                </a:r>
              </a:p>
            </p:txBody>
          </p:sp>
          <p:pic>
            <p:nvPicPr>
              <p:cNvPr id="1026" name="Picture 2">
                <a:extLst>
                  <a:ext uri="{FF2B5EF4-FFF2-40B4-BE49-F238E27FC236}">
                    <a16:creationId xmlns:a16="http://schemas.microsoft.com/office/drawing/2014/main" id="{54799CBD-A877-05EB-42DB-283ADB7BC6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8175" y="3273807"/>
                <a:ext cx="860396" cy="180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45" name="Straight Arrow Connector 1044">
              <a:extLst>
                <a:ext uri="{FF2B5EF4-FFF2-40B4-BE49-F238E27FC236}">
                  <a16:creationId xmlns:a16="http://schemas.microsoft.com/office/drawing/2014/main" id="{AFC86098-DD8C-DD7E-D065-5302CBB69495}"/>
                </a:ext>
              </a:extLst>
            </p:cNvPr>
            <p:cNvCxnSpPr>
              <a:cxnSpLocks/>
              <a:stCxn id="22" idx="2"/>
              <a:endCxn id="15" idx="0"/>
            </p:cNvCxnSpPr>
            <p:nvPr/>
          </p:nvCxnSpPr>
          <p:spPr>
            <a:xfrm rot="16200000" flipH="1">
              <a:off x="7141712" y="2559866"/>
              <a:ext cx="615255" cy="2175214"/>
            </a:xfrm>
            <a:prstGeom prst="bentConnector3">
              <a:avLst>
                <a:gd name="adj1" fmla="val 50000"/>
              </a:avLst>
            </a:prstGeom>
            <a:ln w="6350">
              <a:tailEnd type="triangle"/>
            </a:ln>
          </p:spPr>
          <p:style>
            <a:lnRef idx="2">
              <a:schemeClr val="dk1"/>
            </a:lnRef>
            <a:fillRef idx="0">
              <a:schemeClr val="dk1"/>
            </a:fillRef>
            <a:effectRef idx="1">
              <a:schemeClr val="dk1"/>
            </a:effectRef>
            <a:fontRef idx="minor">
              <a:schemeClr val="tx1"/>
            </a:fontRef>
          </p:style>
        </p:cxnSp>
        <p:sp>
          <p:nvSpPr>
            <p:cNvPr id="1062" name="Rounded Rectangle 1061">
              <a:extLst>
                <a:ext uri="{FF2B5EF4-FFF2-40B4-BE49-F238E27FC236}">
                  <a16:creationId xmlns:a16="http://schemas.microsoft.com/office/drawing/2014/main" id="{5A386126-9272-3EB1-FFCE-EBAA0480FD43}"/>
                </a:ext>
              </a:extLst>
            </p:cNvPr>
            <p:cNvSpPr>
              <a:spLocks/>
            </p:cNvSpPr>
            <p:nvPr/>
          </p:nvSpPr>
          <p:spPr bwMode="auto">
            <a:xfrm>
              <a:off x="3285857" y="3955101"/>
              <a:ext cx="1753051" cy="540000"/>
            </a:xfrm>
            <a:prstGeom prst="roundRect">
              <a:avLst>
                <a:gd name="adj" fmla="val 3201"/>
              </a:avLst>
            </a:prstGeom>
            <a:solidFill>
              <a:srgbClr val="D2EFFF">
                <a:alpha val="50000"/>
              </a:srgbClr>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108000" rIns="180000" bIns="36000" numCol="1" spcCol="0" rtlCol="0" fromWordArt="0" anchor="b"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GB" sz="1000" kern="0">
                  <a:solidFill>
                    <a:srgbClr val="000000"/>
                  </a:solidFill>
                  <a:latin typeface="72" panose="020B0503030000000003" pitchFamily="34" charset="0"/>
                  <a:ea typeface="Arial Unicode MS" pitchFamily="34" charset="-128"/>
                  <a:cs typeface="72" panose="020B0503030000000003" pitchFamily="34" charset="0"/>
                </a:rPr>
                <a:t>BTP Services</a:t>
              </a:r>
              <a:endPar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cxnSp>
          <p:nvCxnSpPr>
            <p:cNvPr id="1063" name="Straight Arrow Connector 1044">
              <a:extLst>
                <a:ext uri="{FF2B5EF4-FFF2-40B4-BE49-F238E27FC236}">
                  <a16:creationId xmlns:a16="http://schemas.microsoft.com/office/drawing/2014/main" id="{BCBECEFB-1ED2-8B2C-A95A-DD7986EF3CCF}"/>
                </a:ext>
              </a:extLst>
            </p:cNvPr>
            <p:cNvCxnSpPr>
              <a:cxnSpLocks/>
              <a:stCxn id="22" idx="2"/>
              <a:endCxn id="1062" idx="0"/>
            </p:cNvCxnSpPr>
            <p:nvPr/>
          </p:nvCxnSpPr>
          <p:spPr>
            <a:xfrm rot="5400000">
              <a:off x="4954431" y="2547799"/>
              <a:ext cx="615255" cy="2199349"/>
            </a:xfrm>
            <a:prstGeom prst="bentConnector3">
              <a:avLst>
                <a:gd name="adj1" fmla="val 50000"/>
              </a:avLst>
            </a:prstGeom>
            <a:ln w="6350">
              <a:tailEnd type="triangle"/>
            </a:ln>
          </p:spPr>
          <p:style>
            <a:lnRef idx="2">
              <a:schemeClr val="dk1"/>
            </a:lnRef>
            <a:fillRef idx="0">
              <a:schemeClr val="dk1"/>
            </a:fillRef>
            <a:effectRef idx="1">
              <a:schemeClr val="dk1"/>
            </a:effectRef>
            <a:fontRef idx="minor">
              <a:schemeClr val="tx1"/>
            </a:fontRef>
          </p:style>
        </p:cxnSp>
        <p:pic>
          <p:nvPicPr>
            <p:cNvPr id="1067" name="Picture 6">
              <a:extLst>
                <a:ext uri="{FF2B5EF4-FFF2-40B4-BE49-F238E27FC236}">
                  <a16:creationId xmlns:a16="http://schemas.microsoft.com/office/drawing/2014/main" id="{655DEF9B-50FF-E2E0-1195-1AF12EADF7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6514" y="3958677"/>
              <a:ext cx="374588"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8">
              <a:extLst>
                <a:ext uri="{FF2B5EF4-FFF2-40B4-BE49-F238E27FC236}">
                  <a16:creationId xmlns:a16="http://schemas.microsoft.com/office/drawing/2014/main" id="{BA62A9B1-0A99-7D7E-CE32-7F3AD4B64E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4858" y="3958269"/>
              <a:ext cx="374588"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69" name="Picture 10">
              <a:extLst>
                <a:ext uri="{FF2B5EF4-FFF2-40B4-BE49-F238E27FC236}">
                  <a16:creationId xmlns:a16="http://schemas.microsoft.com/office/drawing/2014/main" id="{EF31223D-C0CB-299F-4CE0-C2A57923C53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635" y="3970743"/>
              <a:ext cx="374588" cy="360000"/>
            </a:xfrm>
            <a:prstGeom prst="rect">
              <a:avLst/>
            </a:prstGeom>
            <a:noFill/>
            <a:extLst>
              <a:ext uri="{909E8E84-426E-40DD-AFC4-6F175D3DCCD1}">
                <a14:hiddenFill xmlns:a14="http://schemas.microsoft.com/office/drawing/2010/main">
                  <a:solidFill>
                    <a:srgbClr val="FFFFFF"/>
                  </a:solidFill>
                </a14:hiddenFill>
              </a:ext>
            </a:extLst>
          </p:spPr>
        </p:pic>
        <p:cxnSp>
          <p:nvCxnSpPr>
            <p:cNvPr id="1070" name="Straight Connector 1069">
              <a:extLst>
                <a:ext uri="{FF2B5EF4-FFF2-40B4-BE49-F238E27FC236}">
                  <a16:creationId xmlns:a16="http://schemas.microsoft.com/office/drawing/2014/main" id="{C092FB37-F315-2CDC-14B9-331483086948}"/>
                </a:ext>
              </a:extLst>
            </p:cNvPr>
            <p:cNvCxnSpPr/>
            <p:nvPr/>
          </p:nvCxnSpPr>
          <p:spPr>
            <a:xfrm>
              <a:off x="4243020" y="4133437"/>
              <a:ext cx="374588" cy="0"/>
            </a:xfrm>
            <a:prstGeom prst="line">
              <a:avLst/>
            </a:prstGeom>
            <a:noFill/>
            <a:ln w="9525" cap="flat" cmpd="sng" algn="ctr">
              <a:solidFill>
                <a:srgbClr val="000000"/>
              </a:solidFill>
              <a:prstDash val="sysDash"/>
              <a:headEnd type="none" w="med" len="med"/>
              <a:tailEnd type="none" w="med" len="med"/>
            </a:ln>
            <a:effectLst/>
          </p:spPr>
        </p:cxnSp>
        <p:sp>
          <p:nvSpPr>
            <p:cNvPr id="1090" name="TextBox 1089">
              <a:extLst>
                <a:ext uri="{FF2B5EF4-FFF2-40B4-BE49-F238E27FC236}">
                  <a16:creationId xmlns:a16="http://schemas.microsoft.com/office/drawing/2014/main" id="{B26BC670-1F5E-BA30-4D3A-7BB90540C302}"/>
                </a:ext>
              </a:extLst>
            </p:cNvPr>
            <p:cNvSpPr txBox="1"/>
            <p:nvPr/>
          </p:nvSpPr>
          <p:spPr>
            <a:xfrm>
              <a:off x="6363502" y="3437057"/>
              <a:ext cx="728084" cy="230832"/>
            </a:xfrm>
            <a:prstGeom prst="rect">
              <a:avLst/>
            </a:prstGeom>
            <a:noFill/>
          </p:spPr>
          <p:txBody>
            <a:bodyPr wrap="none" rtlCol="0">
              <a:spAutoFit/>
            </a:bodyPr>
            <a:lstStyle/>
            <a:p>
              <a:r>
                <a:rPr lang="en-US" sz="900">
                  <a:latin typeface="72" panose="020B0503030000000003" pitchFamily="34" charset="0"/>
                  <a:cs typeface="72" panose="020B0503030000000003" pitchFamily="34" charset="0"/>
                </a:rPr>
                <a:t>Integration</a:t>
              </a:r>
            </a:p>
          </p:txBody>
        </p:sp>
        <p:sp>
          <p:nvSpPr>
            <p:cNvPr id="13" name="TextBox 12">
              <a:extLst>
                <a:ext uri="{FF2B5EF4-FFF2-40B4-BE49-F238E27FC236}">
                  <a16:creationId xmlns:a16="http://schemas.microsoft.com/office/drawing/2014/main" id="{161731F1-16CE-D323-24A4-72169B8E7B84}"/>
                </a:ext>
              </a:extLst>
            </p:cNvPr>
            <p:cNvSpPr txBox="1"/>
            <p:nvPr/>
          </p:nvSpPr>
          <p:spPr>
            <a:xfrm>
              <a:off x="3540955" y="5040340"/>
              <a:ext cx="5765988" cy="369332"/>
            </a:xfrm>
            <a:prstGeom prst="rect">
              <a:avLst/>
            </a:prstGeom>
            <a:noFill/>
          </p:spPr>
          <p:txBody>
            <a:bodyPr wrap="square">
              <a:sp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IN" sz="1000" b="1" dirty="0">
                  <a:solidFill>
                    <a:srgbClr val="1F2328"/>
                  </a:solidFill>
                  <a:latin typeface="72" panose="020B0503030000000003" pitchFamily="34" charset="0"/>
                  <a:cs typeface="72" panose="020B0503030000000003" pitchFamily="34" charset="0"/>
                </a:rPr>
                <a:t>BO Summarization</a:t>
              </a:r>
              <a:r>
                <a:rPr lang="en-IN" sz="1000" b="1" dirty="0">
                  <a:solidFill>
                    <a:srgbClr val="1F2328"/>
                  </a:solidFill>
                  <a:effectLst/>
                  <a:latin typeface="72" panose="020B0503030000000003" pitchFamily="34" charset="0"/>
                  <a:cs typeface="72" panose="020B0503030000000003" pitchFamily="34" charset="0"/>
                </a:rPr>
                <a:t> application encompasses the domain, service, and UI components dynamically generated from a single config file maintained by the end user</a:t>
              </a:r>
              <a:endParaRPr kumimoji="0" lang="en-GB" sz="1000" b="1" u="none" strike="noStrike" kern="0" cap="none" spc="0" normalizeH="0" baseline="0" noProof="0" dirty="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sp>
          <p:nvSpPr>
            <p:cNvPr id="25" name="Rounded Rectangle 24">
              <a:extLst>
                <a:ext uri="{FF2B5EF4-FFF2-40B4-BE49-F238E27FC236}">
                  <a16:creationId xmlns:a16="http://schemas.microsoft.com/office/drawing/2014/main" id="{4996E920-7F5A-1CA8-D2A6-CFF32587E010}"/>
                </a:ext>
              </a:extLst>
            </p:cNvPr>
            <p:cNvSpPr>
              <a:spLocks/>
            </p:cNvSpPr>
            <p:nvPr/>
          </p:nvSpPr>
          <p:spPr bwMode="auto">
            <a:xfrm>
              <a:off x="5413641" y="3955101"/>
              <a:ext cx="1908000" cy="540000"/>
            </a:xfrm>
            <a:prstGeom prst="roundRect">
              <a:avLst>
                <a:gd name="adj" fmla="val 3201"/>
              </a:avLst>
            </a:prstGeom>
            <a:solidFill>
              <a:srgbClr val="D2EFFF">
                <a:alpha val="50000"/>
              </a:srgbClr>
            </a:soli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GB" sz="1000" kern="0">
                  <a:solidFill>
                    <a:srgbClr val="000000"/>
                  </a:solidFill>
                  <a:latin typeface="72" panose="020B0503030000000003" pitchFamily="34" charset="0"/>
                  <a:ea typeface="Arial Unicode MS" pitchFamily="34" charset="-128"/>
                  <a:cs typeface="72" panose="020B0503030000000003" pitchFamily="34" charset="0"/>
                </a:rPr>
                <a:t>  Summarization (Langchain) </a:t>
              </a:r>
            </a:p>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GB" sz="1000" kern="0">
                  <a:solidFill>
                    <a:srgbClr val="000000"/>
                  </a:solidFill>
                  <a:latin typeface="72" panose="020B0503030000000003" pitchFamily="34" charset="0"/>
                  <a:ea typeface="Arial Unicode MS" pitchFamily="34" charset="-128"/>
                  <a:cs typeface="72" panose="020B0503030000000003" pitchFamily="34" charset="0"/>
                </a:rPr>
                <a:t>Stuff | Map-Reduce | Refine    </a:t>
              </a:r>
              <a:endPar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cxnSp>
          <p:nvCxnSpPr>
            <p:cNvPr id="34" name="Straight Arrow Connector 33">
              <a:extLst>
                <a:ext uri="{FF2B5EF4-FFF2-40B4-BE49-F238E27FC236}">
                  <a16:creationId xmlns:a16="http://schemas.microsoft.com/office/drawing/2014/main" id="{57B7800A-2A3D-0BFD-14F0-0039D2DBD2D1}"/>
                </a:ext>
              </a:extLst>
            </p:cNvPr>
            <p:cNvCxnSpPr>
              <a:cxnSpLocks/>
              <a:stCxn id="22" idx="2"/>
              <a:endCxn id="25" idx="0"/>
            </p:cNvCxnSpPr>
            <p:nvPr/>
          </p:nvCxnSpPr>
          <p:spPr>
            <a:xfrm>
              <a:off x="6361732" y="3339846"/>
              <a:ext cx="5909" cy="615255"/>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sp>
          <p:nvSpPr>
            <p:cNvPr id="36" name="TextBox 35">
              <a:extLst>
                <a:ext uri="{FF2B5EF4-FFF2-40B4-BE49-F238E27FC236}">
                  <a16:creationId xmlns:a16="http://schemas.microsoft.com/office/drawing/2014/main" id="{2818BB5E-6C70-D8E9-5F8F-3DA5D388FA5B}"/>
                </a:ext>
              </a:extLst>
            </p:cNvPr>
            <p:cNvSpPr txBox="1"/>
            <p:nvPr/>
          </p:nvSpPr>
          <p:spPr>
            <a:xfrm>
              <a:off x="881475" y="3847285"/>
              <a:ext cx="2160000" cy="626701"/>
            </a:xfrm>
            <a:prstGeom prst="rect">
              <a:avLst/>
            </a:prstGeom>
            <a:noFill/>
          </p:spPr>
          <p:txBody>
            <a:bodyPr wrap="square" lIns="36000" tIns="36000" rIns="36000" bIns="36000">
              <a:sp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IN" sz="1000">
                  <a:latin typeface="72" panose="020B0503030000000003" pitchFamily="34" charset="0"/>
                  <a:cs typeface="72" panose="020B0503030000000003" pitchFamily="34" charset="0"/>
                </a:rPr>
                <a:t>Identify the API for the required Business Object to configure it’s detail in the config file in order to create the application.</a:t>
              </a:r>
              <a:endPar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sp>
          <p:nvSpPr>
            <p:cNvPr id="38" name="TextBox 37">
              <a:extLst>
                <a:ext uri="{FF2B5EF4-FFF2-40B4-BE49-F238E27FC236}">
                  <a16:creationId xmlns:a16="http://schemas.microsoft.com/office/drawing/2014/main" id="{A37468BB-9CAD-352C-16D9-8112989B42FA}"/>
                </a:ext>
              </a:extLst>
            </p:cNvPr>
            <p:cNvSpPr txBox="1"/>
            <p:nvPr/>
          </p:nvSpPr>
          <p:spPr>
            <a:xfrm>
              <a:off x="9589437" y="3847285"/>
              <a:ext cx="2160000" cy="784830"/>
            </a:xfrm>
            <a:prstGeom prst="rect">
              <a:avLst/>
            </a:prstGeom>
            <a:noFill/>
          </p:spPr>
          <p:txBody>
            <a:bodyPr wrap="square">
              <a:sp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lang="en-IN" sz="1000">
                  <a:latin typeface="72" panose="020B0503030000000003" pitchFamily="34" charset="0"/>
                  <a:cs typeface="72" panose="020B0503030000000003" pitchFamily="34" charset="0"/>
                </a:rPr>
                <a:t>Once the deployment is successful, a group needs to be created and the app's visibility set to view the app tiles on the UI.</a:t>
              </a:r>
              <a:endParaRPr kumimoji="0" lang="en-GB" sz="1000" b="0" i="0" u="none" strike="noStrike" kern="0" cap="none" spc="0" normalizeH="0" baseline="0" noProof="0">
                <a:ln>
                  <a:noFill/>
                </a:ln>
                <a:solidFill>
                  <a:srgbClr val="000000"/>
                </a:solidFill>
                <a:effectLst/>
                <a:uLnTx/>
                <a:uFillTx/>
                <a:latin typeface="72" panose="020B0503030000000003" pitchFamily="34" charset="0"/>
                <a:ea typeface="Arial Unicode MS" pitchFamily="34" charset="-128"/>
                <a:cs typeface="72" panose="020B0503030000000003" pitchFamily="34" charset="0"/>
              </a:endParaRPr>
            </a:p>
          </p:txBody>
        </p:sp>
        <p:pic>
          <p:nvPicPr>
            <p:cNvPr id="3" name="Picture 2">
              <a:extLst>
                <a:ext uri="{FF2B5EF4-FFF2-40B4-BE49-F238E27FC236}">
                  <a16:creationId xmlns:a16="http://schemas.microsoft.com/office/drawing/2014/main" id="{D9BE0398-AA11-7F0A-11EA-7C9D964318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39425" y="1848929"/>
              <a:ext cx="657390"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1230D074-B733-9A13-EBE4-9262CD10210D}"/>
                </a:ext>
              </a:extLst>
            </p:cNvPr>
            <p:cNvCxnSpPr>
              <a:cxnSpLocks/>
              <a:stCxn id="3" idx="2"/>
              <a:endCxn id="11" idx="0"/>
            </p:cNvCxnSpPr>
            <p:nvPr/>
          </p:nvCxnSpPr>
          <p:spPr>
            <a:xfrm>
              <a:off x="10668120" y="2568929"/>
              <a:ext cx="15" cy="168116"/>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sp>
        <p:nvSpPr>
          <p:cNvPr id="10" name="Rounded Rectangle 9">
            <a:extLst>
              <a:ext uri="{FF2B5EF4-FFF2-40B4-BE49-F238E27FC236}">
                <a16:creationId xmlns:a16="http://schemas.microsoft.com/office/drawing/2014/main" id="{CCEFF5B0-9529-8DDE-1444-3C6F8164E211}"/>
              </a:ext>
            </a:extLst>
          </p:cNvPr>
          <p:cNvSpPr>
            <a:spLocks/>
          </p:cNvSpPr>
          <p:nvPr/>
        </p:nvSpPr>
        <p:spPr bwMode="auto">
          <a:xfrm>
            <a:off x="2564404" y="5573449"/>
            <a:ext cx="2160000"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chemeClr val="bg1"/>
                </a:solidFill>
                <a:effectLst/>
                <a:uLnTx/>
                <a:uFillTx/>
                <a:latin typeface="72" panose="020B0503030000000003" pitchFamily="34" charset="0"/>
                <a:ea typeface="Arial Unicode MS" pitchFamily="34" charset="-128"/>
                <a:cs typeface="72" panose="020B0503030000000003" pitchFamily="34" charset="0"/>
              </a:rPr>
              <a:t>Easier Maintenance</a:t>
            </a:r>
          </a:p>
        </p:txBody>
      </p:sp>
      <p:sp>
        <p:nvSpPr>
          <p:cNvPr id="14" name="Rounded Rectangle 13">
            <a:extLst>
              <a:ext uri="{FF2B5EF4-FFF2-40B4-BE49-F238E27FC236}">
                <a16:creationId xmlns:a16="http://schemas.microsoft.com/office/drawing/2014/main" id="{C39A2CB9-9371-F5AA-392C-5D41CA4596A3}"/>
              </a:ext>
            </a:extLst>
          </p:cNvPr>
          <p:cNvSpPr>
            <a:spLocks/>
          </p:cNvSpPr>
          <p:nvPr/>
        </p:nvSpPr>
        <p:spPr bwMode="auto">
          <a:xfrm>
            <a:off x="5023622" y="5572329"/>
            <a:ext cx="2160000"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chemeClr val="bg1"/>
                </a:solidFill>
                <a:effectLst/>
                <a:uLnTx/>
                <a:uFillTx/>
                <a:latin typeface="72" panose="020B0503030000000003" pitchFamily="34" charset="0"/>
                <a:ea typeface="Arial Unicode MS" pitchFamily="34" charset="-128"/>
                <a:cs typeface="72" panose="020B0503030000000003" pitchFamily="34" charset="0"/>
              </a:rPr>
              <a:t>Shared Computing Resources</a:t>
            </a:r>
          </a:p>
        </p:txBody>
      </p:sp>
      <p:sp>
        <p:nvSpPr>
          <p:cNvPr id="16" name="Rounded Rectangle 15">
            <a:extLst>
              <a:ext uri="{FF2B5EF4-FFF2-40B4-BE49-F238E27FC236}">
                <a16:creationId xmlns:a16="http://schemas.microsoft.com/office/drawing/2014/main" id="{F2AD3C4C-028F-E8C9-FAF5-495485DAF70B}"/>
              </a:ext>
            </a:extLst>
          </p:cNvPr>
          <p:cNvSpPr>
            <a:spLocks/>
          </p:cNvSpPr>
          <p:nvPr/>
        </p:nvSpPr>
        <p:spPr bwMode="auto">
          <a:xfrm>
            <a:off x="7482840" y="5572329"/>
            <a:ext cx="2160000" cy="220463"/>
          </a:xfrm>
          <a:prstGeom prst="roundRect">
            <a:avLst>
              <a:gd name="adj" fmla="val 3201"/>
            </a:avLst>
          </a:prstGeom>
          <a:gradFill>
            <a:gsLst>
              <a:gs pos="0">
                <a:srgbClr val="0070F2"/>
              </a:gs>
              <a:gs pos="99000">
                <a:srgbClr val="1048E0"/>
              </a:gs>
            </a:gsLst>
            <a:lin ang="5400000" scaled="1"/>
          </a:gradFill>
          <a:ln w="9525" cap="flat" cmpd="sng" algn="ctr">
            <a:solidFill>
              <a:srgbClr val="006FF2"/>
            </a:solidFill>
            <a:prstDash val="solid"/>
            <a:headEnd type="none" w="med" len="med"/>
            <a:tailEnd type="none" w="med" len="med"/>
          </a:ln>
          <a:effectLst/>
        </p:spPr>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600"/>
              </a:spcAft>
              <a:buClr>
                <a:srgbClr val="0070F2"/>
              </a:buClr>
              <a:buSzTx/>
              <a:buFontTx/>
              <a:buNone/>
              <a:tabLst/>
              <a:defRPr/>
            </a:pPr>
            <a:r>
              <a:rPr kumimoji="0" lang="en-GB" sz="1000" b="0" i="0" u="none" strike="noStrike" kern="0" cap="none" spc="0" normalizeH="0" baseline="0" noProof="0">
                <a:ln>
                  <a:noFill/>
                </a:ln>
                <a:solidFill>
                  <a:schemeClr val="bg1"/>
                </a:solidFill>
                <a:effectLst/>
                <a:uLnTx/>
                <a:uFillTx/>
                <a:latin typeface="72" panose="020B0503030000000003" pitchFamily="34" charset="0"/>
                <a:ea typeface="Arial Unicode MS" pitchFamily="34" charset="-128"/>
                <a:cs typeface="72" panose="020B0503030000000003" pitchFamily="34" charset="0"/>
              </a:rPr>
              <a:t>One Deployment for all</a:t>
            </a:r>
          </a:p>
        </p:txBody>
      </p:sp>
    </p:spTree>
    <p:extLst>
      <p:ext uri="{BB962C8B-B14F-4D97-AF65-F5344CB8AC3E}">
        <p14:creationId xmlns:p14="http://schemas.microsoft.com/office/powerpoint/2010/main" val="418859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
            <a:extLst>
              <a:ext uri="{FF2B5EF4-FFF2-40B4-BE49-F238E27FC236}">
                <a16:creationId xmlns:a16="http://schemas.microsoft.com/office/drawing/2014/main" id="{5B7489C3-D8EE-3FCD-6E41-B1CCB8CE064F}"/>
              </a:ext>
            </a:extLst>
          </p:cNvPr>
          <p:cNvSpPr/>
          <p:nvPr/>
        </p:nvSpPr>
        <p:spPr bwMode="gray">
          <a:xfrm>
            <a:off x="1489588" y="1445256"/>
            <a:ext cx="9514513" cy="4334218"/>
          </a:xfrm>
          <a:prstGeom prst="roundRect">
            <a:avLst>
              <a:gd name="adj" fmla="val 4694"/>
            </a:avLst>
          </a:prstGeom>
          <a:solidFill>
            <a:srgbClr val="D2EFFF"/>
          </a:solidFill>
          <a:ln w="12700" algn="ctr">
            <a:noFill/>
            <a:miter lim="800000"/>
            <a:headEnd/>
            <a:tailEnd/>
          </a:ln>
          <a:effectLst>
            <a:outerShdw blurRad="63500" algn="ctr" rotWithShape="0">
              <a:prstClr val="black">
                <a:alpha val="20000"/>
              </a:prstClr>
            </a:outerShdw>
          </a:effectLst>
        </p:spPr>
        <p:txBody>
          <a:bodyPr lIns="89931" tIns="71943" rIns="89931" bIns="71943" rtlCol="0" anchor="ctr"/>
          <a:lstStyle/>
          <a:p>
            <a:pPr defTabSz="913578" eaLnBrk="0" fontAlgn="base" hangingPunct="0">
              <a:spcBef>
                <a:spcPct val="50000"/>
              </a:spcBef>
              <a:spcAft>
                <a:spcPct val="0"/>
              </a:spcAft>
              <a:defRPr/>
            </a:pPr>
            <a:endParaRPr lang="en-US" sz="1600" b="1" kern="0">
              <a:solidFill>
                <a:srgbClr val="000000"/>
              </a:solidFill>
              <a:latin typeface="Segoe UI" panose="020B0502040204020203" pitchFamily="34" charset="0"/>
              <a:ea typeface="Arial Unicode MS" pitchFamily="34" charset="-128"/>
              <a:cs typeface="Arial Unicode MS" pitchFamily="34" charset="-128"/>
            </a:endParaRPr>
          </a:p>
        </p:txBody>
      </p:sp>
      <p:sp>
        <p:nvSpPr>
          <p:cNvPr id="24" name="TextBox 23">
            <a:extLst>
              <a:ext uri="{FF2B5EF4-FFF2-40B4-BE49-F238E27FC236}">
                <a16:creationId xmlns:a16="http://schemas.microsoft.com/office/drawing/2014/main" id="{45BE7294-ECA3-456C-A286-69E32D606371}"/>
              </a:ext>
            </a:extLst>
          </p:cNvPr>
          <p:cNvSpPr txBox="1"/>
          <p:nvPr/>
        </p:nvSpPr>
        <p:spPr>
          <a:xfrm>
            <a:off x="640051" y="3434079"/>
            <a:ext cx="4140208" cy="269094"/>
          </a:xfrm>
          <a:prstGeom prst="rect">
            <a:avLst/>
          </a:prstGeom>
          <a:noFill/>
        </p:spPr>
        <p:txBody>
          <a:bodyPr wrap="square" lIns="0" tIns="0" rIns="0" bIns="0" rtlCol="0" anchor="t">
            <a:spAutoFit/>
          </a:bodyPr>
          <a:lstStyle/>
          <a:p>
            <a:pPr defTabSz="912539" eaLnBrk="0" fontAlgn="base" hangingPunct="0">
              <a:spcBef>
                <a:spcPts val="1795"/>
              </a:spcBef>
              <a:spcAft>
                <a:spcPct val="0"/>
              </a:spcAft>
              <a:buClr>
                <a:srgbClr val="F0AB00"/>
              </a:buClr>
              <a:buSzPct val="80000"/>
              <a:defRPr/>
            </a:pPr>
            <a:endParaRPr lang="en-US" sz="1747" b="1" kern="0">
              <a:solidFill>
                <a:srgbClr val="0070F2"/>
              </a:solidFill>
              <a:latin typeface="Segoe UI" panose="020B0502040204020203" pitchFamily="34" charset="0"/>
              <a:ea typeface="Arial Unicode MS"/>
              <a:cs typeface="Arial"/>
            </a:endParaRPr>
          </a:p>
        </p:txBody>
      </p:sp>
      <p:sp>
        <p:nvSpPr>
          <p:cNvPr id="26" name="TextBox 25">
            <a:extLst>
              <a:ext uri="{FF2B5EF4-FFF2-40B4-BE49-F238E27FC236}">
                <a16:creationId xmlns:a16="http://schemas.microsoft.com/office/drawing/2014/main" id="{1B25511A-71CB-5F68-2B5B-A2828BEF7B66}"/>
              </a:ext>
            </a:extLst>
          </p:cNvPr>
          <p:cNvSpPr txBox="1"/>
          <p:nvPr/>
        </p:nvSpPr>
        <p:spPr>
          <a:xfrm>
            <a:off x="6560239" y="1445256"/>
            <a:ext cx="65" cy="307408"/>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912539" eaLnBrk="0" fontAlgn="base" hangingPunct="0">
              <a:spcBef>
                <a:spcPct val="0"/>
              </a:spcBef>
              <a:spcAft>
                <a:spcPct val="0"/>
              </a:spcAft>
              <a:defRPr/>
            </a:pPr>
            <a:endParaRPr lang="en-GB" sz="1997">
              <a:solidFill>
                <a:srgbClr val="000000"/>
              </a:solidFill>
              <a:latin typeface="72" panose="020B0503030000000003" pitchFamily="34" charset="0"/>
              <a:cs typeface="72" panose="020B0503030000000003" pitchFamily="34" charset="0"/>
            </a:endParaRPr>
          </a:p>
        </p:txBody>
      </p:sp>
      <p:sp>
        <p:nvSpPr>
          <p:cNvPr id="27" name="TextBox 26">
            <a:extLst>
              <a:ext uri="{FF2B5EF4-FFF2-40B4-BE49-F238E27FC236}">
                <a16:creationId xmlns:a16="http://schemas.microsoft.com/office/drawing/2014/main" id="{5182857D-722F-D3E4-3121-0D7A414E9BB6}"/>
              </a:ext>
            </a:extLst>
          </p:cNvPr>
          <p:cNvSpPr txBox="1"/>
          <p:nvPr/>
        </p:nvSpPr>
        <p:spPr>
          <a:xfrm>
            <a:off x="405432" y="6039379"/>
            <a:ext cx="65" cy="307408"/>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912539" eaLnBrk="0" fontAlgn="base" hangingPunct="0">
              <a:spcBef>
                <a:spcPct val="0"/>
              </a:spcBef>
              <a:spcAft>
                <a:spcPct val="0"/>
              </a:spcAft>
              <a:defRPr/>
            </a:pPr>
            <a:endParaRPr lang="en-GB" sz="1997">
              <a:solidFill>
                <a:srgbClr val="000000"/>
              </a:solidFill>
              <a:latin typeface="72" panose="020B0503030000000003" pitchFamily="34" charset="0"/>
              <a:cs typeface="72" panose="020B0503030000000003" pitchFamily="34" charset="0"/>
            </a:endParaRPr>
          </a:p>
        </p:txBody>
      </p:sp>
      <p:sp>
        <p:nvSpPr>
          <p:cNvPr id="28" name="TextBox 27">
            <a:extLst>
              <a:ext uri="{FF2B5EF4-FFF2-40B4-BE49-F238E27FC236}">
                <a16:creationId xmlns:a16="http://schemas.microsoft.com/office/drawing/2014/main" id="{16DFC2F6-4D1D-EEB4-7AB6-D1C7F84EBFED}"/>
              </a:ext>
            </a:extLst>
          </p:cNvPr>
          <p:cNvSpPr txBox="1"/>
          <p:nvPr/>
        </p:nvSpPr>
        <p:spPr>
          <a:xfrm>
            <a:off x="1273603" y="263823"/>
            <a:ext cx="65" cy="307408"/>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912539" eaLnBrk="0" fontAlgn="base" hangingPunct="0">
              <a:spcBef>
                <a:spcPct val="0"/>
              </a:spcBef>
              <a:spcAft>
                <a:spcPct val="0"/>
              </a:spcAft>
              <a:defRPr/>
            </a:pPr>
            <a:endParaRPr lang="en-GB" sz="1997">
              <a:solidFill>
                <a:srgbClr val="000000"/>
              </a:solidFill>
              <a:latin typeface="72" panose="020B0503030000000003" pitchFamily="34" charset="0"/>
              <a:cs typeface="72" panose="020B0503030000000003" pitchFamily="34" charset="0"/>
            </a:endParaRPr>
          </a:p>
        </p:txBody>
      </p:sp>
      <p:sp>
        <p:nvSpPr>
          <p:cNvPr id="29" name="TextBox 28">
            <a:extLst>
              <a:ext uri="{FF2B5EF4-FFF2-40B4-BE49-F238E27FC236}">
                <a16:creationId xmlns:a16="http://schemas.microsoft.com/office/drawing/2014/main" id="{AA95FBCD-1F5A-5292-E6EB-8DD249BB98C1}"/>
              </a:ext>
            </a:extLst>
          </p:cNvPr>
          <p:cNvSpPr txBox="1"/>
          <p:nvPr/>
        </p:nvSpPr>
        <p:spPr>
          <a:xfrm>
            <a:off x="1009028" y="2773558"/>
            <a:ext cx="65" cy="307408"/>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912539" eaLnBrk="0" fontAlgn="base" hangingPunct="0">
              <a:spcBef>
                <a:spcPct val="0"/>
              </a:spcBef>
              <a:spcAft>
                <a:spcPct val="0"/>
              </a:spcAft>
              <a:defRPr/>
            </a:pPr>
            <a:endParaRPr lang="en-GB" sz="1997">
              <a:solidFill>
                <a:srgbClr val="000000"/>
              </a:solidFill>
              <a:latin typeface="72" panose="020B0503030000000003" pitchFamily="34" charset="0"/>
              <a:cs typeface="72" panose="020B0503030000000003" pitchFamily="34" charset="0"/>
            </a:endParaRPr>
          </a:p>
        </p:txBody>
      </p:sp>
      <p:pic>
        <p:nvPicPr>
          <p:cNvPr id="33" name="Picture 32">
            <a:extLst>
              <a:ext uri="{FF2B5EF4-FFF2-40B4-BE49-F238E27FC236}">
                <a16:creationId xmlns:a16="http://schemas.microsoft.com/office/drawing/2014/main" id="{FEFFF558-AE2D-0B5E-4C02-0740430A5427}"/>
              </a:ext>
            </a:extLst>
          </p:cNvPr>
          <p:cNvPicPr>
            <a:picLocks noChangeAspect="1"/>
          </p:cNvPicPr>
          <p:nvPr/>
        </p:nvPicPr>
        <p:blipFill>
          <a:blip r:embed="rId2"/>
          <a:stretch>
            <a:fillRect/>
          </a:stretch>
        </p:blipFill>
        <p:spPr>
          <a:xfrm>
            <a:off x="1858630" y="1594336"/>
            <a:ext cx="8693303" cy="4119140"/>
          </a:xfrm>
          <a:prstGeom prst="rect">
            <a:avLst/>
          </a:prstGeom>
        </p:spPr>
      </p:pic>
      <p:sp>
        <p:nvSpPr>
          <p:cNvPr id="8" name="Rounded Rectangle 7">
            <a:extLst>
              <a:ext uri="{FF2B5EF4-FFF2-40B4-BE49-F238E27FC236}">
                <a16:creationId xmlns:a16="http://schemas.microsoft.com/office/drawing/2014/main" id="{6D55D4C5-CE0D-5A8E-A2AC-C8510F24A5E2}"/>
              </a:ext>
            </a:extLst>
          </p:cNvPr>
          <p:cNvSpPr>
            <a:spLocks/>
          </p:cNvSpPr>
          <p:nvPr/>
        </p:nvSpPr>
        <p:spPr bwMode="auto">
          <a:xfrm>
            <a:off x="817992" y="5974638"/>
            <a:ext cx="2520000" cy="468000"/>
          </a:xfrm>
          <a:prstGeom prst="roundRect">
            <a:avLst>
              <a:gd name="adj" fmla="val 3201"/>
            </a:avLst>
          </a:prstGeom>
          <a:gradFill flip="none" rotWithShape="1">
            <a:gsLst>
              <a:gs pos="0">
                <a:srgbClr val="0070F2"/>
              </a:gs>
              <a:gs pos="99000">
                <a:srgbClr val="0070F2">
                  <a:lumMod val="75000"/>
                </a:srgbClr>
              </a:gs>
            </a:gsLst>
            <a:lin ang="5400000" scaled="1"/>
            <a:tileRect/>
          </a:gradFill>
          <a:ln w="10000" cap="flat" cmpd="sng" algn="ctr">
            <a:no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32192" eaLnBrk="1" fontAlgn="base" latinLnBrk="0" hangingPunct="1">
              <a:lnSpc>
                <a:spcPct val="90000"/>
              </a:lnSpc>
              <a:spcBef>
                <a:spcPct val="0"/>
              </a:spcBef>
              <a:spcAft>
                <a:spcPts val="600"/>
              </a:spcAft>
              <a:buClr>
                <a:srgbClr val="0070F2"/>
              </a:buClr>
              <a:buSzTx/>
              <a:buFontTx/>
              <a:buNone/>
              <a:tabLst/>
              <a:defRPr/>
            </a:pPr>
            <a:r>
              <a:rPr kumimoji="0" lang="en-GB" sz="1050" b="0" i="0" u="none" strike="noStrike" kern="0" cap="none" spc="0" normalizeH="0" baseline="0" noProof="0">
                <a:ln>
                  <a:noFill/>
                </a:ln>
                <a:solidFill>
                  <a:srgbClr val="FFFFFF"/>
                </a:solidFill>
                <a:effectLst/>
                <a:uLnTx/>
                <a:uFillTx/>
                <a:latin typeface="72 Brand" panose="020B0504030603020204" pitchFamily="34" charset="0"/>
                <a:ea typeface="Arial Unicode MS" pitchFamily="34" charset="-128"/>
                <a:cs typeface="72 Black" panose="020B0503030000000003" pitchFamily="34" charset="0"/>
              </a:rPr>
              <a:t>Cloud Application Programming model ensures efficiency, scalability &amp; security</a:t>
            </a:r>
          </a:p>
        </p:txBody>
      </p:sp>
      <p:sp>
        <p:nvSpPr>
          <p:cNvPr id="9" name="Rounded Rectangle 8">
            <a:extLst>
              <a:ext uri="{FF2B5EF4-FFF2-40B4-BE49-F238E27FC236}">
                <a16:creationId xmlns:a16="http://schemas.microsoft.com/office/drawing/2014/main" id="{444E0ADE-40EF-CD30-B48A-3476838EE70B}"/>
              </a:ext>
            </a:extLst>
          </p:cNvPr>
          <p:cNvSpPr>
            <a:spLocks/>
          </p:cNvSpPr>
          <p:nvPr/>
        </p:nvSpPr>
        <p:spPr bwMode="auto">
          <a:xfrm>
            <a:off x="3590928" y="5974638"/>
            <a:ext cx="2610000" cy="468000"/>
          </a:xfrm>
          <a:prstGeom prst="roundRect">
            <a:avLst>
              <a:gd name="adj" fmla="val 3201"/>
            </a:avLst>
          </a:prstGeom>
          <a:gradFill flip="none" rotWithShape="1">
            <a:gsLst>
              <a:gs pos="0">
                <a:srgbClr val="0070F2"/>
              </a:gs>
              <a:gs pos="99000">
                <a:srgbClr val="0070F2">
                  <a:lumMod val="75000"/>
                </a:srgbClr>
              </a:gs>
            </a:gsLst>
            <a:lin ang="5400000" scaled="1"/>
            <a:tileRect/>
          </a:gradFill>
          <a:ln w="10000" cap="flat" cmpd="sng" algn="ctr">
            <a:no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32192" eaLnBrk="1" fontAlgn="base" latinLnBrk="0" hangingPunct="1">
              <a:lnSpc>
                <a:spcPct val="90000"/>
              </a:lnSpc>
              <a:spcBef>
                <a:spcPct val="0"/>
              </a:spcBef>
              <a:spcAft>
                <a:spcPts val="600"/>
              </a:spcAft>
              <a:buClr>
                <a:srgbClr val="0070F2"/>
              </a:buClr>
              <a:buSzTx/>
              <a:buFontTx/>
              <a:buNone/>
              <a:tabLst/>
              <a:defRPr/>
            </a:pPr>
            <a:r>
              <a:rPr kumimoji="0" lang="en-GB" sz="1050" b="0" i="0" u="none" strike="noStrike" kern="0" cap="none" spc="0" normalizeH="0" baseline="0" noProof="0">
                <a:ln>
                  <a:noFill/>
                </a:ln>
                <a:solidFill>
                  <a:srgbClr val="FFFFFF"/>
                </a:solidFill>
                <a:effectLst/>
                <a:uLnTx/>
                <a:uFillTx/>
                <a:latin typeface="72 Brand" panose="020B0504030603020204" pitchFamily="34" charset="0"/>
                <a:ea typeface="Arial Unicode MS" pitchFamily="34" charset="-128"/>
                <a:cs typeface="72 Black" panose="020B0503030000000003" pitchFamily="34" charset="0"/>
              </a:rPr>
              <a:t>SAP HANA Cloud Vector Engine stores embeddings &amp; has similarity search</a:t>
            </a:r>
          </a:p>
        </p:txBody>
      </p:sp>
      <p:sp>
        <p:nvSpPr>
          <p:cNvPr id="10" name="Rounded Rectangle 9">
            <a:extLst>
              <a:ext uri="{FF2B5EF4-FFF2-40B4-BE49-F238E27FC236}">
                <a16:creationId xmlns:a16="http://schemas.microsoft.com/office/drawing/2014/main" id="{EB73D1E5-775E-9148-8358-96B28D798218}"/>
              </a:ext>
            </a:extLst>
          </p:cNvPr>
          <p:cNvSpPr>
            <a:spLocks/>
          </p:cNvSpPr>
          <p:nvPr/>
        </p:nvSpPr>
        <p:spPr bwMode="auto">
          <a:xfrm>
            <a:off x="6453072" y="5974638"/>
            <a:ext cx="2340000" cy="504000"/>
          </a:xfrm>
          <a:prstGeom prst="roundRect">
            <a:avLst>
              <a:gd name="adj" fmla="val 3201"/>
            </a:avLst>
          </a:prstGeom>
          <a:gradFill flip="none" rotWithShape="1">
            <a:gsLst>
              <a:gs pos="0">
                <a:srgbClr val="0070F2"/>
              </a:gs>
              <a:gs pos="99000">
                <a:srgbClr val="0070F2">
                  <a:lumMod val="75000"/>
                </a:srgbClr>
              </a:gs>
            </a:gsLst>
            <a:lin ang="5400000" scaled="1"/>
            <a:tileRect/>
          </a:gradFill>
          <a:ln w="10000" cap="flat" cmpd="sng" algn="ctr">
            <a:no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32192" eaLnBrk="1" fontAlgn="base" latinLnBrk="0" hangingPunct="1">
              <a:lnSpc>
                <a:spcPct val="90000"/>
              </a:lnSpc>
              <a:spcBef>
                <a:spcPct val="0"/>
              </a:spcBef>
              <a:spcAft>
                <a:spcPts val="1200"/>
              </a:spcAft>
              <a:buClr>
                <a:srgbClr val="0070F2"/>
              </a:buClr>
              <a:buSzTx/>
              <a:buFontTx/>
              <a:buNone/>
              <a:tabLst/>
              <a:defRPr/>
            </a:pPr>
            <a:r>
              <a:rPr kumimoji="0" lang="en-GB" sz="1050" b="0" i="0" u="none" strike="noStrike" kern="0" cap="none" spc="0" normalizeH="0" baseline="0" noProof="0">
                <a:ln>
                  <a:noFill/>
                </a:ln>
                <a:solidFill>
                  <a:srgbClr val="FFFFFF"/>
                </a:solidFill>
                <a:effectLst/>
                <a:uLnTx/>
                <a:uFillTx/>
                <a:latin typeface="72 Brand" panose="020B0504030603020204" pitchFamily="34" charset="0"/>
                <a:ea typeface="Arial Unicode MS" pitchFamily="34" charset="-128"/>
                <a:cs typeface="72 Black" panose="020B0503030000000003" pitchFamily="34" charset="0"/>
              </a:rPr>
              <a:t>SAP GenAI Hub provides safe and reliable access to catalogue of LLMs</a:t>
            </a:r>
          </a:p>
        </p:txBody>
      </p:sp>
      <p:sp>
        <p:nvSpPr>
          <p:cNvPr id="11" name="Rounded Rectangle 10">
            <a:extLst>
              <a:ext uri="{FF2B5EF4-FFF2-40B4-BE49-F238E27FC236}">
                <a16:creationId xmlns:a16="http://schemas.microsoft.com/office/drawing/2014/main" id="{BDB15726-7C69-45B6-76F4-3653470A5811}"/>
              </a:ext>
            </a:extLst>
          </p:cNvPr>
          <p:cNvSpPr>
            <a:spLocks/>
          </p:cNvSpPr>
          <p:nvPr/>
        </p:nvSpPr>
        <p:spPr bwMode="auto">
          <a:xfrm>
            <a:off x="9013993" y="5974638"/>
            <a:ext cx="2610000" cy="504000"/>
          </a:xfrm>
          <a:prstGeom prst="roundRect">
            <a:avLst>
              <a:gd name="adj" fmla="val 3201"/>
            </a:avLst>
          </a:prstGeom>
          <a:gradFill flip="none" rotWithShape="1">
            <a:gsLst>
              <a:gs pos="0">
                <a:srgbClr val="0070F2"/>
              </a:gs>
              <a:gs pos="99000">
                <a:srgbClr val="0070F2">
                  <a:lumMod val="75000"/>
                </a:srgbClr>
              </a:gs>
            </a:gsLst>
            <a:lin ang="5400000" scaled="1"/>
            <a:tileRect/>
          </a:gradFill>
          <a:ln w="10000" cap="flat" cmpd="sng" algn="ctr">
            <a:no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32192" eaLnBrk="1" fontAlgn="base" latinLnBrk="0" hangingPunct="1">
              <a:lnSpc>
                <a:spcPct val="90000"/>
              </a:lnSpc>
              <a:spcBef>
                <a:spcPct val="0"/>
              </a:spcBef>
              <a:spcAft>
                <a:spcPts val="600"/>
              </a:spcAft>
              <a:buClr>
                <a:srgbClr val="0070F2"/>
              </a:buClr>
              <a:buSzTx/>
              <a:buFontTx/>
              <a:buNone/>
              <a:tabLst/>
              <a:defRPr/>
            </a:pPr>
            <a:r>
              <a:rPr kumimoji="0" lang="en-GB" sz="1050" b="0" i="0" u="none" strike="noStrike" kern="0" cap="none" spc="0" normalizeH="0" baseline="0" noProof="0">
                <a:ln>
                  <a:noFill/>
                </a:ln>
                <a:solidFill>
                  <a:srgbClr val="FFFFFF"/>
                </a:solidFill>
                <a:effectLst/>
                <a:uLnTx/>
                <a:uFillTx/>
                <a:latin typeface="72 Brand" panose="020B0504030603020204" pitchFamily="34" charset="0"/>
                <a:ea typeface="Arial Unicode MS" pitchFamily="34" charset="-128"/>
                <a:cs typeface="72 Black" panose="020B0503030000000003" pitchFamily="34" charset="0"/>
              </a:rPr>
              <a:t>Multi tenancy allows to run multi-app orchestration wo replication of resources</a:t>
            </a:r>
          </a:p>
        </p:txBody>
      </p:sp>
      <p:pic>
        <p:nvPicPr>
          <p:cNvPr id="4" name="Picture Placeholder 11">
            <a:extLst>
              <a:ext uri="{FF2B5EF4-FFF2-40B4-BE49-F238E27FC236}">
                <a16:creationId xmlns:a16="http://schemas.microsoft.com/office/drawing/2014/main" id="{88111E5B-3364-C6D0-4F65-7FE7E5759E05}"/>
              </a:ext>
            </a:extLst>
          </p:cNvPr>
          <p:cNvPicPr>
            <a:picLocks noChangeAspect="1"/>
          </p:cNvPicPr>
          <p:nvPr/>
        </p:nvPicPr>
        <p:blipFill rotWithShape="1">
          <a:blip r:embed="rId3"/>
          <a:srcRect l="6995" t="66530" r="23124" b="30001"/>
          <a:stretch/>
        </p:blipFill>
        <p:spPr bwMode="black">
          <a:xfrm>
            <a:off x="600" y="6588907"/>
            <a:ext cx="12192000" cy="269094"/>
          </a:xfrm>
          <a:prstGeom prst="rect">
            <a:avLst/>
          </a:prstGeom>
        </p:spPr>
      </p:pic>
      <p:sp>
        <p:nvSpPr>
          <p:cNvPr id="2" name="Freeform 1">
            <a:extLst>
              <a:ext uri="{FF2B5EF4-FFF2-40B4-BE49-F238E27FC236}">
                <a16:creationId xmlns:a16="http://schemas.microsoft.com/office/drawing/2014/main" id="{53D91C2A-E5EC-69AF-E2C5-E59880C5372A}"/>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5" name="TextBox 4">
            <a:extLst>
              <a:ext uri="{FF2B5EF4-FFF2-40B4-BE49-F238E27FC236}">
                <a16:creationId xmlns:a16="http://schemas.microsoft.com/office/drawing/2014/main" id="{EEAEECF8-85AF-DE67-05FA-29717B0690FC}"/>
              </a:ext>
            </a:extLst>
          </p:cNvPr>
          <p:cNvSpPr txBox="1"/>
          <p:nvPr/>
        </p:nvSpPr>
        <p:spPr>
          <a:xfrm>
            <a:off x="568007" y="633165"/>
            <a:ext cx="2135521"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Architecture</a:t>
            </a:r>
          </a:p>
        </p:txBody>
      </p:sp>
    </p:spTree>
    <p:extLst>
      <p:ext uri="{BB962C8B-B14F-4D97-AF65-F5344CB8AC3E}">
        <p14:creationId xmlns:p14="http://schemas.microsoft.com/office/powerpoint/2010/main" val="100382159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50"/>
                                        <p:tgtEl>
                                          <p:spTgt spid="8"/>
                                        </p:tgtEl>
                                      </p:cBhvr>
                                    </p:animEffect>
                                  </p:childTnLst>
                                </p:cTn>
                              </p:par>
                            </p:childTnLst>
                          </p:cTn>
                        </p:par>
                        <p:par>
                          <p:cTn id="8" fill="hold">
                            <p:stCondLst>
                              <p:cond delay="750"/>
                            </p:stCondLst>
                            <p:childTnLst>
                              <p:par>
                                <p:cTn id="9" presetID="22" presetClass="entr" presetSubtype="8"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750"/>
                                        <p:tgtEl>
                                          <p:spTgt spid="9"/>
                                        </p:tgtEl>
                                      </p:cBhvr>
                                    </p:animEffect>
                                  </p:childTnLst>
                                </p:cTn>
                              </p:par>
                            </p:childTnLst>
                          </p:cTn>
                        </p:par>
                        <p:par>
                          <p:cTn id="12" fill="hold">
                            <p:stCondLst>
                              <p:cond delay="2000"/>
                            </p:stCondLst>
                            <p:childTnLst>
                              <p:par>
                                <p:cTn id="13" presetID="22" presetClass="entr" presetSubtype="8" fill="hold" grpId="0" nodeType="after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50"/>
                                        <p:tgtEl>
                                          <p:spTgt spid="10"/>
                                        </p:tgtEl>
                                      </p:cBhvr>
                                    </p:animEffect>
                                  </p:childTnLst>
                                </p:cTn>
                              </p:par>
                            </p:childTnLst>
                          </p:cTn>
                        </p:par>
                        <p:par>
                          <p:cTn id="16" fill="hold">
                            <p:stCondLst>
                              <p:cond delay="3250"/>
                            </p:stCondLst>
                            <p:childTnLst>
                              <p:par>
                                <p:cTn id="17" presetID="22" presetClass="entr" presetSubtype="8" fill="hold" grpId="0" nodeType="after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910608"/>
            <a:ext cx="7692367" cy="2497890"/>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4" y="3535240"/>
            <a:ext cx="7498305" cy="787313"/>
          </a:xfrm>
          <a:prstGeom prst="roundRect">
            <a:avLst>
              <a:gd name="adj" fmla="val 10257"/>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6" y="2725417"/>
            <a:ext cx="7498305" cy="703583"/>
          </a:xfrm>
          <a:prstGeom prst="roundRect">
            <a:avLst>
              <a:gd name="adj" fmla="val 6889"/>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6" y="1980346"/>
            <a:ext cx="7498303" cy="651313"/>
          </a:xfrm>
          <a:prstGeom prst="roundRect">
            <a:avLst>
              <a:gd name="adj" fmla="val 10257"/>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3786597" y="3693938"/>
            <a:ext cx="1126912"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14" name="TextBox 13">
            <a:extLst>
              <a:ext uri="{FF2B5EF4-FFF2-40B4-BE49-F238E27FC236}">
                <a16:creationId xmlns:a16="http://schemas.microsoft.com/office/drawing/2014/main" id="{4D90A748-2E8F-0675-1498-B2EC5D483D88}"/>
              </a:ext>
            </a:extLst>
          </p:cNvPr>
          <p:cNvSpPr txBox="1"/>
          <p:nvPr/>
        </p:nvSpPr>
        <p:spPr>
          <a:xfrm>
            <a:off x="3272766" y="2832551"/>
            <a:ext cx="2204130"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3746453" y="2095171"/>
            <a:ext cx="1146931" cy="430887"/>
          </a:xfrm>
          <a:prstGeom prst="rect">
            <a:avLst/>
          </a:prstGeom>
          <a:noFill/>
        </p:spPr>
        <p:txBody>
          <a:bodyPr wrap="square" lIns="0" tIns="0" rIns="0" bIns="0" rtlCol="0">
            <a:spAutoFit/>
          </a:bodyPr>
          <a:lstStyle/>
          <a:p>
            <a:pPr algn="ctr" defTabSz="914126">
              <a:defRPr/>
            </a:pPr>
            <a:r>
              <a:rPr lang="en-US" sz="2800" b="1">
                <a:solidFill>
                  <a:srgbClr val="000000"/>
                </a:solidFill>
                <a:latin typeface="72 Brand" panose="020B0504030603020204" pitchFamily="34" charset="0"/>
                <a:cs typeface="72 Bold" panose="020B0803030000000003" pitchFamily="34" charset="0"/>
              </a:rPr>
              <a:t>Stuff</a:t>
            </a:r>
            <a:endParaRPr lang="en-US" sz="1600" b="1">
              <a:solidFill>
                <a:srgbClr val="000000"/>
              </a:solidFill>
              <a:latin typeface="72 Brand" panose="020B0504030603020204" pitchFamily="34" charset="0"/>
              <a:cs typeface="72 Bold" panose="020B0803030000000003" pitchFamily="34" charset="0"/>
            </a:endParaRPr>
          </a:p>
        </p:txBody>
      </p:sp>
      <p:grpSp>
        <p:nvGrpSpPr>
          <p:cNvPr id="45" name="Group 44">
            <a:extLst>
              <a:ext uri="{FF2B5EF4-FFF2-40B4-BE49-F238E27FC236}">
                <a16:creationId xmlns:a16="http://schemas.microsoft.com/office/drawing/2014/main" id="{BA7209BC-3289-5943-F07E-486946F7A1C8}"/>
              </a:ext>
            </a:extLst>
          </p:cNvPr>
          <p:cNvGrpSpPr/>
          <p:nvPr/>
        </p:nvGrpSpPr>
        <p:grpSpPr>
          <a:xfrm>
            <a:off x="8573822" y="1846115"/>
            <a:ext cx="3221393" cy="864703"/>
            <a:chOff x="8576054" y="1701689"/>
            <a:chExt cx="3222232" cy="864929"/>
          </a:xfrm>
        </p:grpSpPr>
        <p:sp>
          <p:nvSpPr>
            <p:cNvPr id="24" name="Rectangle 23">
              <a:extLst>
                <a:ext uri="{FF2B5EF4-FFF2-40B4-BE49-F238E27FC236}">
                  <a16:creationId xmlns:a16="http://schemas.microsoft.com/office/drawing/2014/main" id="{D58AAA28-73AA-E40E-52DF-BB4CC9282A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Stuff</a:t>
              </a:r>
            </a:p>
          </p:txBody>
        </p:sp>
        <p:sp>
          <p:nvSpPr>
            <p:cNvPr id="26" name="Rectangle 25">
              <a:extLst>
                <a:ext uri="{FF2B5EF4-FFF2-40B4-BE49-F238E27FC236}">
                  <a16:creationId xmlns:a16="http://schemas.microsoft.com/office/drawing/2014/main" id="{066B3A3A-4637-8783-3FDA-892DD1EDB7C0}"/>
                </a:ext>
              </a:extLst>
            </p:cNvPr>
            <p:cNvSpPr/>
            <p:nvPr/>
          </p:nvSpPr>
          <p:spPr bwMode="auto">
            <a:xfrm>
              <a:off x="8581982" y="2012475"/>
              <a:ext cx="3216304" cy="5541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IN" sz="1200" kern="0">
                  <a:solidFill>
                    <a:srgbClr val="000000"/>
                  </a:solidFill>
                  <a:latin typeface="72 Brand Light" panose="020B0304030603020204" pitchFamily="34" charset="0"/>
                  <a:ea typeface="Arial Unicode MS"/>
                  <a:cs typeface="Arial"/>
                </a:rPr>
                <a:t>The Stuff method </a:t>
              </a:r>
              <a:r>
                <a:rPr lang="en-IN" sz="1200" b="1" kern="0">
                  <a:solidFill>
                    <a:srgbClr val="000000"/>
                  </a:solidFill>
                  <a:latin typeface="72" panose="020B0503030000000003" pitchFamily="34" charset="0"/>
                  <a:ea typeface="Arial Unicode MS"/>
                  <a:cs typeface="72" panose="020B0503030000000003" pitchFamily="34" charset="0"/>
                </a:rPr>
                <a:t>handles </a:t>
              </a:r>
              <a:r>
                <a:rPr lang="en-IN" sz="1200" b="0" i="0">
                  <a:solidFill>
                    <a:schemeClr val="tx1"/>
                  </a:solidFill>
                  <a:effectLst/>
                  <a:highlight>
                    <a:srgbClr val="FFFFFF"/>
                  </a:highlight>
                  <a:latin typeface="72 Brand" panose="020B0504030603020204" pitchFamily="34" charset="0"/>
                </a:rPr>
                <a:t>list of documents, insert them all into a </a:t>
              </a:r>
              <a:r>
                <a:rPr lang="en-IN" sz="1200" b="1" i="0">
                  <a:solidFill>
                    <a:schemeClr val="tx1"/>
                  </a:solidFill>
                  <a:effectLst/>
                  <a:highlight>
                    <a:srgbClr val="FFFFFF"/>
                  </a:highlight>
                  <a:latin typeface="72 Brand" panose="020B0504030603020204" pitchFamily="34" charset="0"/>
                </a:rPr>
                <a:t>prompt</a:t>
              </a:r>
              <a:r>
                <a:rPr lang="en-IN" sz="1200" b="0" i="0">
                  <a:solidFill>
                    <a:schemeClr val="tx1"/>
                  </a:solidFill>
                  <a:effectLst/>
                  <a:highlight>
                    <a:srgbClr val="FFFFFF"/>
                  </a:highlight>
                  <a:latin typeface="72 Brand" panose="020B0504030603020204" pitchFamily="34" charset="0"/>
                </a:rPr>
                <a:t>, and pass that prompt to an </a:t>
              </a:r>
              <a:r>
                <a:rPr lang="en-IN" sz="1200" b="1" i="0">
                  <a:solidFill>
                    <a:schemeClr val="tx1"/>
                  </a:solidFill>
                  <a:effectLst/>
                  <a:highlight>
                    <a:srgbClr val="FFFFFF"/>
                  </a:highlight>
                  <a:latin typeface="72 Brand" panose="020B0504030603020204" pitchFamily="34" charset="0"/>
                </a:rPr>
                <a:t>LLM for summarization</a:t>
              </a:r>
              <a:r>
                <a:rPr lang="en-IN" sz="1200" b="0" i="0">
                  <a:solidFill>
                    <a:schemeClr val="tx1"/>
                  </a:solidFill>
                  <a:effectLst/>
                  <a:highlight>
                    <a:srgbClr val="FFFFFF"/>
                  </a:highlight>
                  <a:latin typeface="72 Brand" panose="020B0504030603020204" pitchFamily="34" charset="0"/>
                </a:rPr>
                <a:t>.</a:t>
              </a:r>
              <a:endParaRPr lang="en-IN" sz="1200" kern="0">
                <a:solidFill>
                  <a:schemeClr val="tx1"/>
                </a:solidFill>
                <a:latin typeface="72 Brand" panose="020B0504030603020204" pitchFamily="34" charset="0"/>
                <a:ea typeface="Arial Unicode MS"/>
                <a:cs typeface="Arial"/>
              </a:endParaRPr>
            </a:p>
          </p:txBody>
        </p:sp>
      </p:grpSp>
      <p:grpSp>
        <p:nvGrpSpPr>
          <p:cNvPr id="55" name="Group 54">
            <a:extLst>
              <a:ext uri="{FF2B5EF4-FFF2-40B4-BE49-F238E27FC236}">
                <a16:creationId xmlns:a16="http://schemas.microsoft.com/office/drawing/2014/main" id="{0A04EAA5-7948-4FC3-6DAE-7528D0C57E52}"/>
              </a:ext>
            </a:extLst>
          </p:cNvPr>
          <p:cNvGrpSpPr/>
          <p:nvPr/>
        </p:nvGrpSpPr>
        <p:grpSpPr>
          <a:xfrm>
            <a:off x="8573822" y="3075456"/>
            <a:ext cx="3221393" cy="1049369"/>
            <a:chOff x="8576054" y="1701689"/>
            <a:chExt cx="3222232" cy="1049642"/>
          </a:xfrm>
        </p:grpSpPr>
        <p:sp>
          <p:nvSpPr>
            <p:cNvPr id="56" name="Rectangle 55">
              <a:extLst>
                <a:ext uri="{FF2B5EF4-FFF2-40B4-BE49-F238E27FC236}">
                  <a16:creationId xmlns:a16="http://schemas.microsoft.com/office/drawing/2014/main" id="{72528495-C74B-5642-2013-F84154294938}"/>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Map-Reduce</a:t>
              </a:r>
            </a:p>
          </p:txBody>
        </p:sp>
        <p:sp>
          <p:nvSpPr>
            <p:cNvPr id="59" name="Rectangle 58">
              <a:extLst>
                <a:ext uri="{FF2B5EF4-FFF2-40B4-BE49-F238E27FC236}">
                  <a16:creationId xmlns:a16="http://schemas.microsoft.com/office/drawing/2014/main" id="{D9604D83-3D78-AC90-C8B5-A5C77D231169}"/>
                </a:ext>
              </a:extLst>
            </p:cNvPr>
            <p:cNvSpPr/>
            <p:nvPr/>
          </p:nvSpPr>
          <p:spPr bwMode="auto">
            <a:xfrm>
              <a:off x="8581982" y="2012475"/>
              <a:ext cx="3216304" cy="73885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kern="0">
                  <a:solidFill>
                    <a:srgbClr val="000000"/>
                  </a:solidFill>
                  <a:latin typeface="72 Brand Light" panose="020B0304030603020204" pitchFamily="34" charset="0"/>
                  <a:ea typeface="Arial Unicode MS"/>
                  <a:cs typeface="Arial"/>
                </a:rPr>
                <a:t>The Map-Reduce method </a:t>
              </a:r>
              <a:r>
                <a:rPr lang="en-IN" sz="1200" b="1" kern="0">
                  <a:solidFill>
                    <a:srgbClr val="000000"/>
                  </a:solidFill>
                  <a:latin typeface="72" panose="020B0503030000000003" pitchFamily="34" charset="0"/>
                  <a:ea typeface="Arial Unicode MS"/>
                  <a:cs typeface="72" panose="020B0503030000000003" pitchFamily="34" charset="0"/>
                </a:rPr>
                <a:t>divides the document </a:t>
              </a:r>
              <a:r>
                <a:rPr lang="en-IN" sz="1200" kern="0">
                  <a:solidFill>
                    <a:srgbClr val="000000"/>
                  </a:solidFill>
                  <a:latin typeface="72 Brand Light" panose="020B0304030603020204" pitchFamily="34" charset="0"/>
                  <a:ea typeface="Arial Unicode MS"/>
                  <a:cs typeface="Arial"/>
                </a:rPr>
                <a:t>into chunks and </a:t>
              </a:r>
              <a:r>
                <a:rPr lang="en-IN" sz="1200" b="1" kern="0">
                  <a:solidFill>
                    <a:srgbClr val="000000"/>
                  </a:solidFill>
                  <a:latin typeface="72" panose="020B0503030000000003" pitchFamily="34" charset="0"/>
                  <a:ea typeface="Arial Unicode MS"/>
                  <a:cs typeface="72" panose="020B0503030000000003" pitchFamily="34" charset="0"/>
                </a:rPr>
                <a:t>each chunk is summarized</a:t>
              </a:r>
              <a:r>
                <a:rPr lang="en-IN" sz="1200" kern="0">
                  <a:solidFill>
                    <a:srgbClr val="000000"/>
                  </a:solidFill>
                  <a:latin typeface="72 Brand Light" panose="020B0304030603020204" pitchFamily="34" charset="0"/>
                  <a:ea typeface="Arial Unicode MS"/>
                  <a:cs typeface="Arial"/>
                </a:rPr>
                <a:t> (map step). Then, these summaries are </a:t>
              </a:r>
              <a:r>
                <a:rPr lang="en-IN" sz="1200" kern="0">
                  <a:solidFill>
                    <a:srgbClr val="000000"/>
                  </a:solidFill>
                  <a:latin typeface="72 Brand Light" panose="020B0304030603020204" pitchFamily="34" charset="0"/>
                  <a:ea typeface="Arial Unicode MS"/>
                  <a:cs typeface="72" panose="020B0503030000000003" pitchFamily="34" charset="0"/>
                </a:rPr>
                <a:t>combined into a final summary </a:t>
              </a:r>
              <a:r>
                <a:rPr lang="en-IN" sz="1200" kern="0">
                  <a:solidFill>
                    <a:srgbClr val="000000"/>
                  </a:solidFill>
                  <a:latin typeface="72 Brand Light" panose="020B0304030603020204" pitchFamily="34" charset="0"/>
                  <a:ea typeface="Arial Unicode MS"/>
                  <a:cs typeface="Arial"/>
                </a:rPr>
                <a:t>(reduce step). </a:t>
              </a:r>
              <a:endParaRPr lang="en-US" sz="1200" kern="0">
                <a:solidFill>
                  <a:srgbClr val="000000"/>
                </a:solidFill>
                <a:latin typeface="72 Brand Light" panose="020B0304030603020204" pitchFamily="34" charset="0"/>
                <a:ea typeface="Arial Unicode MS"/>
                <a:cs typeface="Arial"/>
              </a:endParaRPr>
            </a:p>
          </p:txBody>
        </p:sp>
      </p:grpSp>
      <p:grpSp>
        <p:nvGrpSpPr>
          <p:cNvPr id="60" name="Group 59">
            <a:extLst>
              <a:ext uri="{FF2B5EF4-FFF2-40B4-BE49-F238E27FC236}">
                <a16:creationId xmlns:a16="http://schemas.microsoft.com/office/drawing/2014/main" id="{61305565-54BA-516B-CE22-A542B2D5B416}"/>
              </a:ext>
            </a:extLst>
          </p:cNvPr>
          <p:cNvGrpSpPr/>
          <p:nvPr/>
        </p:nvGrpSpPr>
        <p:grpSpPr>
          <a:xfrm>
            <a:off x="8573821" y="4512137"/>
            <a:ext cx="3221394" cy="1234036"/>
            <a:chOff x="8576054" y="1701689"/>
            <a:chExt cx="3222233" cy="1234357"/>
          </a:xfrm>
        </p:grpSpPr>
        <p:sp>
          <p:nvSpPr>
            <p:cNvPr id="61" name="Rectangle 60">
              <a:extLst>
                <a:ext uri="{FF2B5EF4-FFF2-40B4-BE49-F238E27FC236}">
                  <a16:creationId xmlns:a16="http://schemas.microsoft.com/office/drawing/2014/main" id="{9C763651-021A-637C-8C23-7C929414DDB0}"/>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Refine</a:t>
              </a:r>
            </a:p>
          </p:txBody>
        </p:sp>
        <p:sp>
          <p:nvSpPr>
            <p:cNvPr id="62" name="Rectangle 61">
              <a:extLst>
                <a:ext uri="{FF2B5EF4-FFF2-40B4-BE49-F238E27FC236}">
                  <a16:creationId xmlns:a16="http://schemas.microsoft.com/office/drawing/2014/main" id="{9E9FDFDF-C103-3B8B-2689-FD8E79DD7C63}"/>
                </a:ext>
              </a:extLst>
            </p:cNvPr>
            <p:cNvSpPr/>
            <p:nvPr/>
          </p:nvSpPr>
          <p:spPr bwMode="auto">
            <a:xfrm>
              <a:off x="8581983" y="2012476"/>
              <a:ext cx="3216304" cy="9235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b="0" i="0">
                  <a:solidFill>
                    <a:schemeClr val="tx1"/>
                  </a:solidFill>
                  <a:effectLst/>
                  <a:highlight>
                    <a:srgbClr val="FFFFFF"/>
                  </a:highlight>
                  <a:latin typeface="72 Brand" panose="020B0504030603020204" pitchFamily="34" charset="0"/>
                </a:rPr>
                <a:t>The chain updates a </a:t>
              </a:r>
              <a:r>
                <a:rPr lang="en-IN" sz="1200" b="1" i="0">
                  <a:solidFill>
                    <a:schemeClr val="tx1"/>
                  </a:solidFill>
                  <a:effectLst/>
                  <a:highlight>
                    <a:srgbClr val="FFFFFF"/>
                  </a:highlight>
                  <a:latin typeface="72 Brand" panose="020B0504030603020204" pitchFamily="34" charset="0"/>
                </a:rPr>
                <a:t>rolling summary by iterating over the documents in a sequence</a:t>
              </a:r>
              <a:r>
                <a:rPr lang="en-IN" sz="1200" b="0" i="0">
                  <a:solidFill>
                    <a:schemeClr val="tx1"/>
                  </a:solidFill>
                  <a:effectLst/>
                  <a:highlight>
                    <a:srgbClr val="FFFFFF"/>
                  </a:highlight>
                  <a:latin typeface="72 Brand" panose="020B0504030603020204" pitchFamily="34" charset="0"/>
                </a:rPr>
                <a:t>. In each iteration, the current document and the previously generated summary are passed as prompt for summarization.</a:t>
              </a:r>
              <a:endParaRPr lang="en-US" sz="1200" kern="0">
                <a:solidFill>
                  <a:schemeClr val="tx1"/>
                </a:solidFill>
                <a:latin typeface="72 Brand" panose="020B0504030603020204" pitchFamily="34" charset="0"/>
                <a:ea typeface="Arial Unicode MS"/>
                <a:cs typeface="Arial"/>
              </a:endParaRPr>
            </a:p>
          </p:txBody>
        </p:sp>
      </p:grpSp>
      <p:sp>
        <p:nvSpPr>
          <p:cNvPr id="2" name="Freeform 1">
            <a:extLst>
              <a:ext uri="{FF2B5EF4-FFF2-40B4-BE49-F238E27FC236}">
                <a16:creationId xmlns:a16="http://schemas.microsoft.com/office/drawing/2014/main" id="{7A06309A-BF1C-8568-DE5E-F802FC7771BA}"/>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1E580499-4DBB-29AD-1BA7-25381C7BC751}"/>
              </a:ext>
            </a:extLst>
          </p:cNvPr>
          <p:cNvSpPr txBox="1"/>
          <p:nvPr/>
        </p:nvSpPr>
        <p:spPr>
          <a:xfrm>
            <a:off x="568007" y="633165"/>
            <a:ext cx="6107762" cy="598177"/>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Summarization Chain &amp; its Techniques</a:t>
            </a:r>
          </a:p>
        </p:txBody>
      </p:sp>
      <p:pic>
        <p:nvPicPr>
          <p:cNvPr id="12" name="Picture Placeholder 11">
            <a:extLst>
              <a:ext uri="{FF2B5EF4-FFF2-40B4-BE49-F238E27FC236}">
                <a16:creationId xmlns:a16="http://schemas.microsoft.com/office/drawing/2014/main" id="{420B0717-9BE8-C275-9EA4-347FF993DB66}"/>
              </a:ext>
            </a:extLst>
          </p:cNvPr>
          <p:cNvPicPr>
            <a:picLocks noChangeAspect="1"/>
          </p:cNvPicPr>
          <p:nvPr/>
        </p:nvPicPr>
        <p:blipFill rotWithShape="1">
          <a:blip r:embed="rId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4134739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B692FA4-80A3-FADF-0B7A-2927B358D29D}"/>
              </a:ext>
            </a:extLst>
          </p:cNvPr>
          <p:cNvSpPr/>
          <p:nvPr/>
        </p:nvSpPr>
        <p:spPr bwMode="gray">
          <a:xfrm>
            <a:off x="7587735" y="893"/>
            <a:ext cx="4604267" cy="6856215"/>
          </a:xfrm>
          <a:prstGeom prst="rect">
            <a:avLst/>
          </a:prstGeom>
          <a:solidFill>
            <a:schemeClr val="bg2">
              <a:lumMod val="20000"/>
              <a:lumOff val="80000"/>
              <a:alpha val="26192"/>
            </a:schemeClr>
          </a:solidFill>
          <a:ln w="254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9946" indent="-179946" defTabSz="914126" fontAlgn="base">
              <a:spcAft>
                <a:spcPts val="600"/>
              </a:spcAft>
              <a:buSzPct val="80000"/>
              <a:buFont typeface="Wingdings" panose="05000000000000000000" pitchFamily="2" charset="2"/>
              <a:buChar char="§"/>
            </a:pPr>
            <a:endParaRPr lang="en-DE" sz="1400" kern="0">
              <a:solidFill>
                <a:srgbClr val="000000"/>
              </a:solidFill>
              <a:latin typeface="72 Brand"/>
              <a:ea typeface="Arial Unicode MS" pitchFamily="34" charset="-128"/>
              <a:cs typeface="Arial Unicode MS" pitchFamily="34" charset="-128"/>
            </a:endParaRPr>
          </a:p>
        </p:txBody>
      </p:sp>
      <p:sp>
        <p:nvSpPr>
          <p:cNvPr id="7" name="Freeform 6">
            <a:extLst>
              <a:ext uri="{FF2B5EF4-FFF2-40B4-BE49-F238E27FC236}">
                <a16:creationId xmlns:a16="http://schemas.microsoft.com/office/drawing/2014/main" id="{A49DBE70-1845-07AA-F4AF-1F15D81F6340}"/>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44" name="Title 25">
            <a:extLst>
              <a:ext uri="{FF2B5EF4-FFF2-40B4-BE49-F238E27FC236}">
                <a16:creationId xmlns:a16="http://schemas.microsoft.com/office/drawing/2014/main" id="{31941D1A-CCC3-ED3E-CCA3-00458840B95B}"/>
              </a:ext>
            </a:extLst>
          </p:cNvPr>
          <p:cNvSpPr txBox="1">
            <a:spLocks/>
          </p:cNvSpPr>
          <p:nvPr/>
        </p:nvSpPr>
        <p:spPr bwMode="black">
          <a:xfrm>
            <a:off x="503870" y="504762"/>
            <a:ext cx="11183564" cy="584623"/>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defTabSz="1088231">
              <a:defRPr/>
            </a:pPr>
            <a:r>
              <a:rPr lang="en-US" sz="1400" b="1" spc="-20">
                <a:gradFill flip="none" rotWithShape="1">
                  <a:gsLst>
                    <a:gs pos="0">
                      <a:srgbClr val="0070F2"/>
                    </a:gs>
                    <a:gs pos="100000">
                      <a:srgbClr val="0070F2">
                        <a:lumMod val="75000"/>
                      </a:srgbClr>
                    </a:gs>
                  </a:gsLst>
                  <a:lin ang="0" scaled="1"/>
                  <a:tileRect/>
                </a:gradFill>
                <a:latin typeface="72" panose="020B0503030000000003" pitchFamily="34" charset="0"/>
                <a:cs typeface="72" panose="020B0503030000000003" pitchFamily="34" charset="0"/>
              </a:rPr>
              <a:t>Summarization Chain &amp; its Techniques</a:t>
            </a:r>
          </a:p>
          <a:p>
            <a:pPr defTabSz="1088231">
              <a:defRPr/>
            </a:pPr>
            <a:r>
              <a:rPr lang="en-US" sz="2399">
                <a:solidFill>
                  <a:srgbClr val="000000"/>
                </a:solidFill>
              </a:rPr>
              <a:t>Stuff Chain is the simplest way to start summarizing</a:t>
            </a:r>
          </a:p>
        </p:txBody>
      </p:sp>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511943"/>
            <a:ext cx="7692367" cy="4592131"/>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5" y="5873190"/>
            <a:ext cx="7498304" cy="172755"/>
          </a:xfrm>
          <a:prstGeom prst="roundRect">
            <a:avLst>
              <a:gd name="adj" fmla="val 25923"/>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7" y="1757820"/>
            <a:ext cx="7498302" cy="3839173"/>
          </a:xfrm>
          <a:prstGeom prst="roundRect">
            <a:avLst>
              <a:gd name="adj" fmla="val 1323"/>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4230286" y="5913413"/>
            <a:ext cx="240451" cy="92333"/>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grpSp>
        <p:nvGrpSpPr>
          <p:cNvPr id="31" name="Group 30">
            <a:extLst>
              <a:ext uri="{FF2B5EF4-FFF2-40B4-BE49-F238E27FC236}">
                <a16:creationId xmlns:a16="http://schemas.microsoft.com/office/drawing/2014/main" id="{5449FAB3-FA1E-BEDF-CDBF-40FFA8C74CED}"/>
              </a:ext>
            </a:extLst>
          </p:cNvPr>
          <p:cNvGrpSpPr/>
          <p:nvPr/>
        </p:nvGrpSpPr>
        <p:grpSpPr>
          <a:xfrm>
            <a:off x="8573822" y="1846115"/>
            <a:ext cx="3221393" cy="864702"/>
            <a:chOff x="8576054" y="1701689"/>
            <a:chExt cx="3222232" cy="864928"/>
          </a:xfrm>
        </p:grpSpPr>
        <p:sp>
          <p:nvSpPr>
            <p:cNvPr id="32" name="Rectangle 31">
              <a:extLst>
                <a:ext uri="{FF2B5EF4-FFF2-40B4-BE49-F238E27FC236}">
                  <a16:creationId xmlns:a16="http://schemas.microsoft.com/office/drawing/2014/main" id="{D892C263-C0EC-96C4-1680-8AF0DB87F945}"/>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Straightforward Approach</a:t>
              </a:r>
            </a:p>
          </p:txBody>
        </p:sp>
        <p:sp>
          <p:nvSpPr>
            <p:cNvPr id="33" name="Rectangle 32">
              <a:extLst>
                <a:ext uri="{FF2B5EF4-FFF2-40B4-BE49-F238E27FC236}">
                  <a16:creationId xmlns:a16="http://schemas.microsoft.com/office/drawing/2014/main" id="{B52C9831-917F-33A8-2CEF-64A0DB958105}"/>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Stuff is a straightforward approach where we </a:t>
              </a:r>
              <a:r>
                <a:rPr lang="en-US" sz="1200" b="1" kern="0">
                  <a:solidFill>
                    <a:srgbClr val="000000"/>
                  </a:solidFill>
                  <a:latin typeface="72 Brand" panose="020B0504030603020204" pitchFamily="34" charset="0"/>
                  <a:ea typeface="Arial Unicode MS"/>
                  <a:cs typeface="Arial"/>
                </a:rPr>
                <a:t>include all the data given in the prompt </a:t>
              </a:r>
              <a:r>
                <a:rPr lang="en-US" sz="1200" kern="0">
                  <a:solidFill>
                    <a:srgbClr val="000000"/>
                  </a:solidFill>
                  <a:latin typeface="72 Brand Light" panose="020B0304030603020204" pitchFamily="34" charset="0"/>
                  <a:ea typeface="Arial Unicode MS"/>
                  <a:cs typeface="Arial"/>
                </a:rPr>
                <a:t>to be passed as context to the language model.</a:t>
              </a:r>
            </a:p>
          </p:txBody>
        </p:sp>
      </p:grpSp>
      <p:grpSp>
        <p:nvGrpSpPr>
          <p:cNvPr id="34" name="Group 33">
            <a:extLst>
              <a:ext uri="{FF2B5EF4-FFF2-40B4-BE49-F238E27FC236}">
                <a16:creationId xmlns:a16="http://schemas.microsoft.com/office/drawing/2014/main" id="{BB19BC8A-0689-0206-EC66-636BE240D038}"/>
              </a:ext>
            </a:extLst>
          </p:cNvPr>
          <p:cNvGrpSpPr/>
          <p:nvPr/>
        </p:nvGrpSpPr>
        <p:grpSpPr>
          <a:xfrm>
            <a:off x="8573822" y="2995812"/>
            <a:ext cx="3221393" cy="864702"/>
            <a:chOff x="8576054" y="1701689"/>
            <a:chExt cx="3222232" cy="864928"/>
          </a:xfrm>
        </p:grpSpPr>
        <p:sp>
          <p:nvSpPr>
            <p:cNvPr id="35" name="Rectangle 34">
              <a:extLst>
                <a:ext uri="{FF2B5EF4-FFF2-40B4-BE49-F238E27FC236}">
                  <a16:creationId xmlns:a16="http://schemas.microsoft.com/office/drawing/2014/main" id="{99DCB3BA-33C4-FEBB-0348-2CB9CA96B4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Simple Usage</a:t>
              </a:r>
            </a:p>
          </p:txBody>
        </p:sp>
        <p:sp>
          <p:nvSpPr>
            <p:cNvPr id="36" name="Rectangle 35">
              <a:extLst>
                <a:ext uri="{FF2B5EF4-FFF2-40B4-BE49-F238E27FC236}">
                  <a16:creationId xmlns:a16="http://schemas.microsoft.com/office/drawing/2014/main" id="{0FED1BCE-28BF-C59E-6833-B242714EA9DE}"/>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You only need to </a:t>
              </a:r>
              <a:r>
                <a:rPr lang="en-US" sz="1200" b="1" kern="0">
                  <a:solidFill>
                    <a:srgbClr val="000000"/>
                  </a:solidFill>
                  <a:latin typeface="72 Brand" panose="020B0504030603020204" pitchFamily="34" charset="0"/>
                  <a:ea typeface="Arial Unicode MS"/>
                  <a:cs typeface="Arial"/>
                </a:rPr>
                <a:t>make a single call to the LLM </a:t>
              </a:r>
              <a:r>
                <a:rPr lang="en-US" sz="1200" kern="0">
                  <a:solidFill>
                    <a:srgbClr val="000000"/>
                  </a:solidFill>
                  <a:latin typeface="72 Brand Light" panose="020B0304030603020204" pitchFamily="34" charset="0"/>
                  <a:ea typeface="Arial Unicode MS"/>
                  <a:cs typeface="Arial"/>
                </a:rPr>
                <a:t>as the LLM has access to all the data at once.</a:t>
              </a:r>
              <a:endParaRPr lang="en-US" sz="1200" kern="0">
                <a:solidFill>
                  <a:srgbClr val="000000"/>
                </a:solidFill>
                <a:latin typeface="72 Brand Medium" panose="020B0504030603020204" pitchFamily="34" charset="0"/>
                <a:ea typeface="Arial Unicode MS"/>
                <a:cs typeface="Arial"/>
              </a:endParaRPr>
            </a:p>
          </p:txBody>
        </p:sp>
      </p:grpSp>
      <p:grpSp>
        <p:nvGrpSpPr>
          <p:cNvPr id="37" name="Group 36">
            <a:extLst>
              <a:ext uri="{FF2B5EF4-FFF2-40B4-BE49-F238E27FC236}">
                <a16:creationId xmlns:a16="http://schemas.microsoft.com/office/drawing/2014/main" id="{0BA44DDE-C4B0-B388-8ECC-62FF4A2F0F08}"/>
              </a:ext>
            </a:extLst>
          </p:cNvPr>
          <p:cNvGrpSpPr/>
          <p:nvPr/>
        </p:nvGrpSpPr>
        <p:grpSpPr>
          <a:xfrm>
            <a:off x="8573821" y="4129000"/>
            <a:ext cx="3221394" cy="864760"/>
            <a:chOff x="8576053" y="1701631"/>
            <a:chExt cx="3222233" cy="864986"/>
          </a:xfrm>
        </p:grpSpPr>
        <p:sp>
          <p:nvSpPr>
            <p:cNvPr id="39" name="Rectangle 38">
              <a:extLst>
                <a:ext uri="{FF2B5EF4-FFF2-40B4-BE49-F238E27FC236}">
                  <a16:creationId xmlns:a16="http://schemas.microsoft.com/office/drawing/2014/main" id="{D8F7C607-07C9-8F37-653C-B9AD77900CF4}"/>
                </a:ext>
              </a:extLst>
            </p:cNvPr>
            <p:cNvSpPr/>
            <p:nvPr/>
          </p:nvSpPr>
          <p:spPr bwMode="auto">
            <a:xfrm>
              <a:off x="8576053" y="1701631"/>
              <a:ext cx="2907150" cy="2216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Not good for large documents</a:t>
              </a:r>
            </a:p>
          </p:txBody>
        </p:sp>
        <p:sp>
          <p:nvSpPr>
            <p:cNvPr id="66" name="Rectangle 65">
              <a:extLst>
                <a:ext uri="{FF2B5EF4-FFF2-40B4-BE49-F238E27FC236}">
                  <a16:creationId xmlns:a16="http://schemas.microsoft.com/office/drawing/2014/main" id="{F53618A9-0C3D-ADF3-9E92-2BC2DC657505}"/>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Most LLMs have a maximum context length, and for large docs or many docs, this approach becomes impractical. </a:t>
              </a:r>
            </a:p>
          </p:txBody>
        </p:sp>
      </p:grpSp>
      <p:grpSp>
        <p:nvGrpSpPr>
          <p:cNvPr id="24" name="Group 23">
            <a:extLst>
              <a:ext uri="{FF2B5EF4-FFF2-40B4-BE49-F238E27FC236}">
                <a16:creationId xmlns:a16="http://schemas.microsoft.com/office/drawing/2014/main" id="{3AC9FAA7-6C39-8D78-3B24-BE29B46A9BBA}"/>
              </a:ext>
            </a:extLst>
          </p:cNvPr>
          <p:cNvGrpSpPr/>
          <p:nvPr/>
        </p:nvGrpSpPr>
        <p:grpSpPr>
          <a:xfrm>
            <a:off x="600898" y="5648715"/>
            <a:ext cx="7498304" cy="172755"/>
            <a:chOff x="601973" y="1971275"/>
            <a:chExt cx="7500257" cy="172800"/>
          </a:xfrm>
        </p:grpSpPr>
        <p:sp>
          <p:nvSpPr>
            <p:cNvPr id="11" name="Rectangle: Rounded Corners 84">
              <a:extLst>
                <a:ext uri="{FF2B5EF4-FFF2-40B4-BE49-F238E27FC236}">
                  <a16:creationId xmlns:a16="http://schemas.microsoft.com/office/drawing/2014/main" id="{600F9CDA-2423-B792-214A-6C80036E77B9}"/>
                </a:ext>
              </a:extLst>
            </p:cNvPr>
            <p:cNvSpPr/>
            <p:nvPr/>
          </p:nvSpPr>
          <p:spPr bwMode="auto">
            <a:xfrm>
              <a:off x="601973" y="1971275"/>
              <a:ext cx="7500257" cy="172800"/>
            </a:xfrm>
            <a:prstGeom prst="roundRect">
              <a:avLst>
                <a:gd name="adj" fmla="val 22994"/>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19" name="TextBox 18">
              <a:extLst>
                <a:ext uri="{FF2B5EF4-FFF2-40B4-BE49-F238E27FC236}">
                  <a16:creationId xmlns:a16="http://schemas.microsoft.com/office/drawing/2014/main" id="{23221688-7F9E-FB7D-F9F8-416D37F0AA45}"/>
                </a:ext>
              </a:extLst>
            </p:cNvPr>
            <p:cNvSpPr txBox="1"/>
            <p:nvPr/>
          </p:nvSpPr>
          <p:spPr>
            <a:xfrm>
              <a:off x="4205185" y="2008438"/>
              <a:ext cx="469802" cy="92357"/>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grpSp>
      <p:grpSp>
        <p:nvGrpSpPr>
          <p:cNvPr id="42" name="Group 41">
            <a:extLst>
              <a:ext uri="{FF2B5EF4-FFF2-40B4-BE49-F238E27FC236}">
                <a16:creationId xmlns:a16="http://schemas.microsoft.com/office/drawing/2014/main" id="{C14777BE-730B-49F4-08D5-AD404C54A5E9}"/>
              </a:ext>
            </a:extLst>
          </p:cNvPr>
          <p:cNvGrpSpPr/>
          <p:nvPr/>
        </p:nvGrpSpPr>
        <p:grpSpPr>
          <a:xfrm>
            <a:off x="3359190" y="1856406"/>
            <a:ext cx="1687963" cy="434689"/>
            <a:chOff x="3536220" y="2070337"/>
            <a:chExt cx="1688400" cy="434802"/>
          </a:xfrm>
        </p:grpSpPr>
        <p:sp>
          <p:nvSpPr>
            <p:cNvPr id="25" name="TextBox 24">
              <a:extLst>
                <a:ext uri="{FF2B5EF4-FFF2-40B4-BE49-F238E27FC236}">
                  <a16:creationId xmlns:a16="http://schemas.microsoft.com/office/drawing/2014/main" id="{58DB7E57-D447-9315-271E-EA49D09FA866}"/>
                </a:ext>
              </a:extLst>
            </p:cNvPr>
            <p:cNvSpPr txBox="1"/>
            <p:nvPr/>
          </p:nvSpPr>
          <p:spPr>
            <a:xfrm>
              <a:off x="3536220" y="2335818"/>
              <a:ext cx="1688400" cy="169321"/>
            </a:xfrm>
            <a:prstGeom prst="rect">
              <a:avLst/>
            </a:prstGeom>
            <a:noFill/>
          </p:spPr>
          <p:txBody>
            <a:bodyPr wrap="none" lIns="0" tIns="0" rIns="0" bIns="0" rtlCol="0" anchor="ctr">
              <a:spAutoFit/>
            </a:bodyPr>
            <a:lstStyle/>
            <a:p>
              <a:pPr algn="ctr" defTabSz="914126">
                <a:defRPr/>
              </a:pPr>
              <a:r>
                <a:rPr lang="en-US" sz="1100">
                  <a:gradFill>
                    <a:gsLst>
                      <a:gs pos="0">
                        <a:prstClr val="black"/>
                      </a:gs>
                      <a:gs pos="100000">
                        <a:prstClr val="black"/>
                      </a:gs>
                    </a:gsLst>
                    <a:lin ang="0" scaled="1"/>
                  </a:gradFill>
                  <a:latin typeface="72 Brand" panose="020B0504030603020204" pitchFamily="34" charset="0"/>
                  <a:cs typeface="72" panose="020B0503030000000003" pitchFamily="34" charset="0"/>
                </a:rPr>
                <a:t>A simple way to summarize</a:t>
              </a:r>
            </a:p>
          </p:txBody>
        </p:sp>
        <p:sp>
          <p:nvSpPr>
            <p:cNvPr id="26" name="TextBox 25">
              <a:extLst>
                <a:ext uri="{FF2B5EF4-FFF2-40B4-BE49-F238E27FC236}">
                  <a16:creationId xmlns:a16="http://schemas.microsoft.com/office/drawing/2014/main" id="{27B93051-0325-F750-EA0B-73310B083964}"/>
                </a:ext>
              </a:extLst>
            </p:cNvPr>
            <p:cNvSpPr txBox="1"/>
            <p:nvPr/>
          </p:nvSpPr>
          <p:spPr>
            <a:xfrm>
              <a:off x="4202600" y="2070337"/>
              <a:ext cx="482630" cy="246286"/>
            </a:xfrm>
            <a:prstGeom prst="rect">
              <a:avLst/>
            </a:prstGeom>
            <a:noFill/>
          </p:spPr>
          <p:txBody>
            <a:bodyPr wrap="none" lIns="0" tIns="0" rIns="0" bIns="0" rtlCol="0">
              <a:spAutoFit/>
            </a:bodyPr>
            <a:lstStyle/>
            <a:p>
              <a:pPr algn="ctr" defTabSz="914126">
                <a:defRPr/>
              </a:pPr>
              <a:r>
                <a:rPr lang="en-US" sz="1600" b="1">
                  <a:solidFill>
                    <a:srgbClr val="000000"/>
                  </a:solidFill>
                  <a:latin typeface="72 Brand" panose="020B0504030603020204" pitchFamily="34" charset="0"/>
                  <a:cs typeface="72 Bold" panose="020B0803030000000003" pitchFamily="34" charset="0"/>
                </a:rPr>
                <a:t>Stuff</a:t>
              </a:r>
            </a:p>
          </p:txBody>
        </p:sp>
      </p:grpSp>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8" name="Rectangle: Rounded Corners 78">
            <a:extLst>
              <a:ext uri="{FF2B5EF4-FFF2-40B4-BE49-F238E27FC236}">
                <a16:creationId xmlns:a16="http://schemas.microsoft.com/office/drawing/2014/main" id="{AFC749BD-125A-BAEF-7F7B-B27863770B92}"/>
              </a:ext>
            </a:extLst>
          </p:cNvPr>
          <p:cNvSpPr/>
          <p:nvPr/>
        </p:nvSpPr>
        <p:spPr bwMode="auto">
          <a:xfrm>
            <a:off x="595848" y="5644080"/>
            <a:ext cx="7498304" cy="172755"/>
          </a:xfrm>
          <a:prstGeom prst="roundRect">
            <a:avLst>
              <a:gd name="adj" fmla="val 25923"/>
            </a:avLst>
          </a:prstGeom>
          <a:solidFill>
            <a:schemeClr val="bg1">
              <a:alpha val="74000"/>
            </a:schemeClr>
          </a:soli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12" name="Rectangle: Rounded Corners 78">
            <a:extLst>
              <a:ext uri="{FF2B5EF4-FFF2-40B4-BE49-F238E27FC236}">
                <a16:creationId xmlns:a16="http://schemas.microsoft.com/office/drawing/2014/main" id="{F1A13051-A910-C008-4D1B-0A1D58D2996D}"/>
              </a:ext>
            </a:extLst>
          </p:cNvPr>
          <p:cNvSpPr/>
          <p:nvPr/>
        </p:nvSpPr>
        <p:spPr bwMode="auto">
          <a:xfrm>
            <a:off x="596856" y="5872327"/>
            <a:ext cx="7531143" cy="172755"/>
          </a:xfrm>
          <a:prstGeom prst="roundRect">
            <a:avLst>
              <a:gd name="adj" fmla="val 25923"/>
            </a:avLst>
          </a:prstGeom>
          <a:solidFill>
            <a:schemeClr val="bg1">
              <a:alpha val="74000"/>
            </a:schemeClr>
          </a:soli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grpSp>
        <p:nvGrpSpPr>
          <p:cNvPr id="100" name="Group 99">
            <a:extLst>
              <a:ext uri="{FF2B5EF4-FFF2-40B4-BE49-F238E27FC236}">
                <a16:creationId xmlns:a16="http://schemas.microsoft.com/office/drawing/2014/main" id="{12B32AFC-99B0-B3CE-AB7E-2D17AD16BDA3}"/>
              </a:ext>
            </a:extLst>
          </p:cNvPr>
          <p:cNvGrpSpPr/>
          <p:nvPr/>
        </p:nvGrpSpPr>
        <p:grpSpPr>
          <a:xfrm>
            <a:off x="2707794" y="3429001"/>
            <a:ext cx="1437280" cy="921598"/>
            <a:chOff x="2707794" y="3302600"/>
            <a:chExt cx="1437280" cy="1349509"/>
          </a:xfrm>
        </p:grpSpPr>
        <p:sp>
          <p:nvSpPr>
            <p:cNvPr id="46" name="Rectangle: Rounded Corners 3">
              <a:extLst>
                <a:ext uri="{FF2B5EF4-FFF2-40B4-BE49-F238E27FC236}">
                  <a16:creationId xmlns:a16="http://schemas.microsoft.com/office/drawing/2014/main" id="{9BE87123-1AA4-7C47-7F33-132296C97694}"/>
                </a:ext>
              </a:extLst>
            </p:cNvPr>
            <p:cNvSpPr/>
            <p:nvPr/>
          </p:nvSpPr>
          <p:spPr bwMode="auto">
            <a:xfrm flipH="1">
              <a:off x="2707794" y="3302600"/>
              <a:ext cx="1437280" cy="1349509"/>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49" name="Rectangle 48">
              <a:extLst>
                <a:ext uri="{FF2B5EF4-FFF2-40B4-BE49-F238E27FC236}">
                  <a16:creationId xmlns:a16="http://schemas.microsoft.com/office/drawing/2014/main" id="{FC74CB0D-5B80-F324-0FE7-FE09B0BC16A9}"/>
                </a:ext>
              </a:extLst>
            </p:cNvPr>
            <p:cNvSpPr/>
            <p:nvPr/>
          </p:nvSpPr>
          <p:spPr bwMode="auto">
            <a:xfrm>
              <a:off x="2810472" y="3705257"/>
              <a:ext cx="1228013" cy="4616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rgbClr val="000000"/>
                  </a:solidFill>
                  <a:latin typeface="72 Brand" panose="020B0504030603020204" pitchFamily="34" charset="0"/>
                  <a:ea typeface="Arial Unicode MS"/>
                  <a:cs typeface="Arial"/>
                </a:rPr>
                <a:t>Prompt </a:t>
              </a:r>
            </a:p>
            <a:p>
              <a:pPr algn="ctr" defTabSz="1088449">
                <a:defRPr/>
              </a:pPr>
              <a:r>
                <a:rPr lang="en-US" sz="1000" kern="0">
                  <a:solidFill>
                    <a:srgbClr val="000000"/>
                  </a:solidFill>
                  <a:latin typeface="72 Brand" panose="020B0504030603020204" pitchFamily="34" charset="0"/>
                  <a:ea typeface="Arial Unicode MS"/>
                  <a:cs typeface="Arial"/>
                </a:rPr>
                <a:t>with inserted content</a:t>
              </a:r>
            </a:p>
            <a:p>
              <a:pPr algn="ctr" defTabSz="1088449">
                <a:defRPr/>
              </a:pPr>
              <a:r>
                <a:rPr lang="en-US" sz="1000" kern="0">
                  <a:solidFill>
                    <a:srgbClr val="000000"/>
                  </a:solidFill>
                  <a:latin typeface="72 Brand" panose="020B0504030603020204" pitchFamily="34" charset="0"/>
                  <a:ea typeface="Arial Unicode MS"/>
                  <a:cs typeface="Arial"/>
                </a:rPr>
                <a:t>{Document}</a:t>
              </a:r>
            </a:p>
          </p:txBody>
        </p:sp>
      </p:grpSp>
      <p:grpSp>
        <p:nvGrpSpPr>
          <p:cNvPr id="102" name="Group 101">
            <a:extLst>
              <a:ext uri="{FF2B5EF4-FFF2-40B4-BE49-F238E27FC236}">
                <a16:creationId xmlns:a16="http://schemas.microsoft.com/office/drawing/2014/main" id="{76AE3543-310A-D2C7-E0EE-0E77F816C365}"/>
              </a:ext>
            </a:extLst>
          </p:cNvPr>
          <p:cNvGrpSpPr/>
          <p:nvPr/>
        </p:nvGrpSpPr>
        <p:grpSpPr>
          <a:xfrm>
            <a:off x="4819326" y="3429000"/>
            <a:ext cx="1310968" cy="921600"/>
            <a:chOff x="4819326" y="3429000"/>
            <a:chExt cx="1310968" cy="921600"/>
          </a:xfrm>
        </p:grpSpPr>
        <p:sp>
          <p:nvSpPr>
            <p:cNvPr id="47" name="Rectangle: Rounded Corners 3">
              <a:extLst>
                <a:ext uri="{FF2B5EF4-FFF2-40B4-BE49-F238E27FC236}">
                  <a16:creationId xmlns:a16="http://schemas.microsoft.com/office/drawing/2014/main" id="{B4A58A91-3538-9A56-6944-1572FBA6C381}"/>
                </a:ext>
              </a:extLst>
            </p:cNvPr>
            <p:cNvSpPr/>
            <p:nvPr/>
          </p:nvSpPr>
          <p:spPr bwMode="auto">
            <a:xfrm flipH="1">
              <a:off x="4819326" y="3429000"/>
              <a:ext cx="1310968" cy="921600"/>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sp>
          <p:nvSpPr>
            <p:cNvPr id="67" name="Rectangle 66">
              <a:extLst>
                <a:ext uri="{FF2B5EF4-FFF2-40B4-BE49-F238E27FC236}">
                  <a16:creationId xmlns:a16="http://schemas.microsoft.com/office/drawing/2014/main" id="{A84FBEF0-9C0F-EBB4-7084-585B70EFC91F}"/>
                </a:ext>
              </a:extLst>
            </p:cNvPr>
            <p:cNvSpPr/>
            <p:nvPr/>
          </p:nvSpPr>
          <p:spPr bwMode="auto">
            <a:xfrm>
              <a:off x="4856862" y="3782637"/>
              <a:ext cx="1228013"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rgbClr val="7030A0"/>
                  </a:solidFill>
                  <a:latin typeface="72 Brand" panose="020B0504030603020204" pitchFamily="34" charset="0"/>
                  <a:ea typeface="Arial Unicode MS"/>
                  <a:cs typeface="Arial"/>
                </a:rPr>
                <a:t>Chat Model</a:t>
              </a:r>
            </a:p>
          </p:txBody>
        </p:sp>
        <p:sp>
          <p:nvSpPr>
            <p:cNvPr id="68" name="Rectangle 67">
              <a:extLst>
                <a:ext uri="{FF2B5EF4-FFF2-40B4-BE49-F238E27FC236}">
                  <a16:creationId xmlns:a16="http://schemas.microsoft.com/office/drawing/2014/main" id="{5C09D208-C552-B47D-8C66-11E322470952}"/>
                </a:ext>
              </a:extLst>
            </p:cNvPr>
            <p:cNvSpPr/>
            <p:nvPr/>
          </p:nvSpPr>
          <p:spPr bwMode="auto">
            <a:xfrm>
              <a:off x="4866790" y="3936525"/>
              <a:ext cx="1228013" cy="123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kern="0">
                  <a:solidFill>
                    <a:srgbClr val="000000"/>
                  </a:solidFill>
                  <a:latin typeface="72 Brand Light" panose="020B0304030603020204" pitchFamily="34" charset="0"/>
                  <a:ea typeface="Arial Unicode MS"/>
                  <a:cs typeface="Arial"/>
                </a:rPr>
                <a:t>GenAI Hub</a:t>
              </a:r>
            </a:p>
          </p:txBody>
        </p:sp>
      </p:grpSp>
      <p:grpSp>
        <p:nvGrpSpPr>
          <p:cNvPr id="101" name="Group 100">
            <a:extLst>
              <a:ext uri="{FF2B5EF4-FFF2-40B4-BE49-F238E27FC236}">
                <a16:creationId xmlns:a16="http://schemas.microsoft.com/office/drawing/2014/main" id="{386A85F7-9E44-705A-5EBE-D00B11415924}"/>
              </a:ext>
            </a:extLst>
          </p:cNvPr>
          <p:cNvGrpSpPr/>
          <p:nvPr/>
        </p:nvGrpSpPr>
        <p:grpSpPr>
          <a:xfrm>
            <a:off x="6606587" y="2763663"/>
            <a:ext cx="1310969" cy="2550178"/>
            <a:chOff x="6541006" y="2773490"/>
            <a:chExt cx="1310969" cy="2550178"/>
          </a:xfrm>
        </p:grpSpPr>
        <p:sp>
          <p:nvSpPr>
            <p:cNvPr id="48" name="Rectangle: Rounded Corners 3">
              <a:extLst>
                <a:ext uri="{FF2B5EF4-FFF2-40B4-BE49-F238E27FC236}">
                  <a16:creationId xmlns:a16="http://schemas.microsoft.com/office/drawing/2014/main" id="{F9860943-9D07-BD98-09CA-3FBE08A0BB23}"/>
                </a:ext>
              </a:extLst>
            </p:cNvPr>
            <p:cNvSpPr/>
            <p:nvPr/>
          </p:nvSpPr>
          <p:spPr bwMode="auto">
            <a:xfrm flipH="1">
              <a:off x="6541006" y="2773490"/>
              <a:ext cx="1310969" cy="2550178"/>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69" name="Rectangle 68">
              <a:extLst>
                <a:ext uri="{FF2B5EF4-FFF2-40B4-BE49-F238E27FC236}">
                  <a16:creationId xmlns:a16="http://schemas.microsoft.com/office/drawing/2014/main" id="{03C59A33-649E-A06B-53B9-6BDC481992BB}"/>
                </a:ext>
              </a:extLst>
            </p:cNvPr>
            <p:cNvSpPr/>
            <p:nvPr/>
          </p:nvSpPr>
          <p:spPr bwMode="auto">
            <a:xfrm>
              <a:off x="6587677" y="3241556"/>
              <a:ext cx="1228013" cy="169277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kern="0">
                  <a:solidFill>
                    <a:srgbClr val="000000"/>
                  </a:solidFill>
                  <a:latin typeface="72 Brand Light" panose="020B0304030603020204" pitchFamily="34" charset="0"/>
                  <a:ea typeface="Arial Unicode MS"/>
                  <a:cs typeface="Arial"/>
                </a:rPr>
                <a:t>………………………………….. …………………………………..</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p:txBody>
        </p:sp>
        <p:sp>
          <p:nvSpPr>
            <p:cNvPr id="80" name="Rectangle 79">
              <a:extLst>
                <a:ext uri="{FF2B5EF4-FFF2-40B4-BE49-F238E27FC236}">
                  <a16:creationId xmlns:a16="http://schemas.microsoft.com/office/drawing/2014/main" id="{5C5C276A-BCD8-0A82-E772-D27C5AED975D}"/>
                </a:ext>
              </a:extLst>
            </p:cNvPr>
            <p:cNvSpPr/>
            <p:nvPr/>
          </p:nvSpPr>
          <p:spPr bwMode="auto">
            <a:xfrm>
              <a:off x="6580481" y="2907464"/>
              <a:ext cx="1228013"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rgbClr val="000000"/>
                  </a:solidFill>
                  <a:latin typeface="72 Brand" panose="020B0504030603020204" pitchFamily="34" charset="0"/>
                  <a:ea typeface="Arial Unicode MS"/>
                  <a:cs typeface="Arial"/>
                </a:rPr>
                <a:t>Final Summary</a:t>
              </a:r>
            </a:p>
          </p:txBody>
        </p:sp>
      </p:grpSp>
      <p:cxnSp>
        <p:nvCxnSpPr>
          <p:cNvPr id="84" name="Straight Arrow Connector 83">
            <a:extLst>
              <a:ext uri="{FF2B5EF4-FFF2-40B4-BE49-F238E27FC236}">
                <a16:creationId xmlns:a16="http://schemas.microsoft.com/office/drawing/2014/main" id="{260A48DB-5CDB-57C6-833E-6DF8433F1F28}"/>
              </a:ext>
            </a:extLst>
          </p:cNvPr>
          <p:cNvCxnSpPr>
            <a:cxnSpLocks/>
            <a:stCxn id="93" idx="1"/>
            <a:endCxn id="46" idx="3"/>
          </p:cNvCxnSpPr>
          <p:nvPr/>
        </p:nvCxnSpPr>
        <p:spPr>
          <a:xfrm flipV="1">
            <a:off x="1689463" y="3889800"/>
            <a:ext cx="1018331" cy="13531"/>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EB6DDB49-BD15-EA66-B3B9-C8DCB933E84E}"/>
              </a:ext>
            </a:extLst>
          </p:cNvPr>
          <p:cNvCxnSpPr>
            <a:cxnSpLocks/>
          </p:cNvCxnSpPr>
          <p:nvPr/>
        </p:nvCxnSpPr>
        <p:spPr>
          <a:xfrm>
            <a:off x="4145074" y="3945340"/>
            <a:ext cx="665405" cy="0"/>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A611E684-5246-4D37-BC26-A8204CB20B63}"/>
              </a:ext>
            </a:extLst>
          </p:cNvPr>
          <p:cNvCxnSpPr>
            <a:cxnSpLocks/>
          </p:cNvCxnSpPr>
          <p:nvPr/>
        </p:nvCxnSpPr>
        <p:spPr>
          <a:xfrm>
            <a:off x="6130294" y="3936090"/>
            <a:ext cx="457383" cy="0"/>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grpSp>
        <p:nvGrpSpPr>
          <p:cNvPr id="2" name="Group 1">
            <a:extLst>
              <a:ext uri="{FF2B5EF4-FFF2-40B4-BE49-F238E27FC236}">
                <a16:creationId xmlns:a16="http://schemas.microsoft.com/office/drawing/2014/main" id="{84EA2EBB-9B6C-1317-F3D5-B73FE3568993}"/>
              </a:ext>
            </a:extLst>
          </p:cNvPr>
          <p:cNvGrpSpPr/>
          <p:nvPr/>
        </p:nvGrpSpPr>
        <p:grpSpPr>
          <a:xfrm>
            <a:off x="849464" y="2628242"/>
            <a:ext cx="1015810" cy="2805543"/>
            <a:chOff x="849464" y="2628242"/>
            <a:chExt cx="1015810" cy="2805543"/>
          </a:xfrm>
        </p:grpSpPr>
        <p:sp>
          <p:nvSpPr>
            <p:cNvPr id="91" name="Rectangle 90">
              <a:extLst>
                <a:ext uri="{FF2B5EF4-FFF2-40B4-BE49-F238E27FC236}">
                  <a16:creationId xmlns:a16="http://schemas.microsoft.com/office/drawing/2014/main" id="{E4837ADE-2DB7-F817-212F-776CEF77D459}"/>
                </a:ext>
              </a:extLst>
            </p:cNvPr>
            <p:cNvSpPr/>
            <p:nvPr/>
          </p:nvSpPr>
          <p:spPr bwMode="auto">
            <a:xfrm>
              <a:off x="849464" y="5279897"/>
              <a:ext cx="1015810"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rgbClr val="000000"/>
                  </a:solidFill>
                  <a:latin typeface="72 Brand Light" panose="020B0304030603020204" pitchFamily="34" charset="0"/>
                  <a:ea typeface="Arial Unicode MS"/>
                  <a:cs typeface="Arial"/>
                </a:rPr>
                <a:t>Documents</a:t>
              </a:r>
            </a:p>
          </p:txBody>
        </p:sp>
        <p:grpSp>
          <p:nvGrpSpPr>
            <p:cNvPr id="92" name="Group 91">
              <a:extLst>
                <a:ext uri="{FF2B5EF4-FFF2-40B4-BE49-F238E27FC236}">
                  <a16:creationId xmlns:a16="http://schemas.microsoft.com/office/drawing/2014/main" id="{3A97FB27-6055-3850-BC45-C2C6B3C9D000}"/>
                </a:ext>
              </a:extLst>
            </p:cNvPr>
            <p:cNvGrpSpPr/>
            <p:nvPr/>
          </p:nvGrpSpPr>
          <p:grpSpPr>
            <a:xfrm>
              <a:off x="919514" y="2628242"/>
              <a:ext cx="769949" cy="2550178"/>
              <a:chOff x="711785" y="2773490"/>
              <a:chExt cx="769949" cy="2550178"/>
            </a:xfrm>
          </p:grpSpPr>
          <p:sp>
            <p:nvSpPr>
              <p:cNvPr id="93" name="Rectangle: Rounded Corners 3">
                <a:extLst>
                  <a:ext uri="{FF2B5EF4-FFF2-40B4-BE49-F238E27FC236}">
                    <a16:creationId xmlns:a16="http://schemas.microsoft.com/office/drawing/2014/main" id="{CA959D30-7D46-0169-008F-7258C8FA8B29}"/>
                  </a:ext>
                </a:extLst>
              </p:cNvPr>
              <p:cNvSpPr/>
              <p:nvPr/>
            </p:nvSpPr>
            <p:spPr bwMode="auto">
              <a:xfrm flipH="1">
                <a:off x="711785" y="2773490"/>
                <a:ext cx="769949" cy="2550178"/>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pic>
            <p:nvPicPr>
              <p:cNvPr id="94" name="Graphic 93">
                <a:extLst>
                  <a:ext uri="{FF2B5EF4-FFF2-40B4-BE49-F238E27FC236}">
                    <a16:creationId xmlns:a16="http://schemas.microsoft.com/office/drawing/2014/main" id="{09F2CCD4-EEF3-535B-7983-236EEFF5BD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1031" y="2984884"/>
                <a:ext cx="270000" cy="270000"/>
              </a:xfrm>
              <a:prstGeom prst="rect">
                <a:avLst/>
              </a:prstGeom>
            </p:spPr>
          </p:pic>
          <p:pic>
            <p:nvPicPr>
              <p:cNvPr id="95" name="Graphic 94">
                <a:extLst>
                  <a:ext uri="{FF2B5EF4-FFF2-40B4-BE49-F238E27FC236}">
                    <a16:creationId xmlns:a16="http://schemas.microsoft.com/office/drawing/2014/main" id="{8739A025-E8F1-D897-1237-47924B1162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5503" y="3468117"/>
                <a:ext cx="270000" cy="270000"/>
              </a:xfrm>
              <a:prstGeom prst="rect">
                <a:avLst/>
              </a:prstGeom>
            </p:spPr>
          </p:pic>
          <p:pic>
            <p:nvPicPr>
              <p:cNvPr id="96" name="Graphic 95">
                <a:extLst>
                  <a:ext uri="{FF2B5EF4-FFF2-40B4-BE49-F238E27FC236}">
                    <a16:creationId xmlns:a16="http://schemas.microsoft.com/office/drawing/2014/main" id="{BC72952F-0A16-5703-BA02-2804D951A4F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6137" y="3938213"/>
                <a:ext cx="270000" cy="270000"/>
              </a:xfrm>
              <a:prstGeom prst="rect">
                <a:avLst/>
              </a:prstGeom>
            </p:spPr>
          </p:pic>
          <p:pic>
            <p:nvPicPr>
              <p:cNvPr id="97" name="Graphic 96">
                <a:extLst>
                  <a:ext uri="{FF2B5EF4-FFF2-40B4-BE49-F238E27FC236}">
                    <a16:creationId xmlns:a16="http://schemas.microsoft.com/office/drawing/2014/main" id="{10132D51-E76B-0E33-4049-BCE07E109D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1961" y="4379349"/>
                <a:ext cx="270000" cy="270000"/>
              </a:xfrm>
              <a:prstGeom prst="rect">
                <a:avLst/>
              </a:prstGeom>
            </p:spPr>
          </p:pic>
          <p:pic>
            <p:nvPicPr>
              <p:cNvPr id="98" name="Graphic 97">
                <a:extLst>
                  <a:ext uri="{FF2B5EF4-FFF2-40B4-BE49-F238E27FC236}">
                    <a16:creationId xmlns:a16="http://schemas.microsoft.com/office/drawing/2014/main" id="{5BA88DE1-922D-793E-F02B-BE499AA1227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7393" y="4834884"/>
                <a:ext cx="270000" cy="270000"/>
              </a:xfrm>
              <a:prstGeom prst="rect">
                <a:avLst/>
              </a:prstGeom>
            </p:spPr>
          </p:pic>
        </p:grpSp>
      </p:grpSp>
      <p:pic>
        <p:nvPicPr>
          <p:cNvPr id="3" name="Picture Placeholder 11">
            <a:extLst>
              <a:ext uri="{FF2B5EF4-FFF2-40B4-BE49-F238E27FC236}">
                <a16:creationId xmlns:a16="http://schemas.microsoft.com/office/drawing/2014/main" id="{F5AF123A-F1E9-016A-CCDE-AE84953E57B3}"/>
              </a:ext>
            </a:extLst>
          </p:cNvPr>
          <p:cNvPicPr>
            <a:picLocks noChangeAspect="1"/>
          </p:cNvPicPr>
          <p:nvPr/>
        </p:nvPicPr>
        <p:blipFill rotWithShape="1">
          <a:blip r:embed="rId1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2376456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4"/>
                                        </p:tgtEl>
                                        <p:attrNameLst>
                                          <p:attrName>style.visibility</p:attrName>
                                        </p:attrNameLst>
                                      </p:cBhvr>
                                      <p:to>
                                        <p:strVal val="visible"/>
                                      </p:to>
                                    </p:set>
                                    <p:animEffect transition="in" filter="wipe(left)">
                                      <p:cBhvr>
                                        <p:cTn id="11" dur="500"/>
                                        <p:tgtEl>
                                          <p:spTgt spid="84"/>
                                        </p:tgtEl>
                                      </p:cBhvr>
                                    </p:animEffect>
                                  </p:childTnLst>
                                </p:cTn>
                              </p:par>
                            </p:childTnLst>
                          </p:cTn>
                        </p:par>
                        <p:par>
                          <p:cTn id="12" fill="hold">
                            <p:stCondLst>
                              <p:cond delay="1000"/>
                            </p:stCondLst>
                            <p:childTnLst>
                              <p:par>
                                <p:cTn id="13" presetID="22" presetClass="entr" presetSubtype="8" fill="hold" nodeType="afterEffect">
                                  <p:stCondLst>
                                    <p:cond delay="500"/>
                                  </p:stCondLst>
                                  <p:childTnLst>
                                    <p:set>
                                      <p:cBhvr>
                                        <p:cTn id="14" dur="1" fill="hold">
                                          <p:stCondLst>
                                            <p:cond delay="0"/>
                                          </p:stCondLst>
                                        </p:cTn>
                                        <p:tgtEl>
                                          <p:spTgt spid="100"/>
                                        </p:tgtEl>
                                        <p:attrNameLst>
                                          <p:attrName>style.visibility</p:attrName>
                                        </p:attrNameLst>
                                      </p:cBhvr>
                                      <p:to>
                                        <p:strVal val="visible"/>
                                      </p:to>
                                    </p:set>
                                    <p:animEffect transition="in" filter="wipe(left)">
                                      <p:cBhvr>
                                        <p:cTn id="15" dur="500"/>
                                        <p:tgtEl>
                                          <p:spTgt spid="100"/>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wipe(left)">
                                      <p:cBhvr>
                                        <p:cTn id="19" dur="500"/>
                                        <p:tgtEl>
                                          <p:spTgt spid="87"/>
                                        </p:tgtEl>
                                      </p:cBhvr>
                                    </p:animEffect>
                                  </p:childTnLst>
                                </p:cTn>
                              </p:par>
                            </p:childTnLst>
                          </p:cTn>
                        </p:par>
                        <p:par>
                          <p:cTn id="20" fill="hold">
                            <p:stCondLst>
                              <p:cond delay="2500"/>
                            </p:stCondLst>
                            <p:childTnLst>
                              <p:par>
                                <p:cTn id="21" presetID="22" presetClass="entr" presetSubtype="8" fill="hold" nodeType="afterEffect">
                                  <p:stCondLst>
                                    <p:cond delay="500"/>
                                  </p:stCondLst>
                                  <p:childTnLst>
                                    <p:set>
                                      <p:cBhvr>
                                        <p:cTn id="22" dur="1" fill="hold">
                                          <p:stCondLst>
                                            <p:cond delay="0"/>
                                          </p:stCondLst>
                                        </p:cTn>
                                        <p:tgtEl>
                                          <p:spTgt spid="102"/>
                                        </p:tgtEl>
                                        <p:attrNameLst>
                                          <p:attrName>style.visibility</p:attrName>
                                        </p:attrNameLst>
                                      </p:cBhvr>
                                      <p:to>
                                        <p:strVal val="visible"/>
                                      </p:to>
                                    </p:set>
                                    <p:animEffect transition="in" filter="wipe(left)">
                                      <p:cBhvr>
                                        <p:cTn id="23" dur="500"/>
                                        <p:tgtEl>
                                          <p:spTgt spid="102"/>
                                        </p:tgtEl>
                                      </p:cBhvr>
                                    </p:animEffect>
                                  </p:childTnLst>
                                </p:cTn>
                              </p:par>
                            </p:childTnLst>
                          </p:cTn>
                        </p:par>
                        <p:par>
                          <p:cTn id="24" fill="hold">
                            <p:stCondLst>
                              <p:cond delay="3500"/>
                            </p:stCondLst>
                            <p:childTnLst>
                              <p:par>
                                <p:cTn id="25" presetID="22" presetClass="entr" presetSubtype="8" fill="hold" nodeType="afterEffect">
                                  <p:stCondLst>
                                    <p:cond delay="500"/>
                                  </p:stCondLst>
                                  <p:childTnLst>
                                    <p:set>
                                      <p:cBhvr>
                                        <p:cTn id="26" dur="1" fill="hold">
                                          <p:stCondLst>
                                            <p:cond delay="0"/>
                                          </p:stCondLst>
                                        </p:cTn>
                                        <p:tgtEl>
                                          <p:spTgt spid="88"/>
                                        </p:tgtEl>
                                        <p:attrNameLst>
                                          <p:attrName>style.visibility</p:attrName>
                                        </p:attrNameLst>
                                      </p:cBhvr>
                                      <p:to>
                                        <p:strVal val="visible"/>
                                      </p:to>
                                    </p:set>
                                    <p:animEffect transition="in" filter="wipe(left)">
                                      <p:cBhvr>
                                        <p:cTn id="27" dur="500"/>
                                        <p:tgtEl>
                                          <p:spTgt spid="88"/>
                                        </p:tgtEl>
                                      </p:cBhvr>
                                    </p:animEffect>
                                  </p:childTnLst>
                                </p:cTn>
                              </p:par>
                            </p:childTnLst>
                          </p:cTn>
                        </p:par>
                        <p:par>
                          <p:cTn id="28" fill="hold">
                            <p:stCondLst>
                              <p:cond delay="4500"/>
                            </p:stCondLst>
                            <p:childTnLst>
                              <p:par>
                                <p:cTn id="29" presetID="22" presetClass="entr" presetSubtype="8" fill="hold" nodeType="afterEffect">
                                  <p:stCondLst>
                                    <p:cond delay="500"/>
                                  </p:stCondLst>
                                  <p:childTnLst>
                                    <p:set>
                                      <p:cBhvr>
                                        <p:cTn id="30" dur="1" fill="hold">
                                          <p:stCondLst>
                                            <p:cond delay="0"/>
                                          </p:stCondLst>
                                        </p:cTn>
                                        <p:tgtEl>
                                          <p:spTgt spid="101"/>
                                        </p:tgtEl>
                                        <p:attrNameLst>
                                          <p:attrName>style.visibility</p:attrName>
                                        </p:attrNameLst>
                                      </p:cBhvr>
                                      <p:to>
                                        <p:strVal val="visible"/>
                                      </p:to>
                                    </p:set>
                                    <p:animEffect transition="in" filter="wipe(left)">
                                      <p:cBhvr>
                                        <p:cTn id="31"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910608"/>
            <a:ext cx="7692367" cy="2497890"/>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4" y="3535240"/>
            <a:ext cx="7498305" cy="787313"/>
          </a:xfrm>
          <a:prstGeom prst="roundRect">
            <a:avLst>
              <a:gd name="adj" fmla="val 10257"/>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6" y="2725417"/>
            <a:ext cx="7498305" cy="703583"/>
          </a:xfrm>
          <a:prstGeom prst="roundRect">
            <a:avLst>
              <a:gd name="adj" fmla="val 6889"/>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6" y="1980346"/>
            <a:ext cx="7498303" cy="651313"/>
          </a:xfrm>
          <a:prstGeom prst="roundRect">
            <a:avLst>
              <a:gd name="adj" fmla="val 10257"/>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3786597" y="3693938"/>
            <a:ext cx="1126912"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14" name="TextBox 13">
            <a:extLst>
              <a:ext uri="{FF2B5EF4-FFF2-40B4-BE49-F238E27FC236}">
                <a16:creationId xmlns:a16="http://schemas.microsoft.com/office/drawing/2014/main" id="{4D90A748-2E8F-0675-1498-B2EC5D483D88}"/>
              </a:ext>
            </a:extLst>
          </p:cNvPr>
          <p:cNvSpPr txBox="1"/>
          <p:nvPr/>
        </p:nvSpPr>
        <p:spPr>
          <a:xfrm>
            <a:off x="3272766" y="2832551"/>
            <a:ext cx="2204130"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3746453" y="2095171"/>
            <a:ext cx="1146931" cy="430887"/>
          </a:xfrm>
          <a:prstGeom prst="rect">
            <a:avLst/>
          </a:prstGeom>
          <a:noFill/>
        </p:spPr>
        <p:txBody>
          <a:bodyPr wrap="square" lIns="0" tIns="0" rIns="0" bIns="0" rtlCol="0">
            <a:spAutoFit/>
          </a:bodyPr>
          <a:lstStyle/>
          <a:p>
            <a:pPr algn="ctr" defTabSz="914126">
              <a:defRPr/>
            </a:pPr>
            <a:r>
              <a:rPr lang="en-US" sz="2800" b="1">
                <a:solidFill>
                  <a:srgbClr val="000000"/>
                </a:solidFill>
                <a:latin typeface="72 Brand" panose="020B0504030603020204" pitchFamily="34" charset="0"/>
                <a:cs typeface="72 Bold" panose="020B0803030000000003" pitchFamily="34" charset="0"/>
              </a:rPr>
              <a:t>Stuff</a:t>
            </a:r>
            <a:endParaRPr lang="en-US" sz="1600" b="1">
              <a:solidFill>
                <a:srgbClr val="000000"/>
              </a:solidFill>
              <a:latin typeface="72 Brand" panose="020B0504030603020204" pitchFamily="34" charset="0"/>
              <a:cs typeface="72 Bold" panose="020B0803030000000003" pitchFamily="34" charset="0"/>
            </a:endParaRPr>
          </a:p>
        </p:txBody>
      </p:sp>
      <p:grpSp>
        <p:nvGrpSpPr>
          <p:cNvPr id="45" name="Group 44">
            <a:extLst>
              <a:ext uri="{FF2B5EF4-FFF2-40B4-BE49-F238E27FC236}">
                <a16:creationId xmlns:a16="http://schemas.microsoft.com/office/drawing/2014/main" id="{BA7209BC-3289-5943-F07E-486946F7A1C8}"/>
              </a:ext>
            </a:extLst>
          </p:cNvPr>
          <p:cNvGrpSpPr/>
          <p:nvPr/>
        </p:nvGrpSpPr>
        <p:grpSpPr>
          <a:xfrm>
            <a:off x="8573822" y="1846113"/>
            <a:ext cx="3221393" cy="864702"/>
            <a:chOff x="8576054" y="1701689"/>
            <a:chExt cx="3222232" cy="864929"/>
          </a:xfrm>
        </p:grpSpPr>
        <p:sp>
          <p:nvSpPr>
            <p:cNvPr id="24" name="Rectangle 23">
              <a:extLst>
                <a:ext uri="{FF2B5EF4-FFF2-40B4-BE49-F238E27FC236}">
                  <a16:creationId xmlns:a16="http://schemas.microsoft.com/office/drawing/2014/main" id="{D58AAA28-73AA-E40E-52DF-BB4CC9282A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Stuff</a:t>
              </a:r>
            </a:p>
          </p:txBody>
        </p:sp>
        <p:sp>
          <p:nvSpPr>
            <p:cNvPr id="26" name="Rectangle 25">
              <a:extLst>
                <a:ext uri="{FF2B5EF4-FFF2-40B4-BE49-F238E27FC236}">
                  <a16:creationId xmlns:a16="http://schemas.microsoft.com/office/drawing/2014/main" id="{066B3A3A-4637-8783-3FDA-892DD1EDB7C0}"/>
                </a:ext>
              </a:extLst>
            </p:cNvPr>
            <p:cNvSpPr/>
            <p:nvPr/>
          </p:nvSpPr>
          <p:spPr bwMode="auto">
            <a:xfrm>
              <a:off x="8581982" y="2012475"/>
              <a:ext cx="3216304" cy="5541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IN" sz="1200" kern="0">
                  <a:solidFill>
                    <a:srgbClr val="000000"/>
                  </a:solidFill>
                  <a:latin typeface="72 Brand Light" panose="020B0304030603020204" pitchFamily="34" charset="0"/>
                  <a:ea typeface="Arial Unicode MS"/>
                  <a:cs typeface="Arial"/>
                </a:rPr>
                <a:t>The Stuff method </a:t>
              </a:r>
              <a:r>
                <a:rPr lang="en-IN" sz="1200" b="1" kern="0">
                  <a:solidFill>
                    <a:srgbClr val="000000"/>
                  </a:solidFill>
                  <a:latin typeface="72" panose="020B0503030000000003" pitchFamily="34" charset="0"/>
                  <a:ea typeface="Arial Unicode MS"/>
                  <a:cs typeface="72" panose="020B0503030000000003" pitchFamily="34" charset="0"/>
                </a:rPr>
                <a:t>handles </a:t>
              </a:r>
              <a:r>
                <a:rPr lang="en-IN" sz="1200" b="0" i="0">
                  <a:solidFill>
                    <a:schemeClr val="tx1"/>
                  </a:solidFill>
                  <a:effectLst/>
                  <a:highlight>
                    <a:srgbClr val="FFFFFF"/>
                  </a:highlight>
                  <a:latin typeface="72 Brand" panose="020B0504030603020204" pitchFamily="34" charset="0"/>
                </a:rPr>
                <a:t>list of documents, insert them all into a </a:t>
              </a:r>
              <a:r>
                <a:rPr lang="en-IN" sz="1200" b="1" i="0">
                  <a:solidFill>
                    <a:schemeClr val="tx1"/>
                  </a:solidFill>
                  <a:effectLst/>
                  <a:highlight>
                    <a:srgbClr val="FFFFFF"/>
                  </a:highlight>
                  <a:latin typeface="72 Brand" panose="020B0504030603020204" pitchFamily="34" charset="0"/>
                </a:rPr>
                <a:t>prompt</a:t>
              </a:r>
              <a:r>
                <a:rPr lang="en-IN" sz="1200" b="0" i="0">
                  <a:solidFill>
                    <a:schemeClr val="tx1"/>
                  </a:solidFill>
                  <a:effectLst/>
                  <a:highlight>
                    <a:srgbClr val="FFFFFF"/>
                  </a:highlight>
                  <a:latin typeface="72 Brand" panose="020B0504030603020204" pitchFamily="34" charset="0"/>
                </a:rPr>
                <a:t>, and pass that prompt to an </a:t>
              </a:r>
              <a:r>
                <a:rPr lang="en-IN" sz="1200" b="1" i="0">
                  <a:solidFill>
                    <a:schemeClr val="tx1"/>
                  </a:solidFill>
                  <a:effectLst/>
                  <a:highlight>
                    <a:srgbClr val="FFFFFF"/>
                  </a:highlight>
                  <a:latin typeface="72 Brand" panose="020B0504030603020204" pitchFamily="34" charset="0"/>
                </a:rPr>
                <a:t>LLM for summarization</a:t>
              </a:r>
              <a:r>
                <a:rPr lang="en-IN" sz="1200" b="0" i="0">
                  <a:solidFill>
                    <a:schemeClr val="tx1"/>
                  </a:solidFill>
                  <a:effectLst/>
                  <a:highlight>
                    <a:srgbClr val="FFFFFF"/>
                  </a:highlight>
                  <a:latin typeface="72 Brand" panose="020B0504030603020204" pitchFamily="34" charset="0"/>
                </a:rPr>
                <a:t>.</a:t>
              </a:r>
              <a:endParaRPr lang="en-IN" sz="1200" kern="0">
                <a:solidFill>
                  <a:schemeClr val="tx1"/>
                </a:solidFill>
                <a:latin typeface="72 Brand" panose="020B0504030603020204" pitchFamily="34" charset="0"/>
                <a:ea typeface="Arial Unicode MS"/>
                <a:cs typeface="Arial"/>
              </a:endParaRPr>
            </a:p>
          </p:txBody>
        </p:sp>
      </p:grpSp>
      <p:grpSp>
        <p:nvGrpSpPr>
          <p:cNvPr id="55" name="Group 54">
            <a:extLst>
              <a:ext uri="{FF2B5EF4-FFF2-40B4-BE49-F238E27FC236}">
                <a16:creationId xmlns:a16="http://schemas.microsoft.com/office/drawing/2014/main" id="{0A04EAA5-7948-4FC3-6DAE-7528D0C57E52}"/>
              </a:ext>
            </a:extLst>
          </p:cNvPr>
          <p:cNvGrpSpPr/>
          <p:nvPr/>
        </p:nvGrpSpPr>
        <p:grpSpPr>
          <a:xfrm>
            <a:off x="8573822" y="3075456"/>
            <a:ext cx="3221393" cy="1049369"/>
            <a:chOff x="8576054" y="1701689"/>
            <a:chExt cx="3222232" cy="1049642"/>
          </a:xfrm>
        </p:grpSpPr>
        <p:sp>
          <p:nvSpPr>
            <p:cNvPr id="56" name="Rectangle 55">
              <a:extLst>
                <a:ext uri="{FF2B5EF4-FFF2-40B4-BE49-F238E27FC236}">
                  <a16:creationId xmlns:a16="http://schemas.microsoft.com/office/drawing/2014/main" id="{72528495-C74B-5642-2013-F84154294938}"/>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Map-Reduce</a:t>
              </a:r>
            </a:p>
          </p:txBody>
        </p:sp>
        <p:sp>
          <p:nvSpPr>
            <p:cNvPr id="59" name="Rectangle 58">
              <a:extLst>
                <a:ext uri="{FF2B5EF4-FFF2-40B4-BE49-F238E27FC236}">
                  <a16:creationId xmlns:a16="http://schemas.microsoft.com/office/drawing/2014/main" id="{D9604D83-3D78-AC90-C8B5-A5C77D231169}"/>
                </a:ext>
              </a:extLst>
            </p:cNvPr>
            <p:cNvSpPr/>
            <p:nvPr/>
          </p:nvSpPr>
          <p:spPr bwMode="auto">
            <a:xfrm>
              <a:off x="8581982" y="2012475"/>
              <a:ext cx="3216304" cy="73885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kern="0">
                  <a:solidFill>
                    <a:srgbClr val="000000"/>
                  </a:solidFill>
                  <a:latin typeface="72 Brand Light" panose="020B0304030603020204" pitchFamily="34" charset="0"/>
                  <a:ea typeface="Arial Unicode MS"/>
                  <a:cs typeface="Arial"/>
                </a:rPr>
                <a:t>The Map-Reduce method </a:t>
              </a:r>
              <a:r>
                <a:rPr lang="en-IN" sz="1200" b="1" kern="0">
                  <a:solidFill>
                    <a:srgbClr val="000000"/>
                  </a:solidFill>
                  <a:latin typeface="72" panose="020B0503030000000003" pitchFamily="34" charset="0"/>
                  <a:ea typeface="Arial Unicode MS"/>
                  <a:cs typeface="72" panose="020B0503030000000003" pitchFamily="34" charset="0"/>
                </a:rPr>
                <a:t>divides the document </a:t>
              </a:r>
              <a:r>
                <a:rPr lang="en-IN" sz="1200" kern="0">
                  <a:solidFill>
                    <a:srgbClr val="000000"/>
                  </a:solidFill>
                  <a:latin typeface="72 Brand Light" panose="020B0304030603020204" pitchFamily="34" charset="0"/>
                  <a:ea typeface="Arial Unicode MS"/>
                  <a:cs typeface="Arial"/>
                </a:rPr>
                <a:t>into chunks and </a:t>
              </a:r>
              <a:r>
                <a:rPr lang="en-IN" sz="1200" b="1" kern="0">
                  <a:solidFill>
                    <a:srgbClr val="000000"/>
                  </a:solidFill>
                  <a:latin typeface="72" panose="020B0503030000000003" pitchFamily="34" charset="0"/>
                  <a:ea typeface="Arial Unicode MS"/>
                  <a:cs typeface="72" panose="020B0503030000000003" pitchFamily="34" charset="0"/>
                </a:rPr>
                <a:t>each chunk is summarized</a:t>
              </a:r>
              <a:r>
                <a:rPr lang="en-IN" sz="1200" kern="0">
                  <a:solidFill>
                    <a:srgbClr val="000000"/>
                  </a:solidFill>
                  <a:latin typeface="72 Brand Light" panose="020B0304030603020204" pitchFamily="34" charset="0"/>
                  <a:ea typeface="Arial Unicode MS"/>
                  <a:cs typeface="Arial"/>
                </a:rPr>
                <a:t> (map step). Then, these summaries are </a:t>
              </a:r>
              <a:r>
                <a:rPr lang="en-IN" sz="1200" kern="0">
                  <a:solidFill>
                    <a:srgbClr val="000000"/>
                  </a:solidFill>
                  <a:latin typeface="72 Brand Light" panose="020B0304030603020204" pitchFamily="34" charset="0"/>
                  <a:ea typeface="Arial Unicode MS"/>
                  <a:cs typeface="72" panose="020B0503030000000003" pitchFamily="34" charset="0"/>
                </a:rPr>
                <a:t>combined into a final summary </a:t>
              </a:r>
              <a:r>
                <a:rPr lang="en-IN" sz="1200" kern="0">
                  <a:solidFill>
                    <a:srgbClr val="000000"/>
                  </a:solidFill>
                  <a:latin typeface="72 Brand Light" panose="020B0304030603020204" pitchFamily="34" charset="0"/>
                  <a:ea typeface="Arial Unicode MS"/>
                  <a:cs typeface="Arial"/>
                </a:rPr>
                <a:t>(reduce step). </a:t>
              </a:r>
              <a:endParaRPr lang="en-US" sz="1200" kern="0">
                <a:solidFill>
                  <a:srgbClr val="000000"/>
                </a:solidFill>
                <a:latin typeface="72 Brand Light" panose="020B0304030603020204" pitchFamily="34" charset="0"/>
                <a:ea typeface="Arial Unicode MS"/>
                <a:cs typeface="Arial"/>
              </a:endParaRPr>
            </a:p>
          </p:txBody>
        </p:sp>
      </p:grpSp>
      <p:grpSp>
        <p:nvGrpSpPr>
          <p:cNvPr id="60" name="Group 59">
            <a:extLst>
              <a:ext uri="{FF2B5EF4-FFF2-40B4-BE49-F238E27FC236}">
                <a16:creationId xmlns:a16="http://schemas.microsoft.com/office/drawing/2014/main" id="{61305565-54BA-516B-CE22-A542B2D5B416}"/>
              </a:ext>
            </a:extLst>
          </p:cNvPr>
          <p:cNvGrpSpPr/>
          <p:nvPr/>
        </p:nvGrpSpPr>
        <p:grpSpPr>
          <a:xfrm>
            <a:off x="8573821" y="4512137"/>
            <a:ext cx="3221394" cy="1234036"/>
            <a:chOff x="8576054" y="1701689"/>
            <a:chExt cx="3222233" cy="1234357"/>
          </a:xfrm>
        </p:grpSpPr>
        <p:sp>
          <p:nvSpPr>
            <p:cNvPr id="61" name="Rectangle 60">
              <a:extLst>
                <a:ext uri="{FF2B5EF4-FFF2-40B4-BE49-F238E27FC236}">
                  <a16:creationId xmlns:a16="http://schemas.microsoft.com/office/drawing/2014/main" id="{9C763651-021A-637C-8C23-7C929414DDB0}"/>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Refine</a:t>
              </a:r>
            </a:p>
          </p:txBody>
        </p:sp>
        <p:sp>
          <p:nvSpPr>
            <p:cNvPr id="62" name="Rectangle 61">
              <a:extLst>
                <a:ext uri="{FF2B5EF4-FFF2-40B4-BE49-F238E27FC236}">
                  <a16:creationId xmlns:a16="http://schemas.microsoft.com/office/drawing/2014/main" id="{9E9FDFDF-C103-3B8B-2689-FD8E79DD7C63}"/>
                </a:ext>
              </a:extLst>
            </p:cNvPr>
            <p:cNvSpPr/>
            <p:nvPr/>
          </p:nvSpPr>
          <p:spPr bwMode="auto">
            <a:xfrm>
              <a:off x="8581983" y="2012476"/>
              <a:ext cx="3216304" cy="9235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b="0" i="0">
                  <a:solidFill>
                    <a:schemeClr val="tx1"/>
                  </a:solidFill>
                  <a:effectLst/>
                  <a:highlight>
                    <a:srgbClr val="FFFFFF"/>
                  </a:highlight>
                  <a:latin typeface="72 Brand" panose="020B0504030603020204" pitchFamily="34" charset="0"/>
                </a:rPr>
                <a:t>The chain updates a </a:t>
              </a:r>
              <a:r>
                <a:rPr lang="en-IN" sz="1200" b="1" i="0">
                  <a:solidFill>
                    <a:schemeClr val="tx1"/>
                  </a:solidFill>
                  <a:effectLst/>
                  <a:highlight>
                    <a:srgbClr val="FFFFFF"/>
                  </a:highlight>
                  <a:latin typeface="72 Brand" panose="020B0504030603020204" pitchFamily="34" charset="0"/>
                </a:rPr>
                <a:t>rolling summary by iterating over the documents in a sequence</a:t>
              </a:r>
              <a:r>
                <a:rPr lang="en-IN" sz="1200" b="0" i="0">
                  <a:solidFill>
                    <a:schemeClr val="tx1"/>
                  </a:solidFill>
                  <a:effectLst/>
                  <a:highlight>
                    <a:srgbClr val="FFFFFF"/>
                  </a:highlight>
                  <a:latin typeface="72 Brand" panose="020B0504030603020204" pitchFamily="34" charset="0"/>
                </a:rPr>
                <a:t>. In each iteration, the current document and the previously generated summary are passed as prompt for summarization.</a:t>
              </a:r>
              <a:endParaRPr lang="en-US" sz="1200" kern="0">
                <a:solidFill>
                  <a:schemeClr val="tx1"/>
                </a:solidFill>
                <a:latin typeface="72 Brand" panose="020B0504030603020204" pitchFamily="34" charset="0"/>
                <a:ea typeface="Arial Unicode MS"/>
                <a:cs typeface="Arial"/>
              </a:endParaRPr>
            </a:p>
          </p:txBody>
        </p:sp>
      </p:grpSp>
      <p:sp>
        <p:nvSpPr>
          <p:cNvPr id="2" name="Freeform 1">
            <a:extLst>
              <a:ext uri="{FF2B5EF4-FFF2-40B4-BE49-F238E27FC236}">
                <a16:creationId xmlns:a16="http://schemas.microsoft.com/office/drawing/2014/main" id="{7A06309A-BF1C-8568-DE5E-F802FC7771BA}"/>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1E580499-4DBB-29AD-1BA7-25381C7BC751}"/>
              </a:ext>
            </a:extLst>
          </p:cNvPr>
          <p:cNvSpPr txBox="1"/>
          <p:nvPr/>
        </p:nvSpPr>
        <p:spPr>
          <a:xfrm>
            <a:off x="568007" y="633165"/>
            <a:ext cx="6107762" cy="598177"/>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Summarization Chain &amp; its Techniques</a:t>
            </a:r>
          </a:p>
        </p:txBody>
      </p:sp>
      <p:pic>
        <p:nvPicPr>
          <p:cNvPr id="12" name="Picture Placeholder 11">
            <a:extLst>
              <a:ext uri="{FF2B5EF4-FFF2-40B4-BE49-F238E27FC236}">
                <a16:creationId xmlns:a16="http://schemas.microsoft.com/office/drawing/2014/main" id="{84CD9052-043E-537F-A7A4-84A31A470DFA}"/>
              </a:ext>
            </a:extLst>
          </p:cNvPr>
          <p:cNvPicPr>
            <a:picLocks noChangeAspect="1"/>
          </p:cNvPicPr>
          <p:nvPr/>
        </p:nvPicPr>
        <p:blipFill rotWithShape="1">
          <a:blip r:embed="rId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3178140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sp>
        <p:nvSpPr>
          <p:cNvPr id="7" name="Rectangle: Rounded Corners 93">
            <a:extLst>
              <a:ext uri="{FF2B5EF4-FFF2-40B4-BE49-F238E27FC236}">
                <a16:creationId xmlns:a16="http://schemas.microsoft.com/office/drawing/2014/main" id="{447AA248-2FE4-952D-3DB3-DCF122121578}"/>
              </a:ext>
            </a:extLst>
          </p:cNvPr>
          <p:cNvSpPr/>
          <p:nvPr/>
        </p:nvSpPr>
        <p:spPr bwMode="auto">
          <a:xfrm>
            <a:off x="601817" y="1757820"/>
            <a:ext cx="7498302" cy="169233"/>
          </a:xfrm>
          <a:prstGeom prst="roundRect">
            <a:avLst>
              <a:gd name="adj" fmla="val 22001"/>
            </a:avLst>
          </a:prstGeom>
          <a:solidFill>
            <a:srgbClr val="D2EFFF">
              <a:alpha val="74143"/>
            </a:srgbClr>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22" name="Rectangle 21">
            <a:extLst>
              <a:ext uri="{FF2B5EF4-FFF2-40B4-BE49-F238E27FC236}">
                <a16:creationId xmlns:a16="http://schemas.microsoft.com/office/drawing/2014/main" id="{DB692FA4-80A3-FADF-0B7A-2927B358D29D}"/>
              </a:ext>
            </a:extLst>
          </p:cNvPr>
          <p:cNvSpPr/>
          <p:nvPr/>
        </p:nvSpPr>
        <p:spPr bwMode="gray">
          <a:xfrm>
            <a:off x="7587735" y="893"/>
            <a:ext cx="4604267" cy="6856215"/>
          </a:xfrm>
          <a:prstGeom prst="rect">
            <a:avLst/>
          </a:prstGeom>
          <a:solidFill>
            <a:schemeClr val="bg2">
              <a:lumMod val="20000"/>
              <a:lumOff val="80000"/>
              <a:alpha val="26192"/>
            </a:schemeClr>
          </a:solidFill>
          <a:ln w="254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9946" indent="-179946" defTabSz="914126" fontAlgn="base">
              <a:spcAft>
                <a:spcPts val="600"/>
              </a:spcAft>
              <a:buSzPct val="80000"/>
              <a:buFont typeface="Wingdings" panose="05000000000000000000" pitchFamily="2" charset="2"/>
              <a:buChar char="§"/>
            </a:pPr>
            <a:endParaRPr lang="en-DE" sz="1400" kern="0">
              <a:solidFill>
                <a:srgbClr val="000000"/>
              </a:solidFill>
              <a:latin typeface="72 Brand"/>
              <a:ea typeface="Arial Unicode MS" pitchFamily="34" charset="-128"/>
              <a:cs typeface="Arial Unicode MS" pitchFamily="34" charset="-128"/>
            </a:endParaRPr>
          </a:p>
        </p:txBody>
      </p:sp>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674063"/>
            <a:ext cx="7692367" cy="4427751"/>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5" y="5873190"/>
            <a:ext cx="7498304" cy="172755"/>
          </a:xfrm>
          <a:prstGeom prst="roundRect">
            <a:avLst>
              <a:gd name="adj" fmla="val 25923"/>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7" y="1963342"/>
            <a:ext cx="7498304" cy="3861312"/>
          </a:xfrm>
          <a:prstGeom prst="roundRect">
            <a:avLst>
              <a:gd name="adj" fmla="val 1120"/>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4230286" y="5913413"/>
            <a:ext cx="240451" cy="92333"/>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4211163" y="1817757"/>
            <a:ext cx="179536" cy="92333"/>
          </a:xfrm>
          <a:prstGeom prst="rect">
            <a:avLst/>
          </a:prstGeom>
          <a:noFill/>
        </p:spPr>
        <p:txBody>
          <a:bodyPr wrap="none" lIns="0" tIns="0" rIns="0" bIns="0" rtlCol="0">
            <a:spAutoFit/>
          </a:bodyPr>
          <a:lstStyle/>
          <a:p>
            <a:pPr algn="ctr" defTabSz="914126">
              <a:defRPr/>
            </a:pPr>
            <a:r>
              <a:rPr lang="en-US" sz="600" b="1">
                <a:solidFill>
                  <a:srgbClr val="000000"/>
                </a:solidFill>
                <a:latin typeface="72 Brand" panose="020B0504030603020204" pitchFamily="34" charset="0"/>
                <a:cs typeface="72 Bold" panose="020B0803030000000003" pitchFamily="34" charset="0"/>
              </a:rPr>
              <a:t>Stuff</a:t>
            </a:r>
          </a:p>
        </p:txBody>
      </p:sp>
      <p:sp>
        <p:nvSpPr>
          <p:cNvPr id="2" name="Rectangle: Rounded Corners 78">
            <a:extLst>
              <a:ext uri="{FF2B5EF4-FFF2-40B4-BE49-F238E27FC236}">
                <a16:creationId xmlns:a16="http://schemas.microsoft.com/office/drawing/2014/main" id="{0D76955C-4741-447C-0C92-4F48C9191B40}"/>
              </a:ext>
            </a:extLst>
          </p:cNvPr>
          <p:cNvSpPr/>
          <p:nvPr/>
        </p:nvSpPr>
        <p:spPr bwMode="auto">
          <a:xfrm>
            <a:off x="605792" y="5873188"/>
            <a:ext cx="7498304" cy="172755"/>
          </a:xfrm>
          <a:prstGeom prst="roundRect">
            <a:avLst>
              <a:gd name="adj" fmla="val 25923"/>
            </a:avLst>
          </a:prstGeom>
          <a:solidFill>
            <a:schemeClr val="bg1">
              <a:alpha val="74000"/>
            </a:schemeClr>
          </a:soli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14" name="TextBox 13">
            <a:extLst>
              <a:ext uri="{FF2B5EF4-FFF2-40B4-BE49-F238E27FC236}">
                <a16:creationId xmlns:a16="http://schemas.microsoft.com/office/drawing/2014/main" id="{4D90A748-2E8F-0675-1498-B2EC5D483D88}"/>
              </a:ext>
            </a:extLst>
          </p:cNvPr>
          <p:cNvSpPr txBox="1"/>
          <p:nvPr/>
        </p:nvSpPr>
        <p:spPr>
          <a:xfrm>
            <a:off x="3878768" y="2051184"/>
            <a:ext cx="942567" cy="184666"/>
          </a:xfrm>
          <a:prstGeom prst="rect">
            <a:avLst/>
          </a:prstGeom>
          <a:noFill/>
        </p:spPr>
        <p:txBody>
          <a:bodyPr wrap="none" lIns="0" tIns="0" rIns="0" bIns="0" rtlCol="0">
            <a:spAutoFit/>
          </a:bodyPr>
          <a:lstStyle/>
          <a:p>
            <a:pPr algn="ctr" defTabSz="914126">
              <a:defRPr/>
            </a:pPr>
            <a:r>
              <a:rPr lang="en-US" sz="12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grpSp>
        <p:nvGrpSpPr>
          <p:cNvPr id="31" name="Group 30">
            <a:extLst>
              <a:ext uri="{FF2B5EF4-FFF2-40B4-BE49-F238E27FC236}">
                <a16:creationId xmlns:a16="http://schemas.microsoft.com/office/drawing/2014/main" id="{5449FAB3-FA1E-BEDF-CDBF-40FFA8C74CED}"/>
              </a:ext>
            </a:extLst>
          </p:cNvPr>
          <p:cNvGrpSpPr/>
          <p:nvPr/>
        </p:nvGrpSpPr>
        <p:grpSpPr>
          <a:xfrm>
            <a:off x="8573822" y="1846115"/>
            <a:ext cx="3221393" cy="864702"/>
            <a:chOff x="8576054" y="1701689"/>
            <a:chExt cx="3222232" cy="864928"/>
          </a:xfrm>
        </p:grpSpPr>
        <p:sp>
          <p:nvSpPr>
            <p:cNvPr id="32" name="Rectangle 31">
              <a:extLst>
                <a:ext uri="{FF2B5EF4-FFF2-40B4-BE49-F238E27FC236}">
                  <a16:creationId xmlns:a16="http://schemas.microsoft.com/office/drawing/2014/main" id="{D892C263-C0EC-96C4-1680-8AF0DB87F945}"/>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2 step process</a:t>
              </a:r>
            </a:p>
          </p:txBody>
        </p:sp>
        <p:sp>
          <p:nvSpPr>
            <p:cNvPr id="33" name="Rectangle 32">
              <a:extLst>
                <a:ext uri="{FF2B5EF4-FFF2-40B4-BE49-F238E27FC236}">
                  <a16:creationId xmlns:a16="http://schemas.microsoft.com/office/drawing/2014/main" id="{B52C9831-917F-33A8-2CEF-64A0DB958105}"/>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This is a 2 step process that simplifies the task of summarizing a document, namely </a:t>
              </a:r>
              <a:r>
                <a:rPr lang="en-US" sz="1200" b="1" kern="0">
                  <a:solidFill>
                    <a:srgbClr val="000000"/>
                  </a:solidFill>
                  <a:latin typeface="72 Brand" panose="020B0504030603020204" pitchFamily="34" charset="0"/>
                  <a:ea typeface="Arial Unicode MS"/>
                  <a:cs typeface="Arial"/>
                </a:rPr>
                <a:t>map and reduce.</a:t>
              </a:r>
            </a:p>
          </p:txBody>
        </p:sp>
      </p:grpSp>
      <p:grpSp>
        <p:nvGrpSpPr>
          <p:cNvPr id="34" name="Group 33">
            <a:extLst>
              <a:ext uri="{FF2B5EF4-FFF2-40B4-BE49-F238E27FC236}">
                <a16:creationId xmlns:a16="http://schemas.microsoft.com/office/drawing/2014/main" id="{BB19BC8A-0689-0206-EC66-636BE240D038}"/>
              </a:ext>
            </a:extLst>
          </p:cNvPr>
          <p:cNvGrpSpPr/>
          <p:nvPr/>
        </p:nvGrpSpPr>
        <p:grpSpPr>
          <a:xfrm>
            <a:off x="8573822" y="3315690"/>
            <a:ext cx="3221393" cy="864702"/>
            <a:chOff x="8576054" y="1701689"/>
            <a:chExt cx="3222232" cy="864928"/>
          </a:xfrm>
        </p:grpSpPr>
        <p:sp>
          <p:nvSpPr>
            <p:cNvPr id="35" name="Rectangle 34">
              <a:extLst>
                <a:ext uri="{FF2B5EF4-FFF2-40B4-BE49-F238E27FC236}">
                  <a16:creationId xmlns:a16="http://schemas.microsoft.com/office/drawing/2014/main" id="{99DCB3BA-33C4-FEBB-0348-2CB9CA96B4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Map Step</a:t>
              </a:r>
            </a:p>
          </p:txBody>
        </p:sp>
        <p:sp>
          <p:nvSpPr>
            <p:cNvPr id="36" name="Rectangle 35">
              <a:extLst>
                <a:ext uri="{FF2B5EF4-FFF2-40B4-BE49-F238E27FC236}">
                  <a16:creationId xmlns:a16="http://schemas.microsoft.com/office/drawing/2014/main" id="{0FED1BCE-28BF-C59E-6833-B242714EA9DE}"/>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Document is divided into small, manageable chunks. Each chunk is then </a:t>
              </a:r>
              <a:r>
                <a:rPr lang="en-US" sz="1200" b="1" kern="0">
                  <a:solidFill>
                    <a:srgbClr val="000000"/>
                  </a:solidFill>
                  <a:latin typeface="72 Brand" panose="020B0504030603020204" pitchFamily="34" charset="0"/>
                  <a:ea typeface="Arial Unicode MS"/>
                  <a:cs typeface="Arial"/>
                </a:rPr>
                <a:t>individually summarized</a:t>
              </a:r>
              <a:r>
                <a:rPr lang="en-US" sz="1200" kern="0">
                  <a:solidFill>
                    <a:srgbClr val="000000"/>
                  </a:solidFill>
                  <a:latin typeface="72 Brand Light" panose="020B0304030603020204" pitchFamily="34" charset="0"/>
                  <a:ea typeface="Arial Unicode MS"/>
                  <a:cs typeface="Arial"/>
                </a:rPr>
                <a:t> using </a:t>
              </a:r>
              <a:r>
                <a:rPr lang="en-US" sz="1200" kern="0" err="1">
                  <a:solidFill>
                    <a:srgbClr val="000000"/>
                  </a:solidFill>
                  <a:latin typeface="72 Brand Light" panose="020B0304030603020204" pitchFamily="34" charset="0"/>
                  <a:ea typeface="Arial Unicode MS"/>
                  <a:cs typeface="Arial"/>
                </a:rPr>
                <a:t>LLMChain</a:t>
              </a:r>
              <a:r>
                <a:rPr lang="en-US" sz="1200" kern="0">
                  <a:solidFill>
                    <a:srgbClr val="000000"/>
                  </a:solidFill>
                  <a:latin typeface="72 Brand Light" panose="020B0304030603020204" pitchFamily="34" charset="0"/>
                  <a:ea typeface="Arial Unicode MS"/>
                  <a:cs typeface="Arial"/>
                </a:rPr>
                <a:t>.</a:t>
              </a:r>
              <a:endParaRPr lang="en-US" sz="1200" kern="0">
                <a:solidFill>
                  <a:srgbClr val="000000"/>
                </a:solidFill>
                <a:latin typeface="72 Brand Medium" panose="020B0504030603020204" pitchFamily="34" charset="0"/>
                <a:ea typeface="Arial Unicode MS"/>
                <a:cs typeface="Arial"/>
              </a:endParaRPr>
            </a:p>
          </p:txBody>
        </p:sp>
      </p:grpSp>
      <p:grpSp>
        <p:nvGrpSpPr>
          <p:cNvPr id="37" name="Group 36">
            <a:extLst>
              <a:ext uri="{FF2B5EF4-FFF2-40B4-BE49-F238E27FC236}">
                <a16:creationId xmlns:a16="http://schemas.microsoft.com/office/drawing/2014/main" id="{0BA44DDE-C4B0-B388-8ECC-62FF4A2F0F08}"/>
              </a:ext>
            </a:extLst>
          </p:cNvPr>
          <p:cNvGrpSpPr/>
          <p:nvPr/>
        </p:nvGrpSpPr>
        <p:grpSpPr>
          <a:xfrm>
            <a:off x="8573822" y="4969884"/>
            <a:ext cx="3221393" cy="864702"/>
            <a:chOff x="8576054" y="1701689"/>
            <a:chExt cx="3222232" cy="864928"/>
          </a:xfrm>
        </p:grpSpPr>
        <p:sp>
          <p:nvSpPr>
            <p:cNvPr id="39" name="Rectangle 38">
              <a:extLst>
                <a:ext uri="{FF2B5EF4-FFF2-40B4-BE49-F238E27FC236}">
                  <a16:creationId xmlns:a16="http://schemas.microsoft.com/office/drawing/2014/main" id="{D8F7C607-07C9-8F37-653C-B9AD77900CF4}"/>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Reduce Step</a:t>
              </a:r>
            </a:p>
          </p:txBody>
        </p:sp>
        <p:sp>
          <p:nvSpPr>
            <p:cNvPr id="66" name="Rectangle 65">
              <a:extLst>
                <a:ext uri="{FF2B5EF4-FFF2-40B4-BE49-F238E27FC236}">
                  <a16:creationId xmlns:a16="http://schemas.microsoft.com/office/drawing/2014/main" id="{F53618A9-0C3D-ADF3-9E92-2BC2DC657505}"/>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Second step, where we aim to combine these </a:t>
              </a:r>
              <a:r>
                <a:rPr lang="en-US" sz="1200" b="1" kern="0">
                  <a:solidFill>
                    <a:srgbClr val="000000"/>
                  </a:solidFill>
                  <a:latin typeface="72 Brand" panose="020B0504030603020204" pitchFamily="34" charset="0"/>
                  <a:ea typeface="Arial Unicode MS"/>
                  <a:cs typeface="Arial"/>
                </a:rPr>
                <a:t>individual summaries </a:t>
              </a:r>
              <a:r>
                <a:rPr lang="en-US" sz="1200" kern="0">
                  <a:solidFill>
                    <a:srgbClr val="000000"/>
                  </a:solidFill>
                  <a:latin typeface="72 Brand Light" panose="020B0304030603020204" pitchFamily="34" charset="0"/>
                  <a:ea typeface="Arial Unicode MS"/>
                  <a:cs typeface="Arial"/>
                </a:rPr>
                <a:t>into one </a:t>
              </a:r>
              <a:r>
                <a:rPr lang="en-US" sz="1200" b="1" kern="0">
                  <a:solidFill>
                    <a:srgbClr val="000000"/>
                  </a:solidFill>
                  <a:latin typeface="72 Brand" panose="020B0504030603020204" pitchFamily="34" charset="0"/>
                  <a:ea typeface="Arial Unicode MS"/>
                  <a:cs typeface="Arial"/>
                </a:rPr>
                <a:t>cohesive final summary</a:t>
              </a:r>
              <a:r>
                <a:rPr lang="en-US" sz="1200" kern="0">
                  <a:solidFill>
                    <a:srgbClr val="000000"/>
                  </a:solidFill>
                  <a:latin typeface="72 Brand Light" panose="020B0304030603020204" pitchFamily="34" charset="0"/>
                  <a:ea typeface="Arial Unicode MS"/>
                  <a:cs typeface="Arial"/>
                </a:rPr>
                <a:t>.</a:t>
              </a:r>
            </a:p>
          </p:txBody>
        </p:sp>
      </p:grpSp>
      <p:sp>
        <p:nvSpPr>
          <p:cNvPr id="30" name="Rectangle: Rounded Corners 3">
            <a:extLst>
              <a:ext uri="{FF2B5EF4-FFF2-40B4-BE49-F238E27FC236}">
                <a16:creationId xmlns:a16="http://schemas.microsoft.com/office/drawing/2014/main" id="{C38F7C15-4AF9-B202-659D-035DAB7F1A7A}"/>
              </a:ext>
            </a:extLst>
          </p:cNvPr>
          <p:cNvSpPr/>
          <p:nvPr/>
        </p:nvSpPr>
        <p:spPr bwMode="auto">
          <a:xfrm flipH="1">
            <a:off x="4350051" y="2402187"/>
            <a:ext cx="2911066" cy="3228274"/>
          </a:xfrm>
          <a:prstGeom prst="roundRect">
            <a:avLst>
              <a:gd name="adj" fmla="val 2588"/>
            </a:avLst>
          </a:prstGeom>
          <a:noFill/>
          <a:ln w="6350">
            <a:solidFill>
              <a:schemeClr val="tx1"/>
            </a:solid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51" name="Rectangle: Rounded Corners 3">
            <a:extLst>
              <a:ext uri="{FF2B5EF4-FFF2-40B4-BE49-F238E27FC236}">
                <a16:creationId xmlns:a16="http://schemas.microsoft.com/office/drawing/2014/main" id="{179DD4DB-877B-4ACA-0B20-7062E96CFD30}"/>
              </a:ext>
            </a:extLst>
          </p:cNvPr>
          <p:cNvSpPr/>
          <p:nvPr/>
        </p:nvSpPr>
        <p:spPr bwMode="auto">
          <a:xfrm flipH="1">
            <a:off x="7354121" y="2402187"/>
            <a:ext cx="628161" cy="3228274"/>
          </a:xfrm>
          <a:prstGeom prst="roundRect">
            <a:avLst>
              <a:gd name="adj" fmla="val 2588"/>
            </a:avLst>
          </a:prstGeom>
          <a:noFill/>
          <a:ln w="6350">
            <a:solidFill>
              <a:schemeClr val="accent3">
                <a:lumMod val="60000"/>
                <a:lumOff val="40000"/>
              </a:schemeClr>
            </a:solid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56" name="Rectangle: Rounded Corners 3">
            <a:extLst>
              <a:ext uri="{FF2B5EF4-FFF2-40B4-BE49-F238E27FC236}">
                <a16:creationId xmlns:a16="http://schemas.microsoft.com/office/drawing/2014/main" id="{42F19316-2372-F7BB-F5E2-9498C66AE44A}"/>
              </a:ext>
            </a:extLst>
          </p:cNvPr>
          <p:cNvSpPr/>
          <p:nvPr/>
        </p:nvSpPr>
        <p:spPr bwMode="auto">
          <a:xfrm flipH="1">
            <a:off x="7455720" y="2723239"/>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57" name="Rectangle: Rounded Corners 3">
            <a:extLst>
              <a:ext uri="{FF2B5EF4-FFF2-40B4-BE49-F238E27FC236}">
                <a16:creationId xmlns:a16="http://schemas.microsoft.com/office/drawing/2014/main" id="{D110ED1E-3C0D-9EC9-C261-0EC43BE95848}"/>
              </a:ext>
            </a:extLst>
          </p:cNvPr>
          <p:cNvSpPr/>
          <p:nvPr/>
        </p:nvSpPr>
        <p:spPr bwMode="auto">
          <a:xfrm flipH="1">
            <a:off x="7455720" y="3368707"/>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58" name="Rectangle: Rounded Corners 3">
            <a:extLst>
              <a:ext uri="{FF2B5EF4-FFF2-40B4-BE49-F238E27FC236}">
                <a16:creationId xmlns:a16="http://schemas.microsoft.com/office/drawing/2014/main" id="{DD30454B-D975-BE2D-68D1-820CDA47EB42}"/>
              </a:ext>
            </a:extLst>
          </p:cNvPr>
          <p:cNvSpPr/>
          <p:nvPr/>
        </p:nvSpPr>
        <p:spPr bwMode="auto">
          <a:xfrm flipH="1">
            <a:off x="7464316" y="4334481"/>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cxnSp>
        <p:nvCxnSpPr>
          <p:cNvPr id="13" name="Straight Arrow Connector 12">
            <a:extLst>
              <a:ext uri="{FF2B5EF4-FFF2-40B4-BE49-F238E27FC236}">
                <a16:creationId xmlns:a16="http://schemas.microsoft.com/office/drawing/2014/main" id="{8FEA04DA-CF19-6EC2-174D-590F7AE1503F}"/>
              </a:ext>
            </a:extLst>
          </p:cNvPr>
          <p:cNvCxnSpPr>
            <a:cxnSpLocks/>
            <a:stCxn id="11" idx="1"/>
            <a:endCxn id="19" idx="3"/>
          </p:cNvCxnSpPr>
          <p:nvPr/>
        </p:nvCxnSpPr>
        <p:spPr>
          <a:xfrm>
            <a:off x="1459475" y="3930569"/>
            <a:ext cx="376260" cy="2022"/>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8E2B7F1-EA8C-52D1-0ABB-116AFA9BD33A}"/>
              </a:ext>
            </a:extLst>
          </p:cNvPr>
          <p:cNvCxnSpPr>
            <a:cxnSpLocks/>
            <a:endCxn id="20" idx="3"/>
          </p:cNvCxnSpPr>
          <p:nvPr/>
        </p:nvCxnSpPr>
        <p:spPr>
          <a:xfrm flipV="1">
            <a:off x="2746669" y="2928758"/>
            <a:ext cx="264451" cy="841523"/>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8F6DD94-6CDF-4CDE-3492-389C6E84EC04}"/>
              </a:ext>
            </a:extLst>
          </p:cNvPr>
          <p:cNvCxnSpPr>
            <a:cxnSpLocks/>
            <a:endCxn id="207" idx="3"/>
          </p:cNvCxnSpPr>
          <p:nvPr/>
        </p:nvCxnSpPr>
        <p:spPr>
          <a:xfrm flipV="1">
            <a:off x="2750972" y="3560961"/>
            <a:ext cx="283410" cy="229448"/>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9ABB307-C734-53D9-51EA-0123DF4EC6A6}"/>
              </a:ext>
            </a:extLst>
          </p:cNvPr>
          <p:cNvCxnSpPr>
            <a:cxnSpLocks/>
            <a:endCxn id="210" idx="3"/>
          </p:cNvCxnSpPr>
          <p:nvPr/>
        </p:nvCxnSpPr>
        <p:spPr>
          <a:xfrm>
            <a:off x="2742795" y="4073213"/>
            <a:ext cx="290627" cy="44187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FBA0374D-66E4-9F5B-A871-5EEF3B1881EA}"/>
              </a:ext>
            </a:extLst>
          </p:cNvPr>
          <p:cNvCxnSpPr>
            <a:cxnSpLocks/>
            <a:endCxn id="213" idx="3"/>
          </p:cNvCxnSpPr>
          <p:nvPr/>
        </p:nvCxnSpPr>
        <p:spPr>
          <a:xfrm>
            <a:off x="2757980" y="4073213"/>
            <a:ext cx="283892" cy="1087291"/>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6FDE837-1974-0E82-79BB-8B94A8CD8FD8}"/>
              </a:ext>
            </a:extLst>
          </p:cNvPr>
          <p:cNvCxnSpPr>
            <a:cxnSpLocks/>
          </p:cNvCxnSpPr>
          <p:nvPr/>
        </p:nvCxnSpPr>
        <p:spPr>
          <a:xfrm>
            <a:off x="3928110" y="2910399"/>
            <a:ext cx="99389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B05A1A9-D556-AE0E-1AD0-4B8158CA16A4}"/>
              </a:ext>
            </a:extLst>
          </p:cNvPr>
          <p:cNvCxnSpPr>
            <a:cxnSpLocks/>
          </p:cNvCxnSpPr>
          <p:nvPr/>
        </p:nvCxnSpPr>
        <p:spPr>
          <a:xfrm>
            <a:off x="5871038" y="2872144"/>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205" name="Group 204">
            <a:extLst>
              <a:ext uri="{FF2B5EF4-FFF2-40B4-BE49-F238E27FC236}">
                <a16:creationId xmlns:a16="http://schemas.microsoft.com/office/drawing/2014/main" id="{1B0A128F-315D-0C71-0D45-74B7B2016BD7}"/>
              </a:ext>
            </a:extLst>
          </p:cNvPr>
          <p:cNvGrpSpPr/>
          <p:nvPr/>
        </p:nvGrpSpPr>
        <p:grpSpPr>
          <a:xfrm>
            <a:off x="2985235" y="2755630"/>
            <a:ext cx="943835" cy="328396"/>
            <a:chOff x="2985235" y="2755630"/>
            <a:chExt cx="943835" cy="328396"/>
          </a:xfrm>
        </p:grpSpPr>
        <p:sp>
          <p:nvSpPr>
            <p:cNvPr id="20" name="Rectangle: Rounded Corners 3">
              <a:extLst>
                <a:ext uri="{FF2B5EF4-FFF2-40B4-BE49-F238E27FC236}">
                  <a16:creationId xmlns:a16="http://schemas.microsoft.com/office/drawing/2014/main" id="{1C78B16F-9A0D-9F2D-0F0F-E2D1FF5FCDFA}"/>
                </a:ext>
              </a:extLst>
            </p:cNvPr>
            <p:cNvSpPr/>
            <p:nvPr/>
          </p:nvSpPr>
          <p:spPr bwMode="auto">
            <a:xfrm flipH="1">
              <a:off x="3011120" y="2773490"/>
              <a:ext cx="916990" cy="310536"/>
            </a:xfrm>
            <a:prstGeom prst="roundRect">
              <a:avLst>
                <a:gd name="adj" fmla="val 2588"/>
              </a:avLst>
            </a:prstGeom>
            <a:solidFill>
              <a:schemeClr val="bg1">
                <a:lumMod val="85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90" name="Rectangle 89">
              <a:extLst>
                <a:ext uri="{FF2B5EF4-FFF2-40B4-BE49-F238E27FC236}">
                  <a16:creationId xmlns:a16="http://schemas.microsoft.com/office/drawing/2014/main" id="{8E69E61E-E561-EDA4-4AAF-4DF22C04B94A}"/>
                </a:ext>
              </a:extLst>
            </p:cNvPr>
            <p:cNvSpPr/>
            <p:nvPr/>
          </p:nvSpPr>
          <p:spPr bwMode="auto">
            <a:xfrm>
              <a:off x="2985235" y="2755630"/>
              <a:ext cx="943835" cy="3231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endParaRPr lang="en-US" sz="700" kern="0">
                <a:solidFill>
                  <a:srgbClr val="000000"/>
                </a:solidFill>
                <a:latin typeface="72 Brand Light" panose="020B0304030603020204" pitchFamily="34" charset="0"/>
                <a:ea typeface="Arial Unicode MS"/>
                <a:cs typeface="Arial"/>
              </a:endParaRPr>
            </a:p>
            <a:p>
              <a:pPr algn="ctr" defTabSz="1088449">
                <a:defRPr/>
              </a:pPr>
              <a:r>
                <a:rPr lang="en-US" sz="700" kern="0">
                  <a:solidFill>
                    <a:srgbClr val="000000"/>
                  </a:solidFill>
                  <a:latin typeface="72 Brand Light" panose="020B0304030603020204" pitchFamily="34" charset="0"/>
                  <a:ea typeface="Arial Unicode MS"/>
                  <a:cs typeface="Arial"/>
                </a:rPr>
                <a:t>Chunk-1</a:t>
              </a:r>
            </a:p>
            <a:p>
              <a:pPr algn="ctr" defTabSz="1088449">
                <a:defRPr/>
              </a:pPr>
              <a:endParaRPr lang="en-US" sz="700" kern="0">
                <a:solidFill>
                  <a:srgbClr val="000000"/>
                </a:solidFill>
                <a:latin typeface="72 Brand Light" panose="020B0304030603020204" pitchFamily="34" charset="0"/>
                <a:ea typeface="Arial Unicode MS"/>
                <a:cs typeface="Arial"/>
              </a:endParaRPr>
            </a:p>
          </p:txBody>
        </p:sp>
      </p:grpSp>
      <p:grpSp>
        <p:nvGrpSpPr>
          <p:cNvPr id="221" name="Group 220">
            <a:extLst>
              <a:ext uri="{FF2B5EF4-FFF2-40B4-BE49-F238E27FC236}">
                <a16:creationId xmlns:a16="http://schemas.microsoft.com/office/drawing/2014/main" id="{E62C0156-531D-919A-97CC-D716E522D539}"/>
              </a:ext>
            </a:extLst>
          </p:cNvPr>
          <p:cNvGrpSpPr/>
          <p:nvPr/>
        </p:nvGrpSpPr>
        <p:grpSpPr>
          <a:xfrm>
            <a:off x="4926954" y="3330027"/>
            <a:ext cx="949038" cy="340424"/>
            <a:chOff x="4926954" y="3272497"/>
            <a:chExt cx="949038" cy="479177"/>
          </a:xfrm>
        </p:grpSpPr>
        <p:sp>
          <p:nvSpPr>
            <p:cNvPr id="43" name="Rectangle: Rounded Corners 3">
              <a:extLst>
                <a:ext uri="{FF2B5EF4-FFF2-40B4-BE49-F238E27FC236}">
                  <a16:creationId xmlns:a16="http://schemas.microsoft.com/office/drawing/2014/main" id="{C5ED6986-95A9-DD2B-2A39-D1619B1C5901}"/>
                </a:ext>
              </a:extLst>
            </p:cNvPr>
            <p:cNvSpPr/>
            <p:nvPr/>
          </p:nvSpPr>
          <p:spPr bwMode="auto">
            <a:xfrm flipH="1">
              <a:off x="4944077" y="3272497"/>
              <a:ext cx="916990" cy="479177"/>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95" name="Rectangle 94">
              <a:extLst>
                <a:ext uri="{FF2B5EF4-FFF2-40B4-BE49-F238E27FC236}">
                  <a16:creationId xmlns:a16="http://schemas.microsoft.com/office/drawing/2014/main" id="{20D023CF-0A91-EF67-E0A7-9FE852AB6723}"/>
                </a:ext>
              </a:extLst>
            </p:cNvPr>
            <p:cNvSpPr/>
            <p:nvPr/>
          </p:nvSpPr>
          <p:spPr bwMode="auto">
            <a:xfrm>
              <a:off x="4926954" y="3331526"/>
              <a:ext cx="94903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kern="0">
                  <a:solidFill>
                    <a:srgbClr val="000000"/>
                  </a:solidFill>
                  <a:latin typeface="72 Brand Light" panose="020B0304030603020204" pitchFamily="34" charset="0"/>
                  <a:ea typeface="Arial Unicode MS"/>
                  <a:cs typeface="Arial"/>
                </a:rPr>
                <a:t>Prompt</a:t>
              </a:r>
            </a:p>
            <a:p>
              <a:pPr algn="ctr" defTabSz="1088449">
                <a:defRPr/>
              </a:pPr>
              <a:r>
                <a:rPr lang="en-US" sz="800" kern="0">
                  <a:solidFill>
                    <a:srgbClr val="000000"/>
                  </a:solidFill>
                  <a:latin typeface="72 Brand Light" panose="020B0304030603020204" pitchFamily="34" charset="0"/>
                  <a:ea typeface="Arial Unicode MS"/>
                  <a:cs typeface="Arial"/>
                </a:rPr>
                <a:t>{chunk-2}</a:t>
              </a:r>
            </a:p>
            <a:p>
              <a:pPr algn="ctr" defTabSz="1088449">
                <a:defRPr/>
              </a:pPr>
              <a:endParaRPr lang="en-US" sz="800" kern="0">
                <a:solidFill>
                  <a:srgbClr val="000000"/>
                </a:solidFill>
                <a:latin typeface="72 Brand Light" panose="020B0304030603020204" pitchFamily="34" charset="0"/>
                <a:ea typeface="Arial Unicode MS"/>
                <a:cs typeface="Arial"/>
              </a:endParaRPr>
            </a:p>
          </p:txBody>
        </p:sp>
      </p:grpSp>
      <p:sp>
        <p:nvSpPr>
          <p:cNvPr id="59" name="Rectangle: Rounded Corners 3">
            <a:extLst>
              <a:ext uri="{FF2B5EF4-FFF2-40B4-BE49-F238E27FC236}">
                <a16:creationId xmlns:a16="http://schemas.microsoft.com/office/drawing/2014/main" id="{A1F4B202-3708-88E6-DBE8-B226E39EF7E0}"/>
              </a:ext>
            </a:extLst>
          </p:cNvPr>
          <p:cNvSpPr/>
          <p:nvPr/>
        </p:nvSpPr>
        <p:spPr bwMode="auto">
          <a:xfrm flipH="1">
            <a:off x="7451302" y="4973782"/>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110" name="Freeform 109">
            <a:extLst>
              <a:ext uri="{FF2B5EF4-FFF2-40B4-BE49-F238E27FC236}">
                <a16:creationId xmlns:a16="http://schemas.microsoft.com/office/drawing/2014/main" id="{A99138A5-F403-B9DB-BF0B-C479E011B4AE}"/>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44" name="Title 25">
            <a:extLst>
              <a:ext uri="{FF2B5EF4-FFF2-40B4-BE49-F238E27FC236}">
                <a16:creationId xmlns:a16="http://schemas.microsoft.com/office/drawing/2014/main" id="{31941D1A-CCC3-ED3E-CCA3-00458840B95B}"/>
              </a:ext>
            </a:extLst>
          </p:cNvPr>
          <p:cNvSpPr txBox="1">
            <a:spLocks/>
          </p:cNvSpPr>
          <p:nvPr/>
        </p:nvSpPr>
        <p:spPr bwMode="black">
          <a:xfrm>
            <a:off x="503870" y="504762"/>
            <a:ext cx="11183564" cy="584623"/>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defTabSz="1088231">
              <a:defRPr/>
            </a:pPr>
            <a:r>
              <a:rPr lang="en-US" sz="1400" b="1" spc="-20">
                <a:gradFill flip="none" rotWithShape="1">
                  <a:gsLst>
                    <a:gs pos="0">
                      <a:srgbClr val="0070F2"/>
                    </a:gs>
                    <a:gs pos="100000">
                      <a:srgbClr val="0070F2">
                        <a:lumMod val="75000"/>
                      </a:srgbClr>
                    </a:gs>
                  </a:gsLst>
                  <a:lin ang="0" scaled="1"/>
                  <a:tileRect/>
                </a:gradFill>
                <a:latin typeface="72" panose="020B0503030000000003" pitchFamily="34" charset="0"/>
                <a:cs typeface="72" panose="020B0503030000000003" pitchFamily="34" charset="0"/>
              </a:rPr>
              <a:t>Summarization Chain &amp; its Techniques</a:t>
            </a:r>
          </a:p>
          <a:p>
            <a:pPr defTabSz="1088231">
              <a:defRPr/>
            </a:pPr>
            <a:r>
              <a:rPr lang="en-US" sz="2399">
                <a:solidFill>
                  <a:srgbClr val="000000"/>
                </a:solidFill>
              </a:rPr>
              <a:t>Map-Reduce is the pragmatic solution to Summarization</a:t>
            </a:r>
          </a:p>
        </p:txBody>
      </p:sp>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grpSp>
        <p:nvGrpSpPr>
          <p:cNvPr id="202" name="Group 201">
            <a:extLst>
              <a:ext uri="{FF2B5EF4-FFF2-40B4-BE49-F238E27FC236}">
                <a16:creationId xmlns:a16="http://schemas.microsoft.com/office/drawing/2014/main" id="{8F49BFF6-9599-760A-C1D8-C59D0B1E5C20}"/>
              </a:ext>
            </a:extLst>
          </p:cNvPr>
          <p:cNvGrpSpPr/>
          <p:nvPr/>
        </p:nvGrpSpPr>
        <p:grpSpPr>
          <a:xfrm>
            <a:off x="1763147" y="3777323"/>
            <a:ext cx="1015810" cy="604376"/>
            <a:chOff x="1763147" y="3777323"/>
            <a:chExt cx="1015810" cy="604376"/>
          </a:xfrm>
        </p:grpSpPr>
        <p:sp>
          <p:nvSpPr>
            <p:cNvPr id="19" name="Rectangle: Rounded Corners 3">
              <a:extLst>
                <a:ext uri="{FF2B5EF4-FFF2-40B4-BE49-F238E27FC236}">
                  <a16:creationId xmlns:a16="http://schemas.microsoft.com/office/drawing/2014/main" id="{5F9AD6BC-E90F-D696-1EFB-77441A26ED3C}"/>
                </a:ext>
              </a:extLst>
            </p:cNvPr>
            <p:cNvSpPr/>
            <p:nvPr/>
          </p:nvSpPr>
          <p:spPr bwMode="auto">
            <a:xfrm flipH="1">
              <a:off x="1835735" y="3777323"/>
              <a:ext cx="916990" cy="310536"/>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89" name="Rectangle 88">
              <a:extLst>
                <a:ext uri="{FF2B5EF4-FFF2-40B4-BE49-F238E27FC236}">
                  <a16:creationId xmlns:a16="http://schemas.microsoft.com/office/drawing/2014/main" id="{127FF33C-E8EE-5FB0-1138-7B8805014E04}"/>
                </a:ext>
              </a:extLst>
            </p:cNvPr>
            <p:cNvSpPr/>
            <p:nvPr/>
          </p:nvSpPr>
          <p:spPr bwMode="auto">
            <a:xfrm>
              <a:off x="1930288" y="3856286"/>
              <a:ext cx="726157"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kern="0">
                  <a:solidFill>
                    <a:schemeClr val="bg1"/>
                  </a:solidFill>
                  <a:latin typeface="72 Brand Light" panose="020B0304030603020204" pitchFamily="34" charset="0"/>
                  <a:ea typeface="Arial Unicode MS"/>
                  <a:cs typeface="Arial"/>
                </a:rPr>
                <a:t>Splitter</a:t>
              </a:r>
            </a:p>
          </p:txBody>
        </p:sp>
        <p:sp>
          <p:nvSpPr>
            <p:cNvPr id="12" name="Rectangle 11">
              <a:extLst>
                <a:ext uri="{FF2B5EF4-FFF2-40B4-BE49-F238E27FC236}">
                  <a16:creationId xmlns:a16="http://schemas.microsoft.com/office/drawing/2014/main" id="{E0D68846-ACC4-B24B-2FC1-3A7ABE1B0BB7}"/>
                </a:ext>
              </a:extLst>
            </p:cNvPr>
            <p:cNvSpPr/>
            <p:nvPr/>
          </p:nvSpPr>
          <p:spPr bwMode="auto">
            <a:xfrm>
              <a:off x="1763147" y="4135478"/>
              <a:ext cx="1015810"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Splits content into smaller chunks</a:t>
              </a:r>
            </a:p>
          </p:txBody>
        </p:sp>
      </p:grpSp>
      <p:sp>
        <p:nvSpPr>
          <p:cNvPr id="16" name="Rectangle 15">
            <a:extLst>
              <a:ext uri="{FF2B5EF4-FFF2-40B4-BE49-F238E27FC236}">
                <a16:creationId xmlns:a16="http://schemas.microsoft.com/office/drawing/2014/main" id="{00A49F3E-2428-BFAE-7E85-2FBA55219206}"/>
              </a:ext>
            </a:extLst>
          </p:cNvPr>
          <p:cNvSpPr/>
          <p:nvPr/>
        </p:nvSpPr>
        <p:spPr bwMode="auto">
          <a:xfrm>
            <a:off x="5297679" y="5674885"/>
            <a:ext cx="1015810" cy="123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Map Chain</a:t>
            </a:r>
          </a:p>
        </p:txBody>
      </p:sp>
      <p:sp>
        <p:nvSpPr>
          <p:cNvPr id="18" name="Rectangle 17">
            <a:extLst>
              <a:ext uri="{FF2B5EF4-FFF2-40B4-BE49-F238E27FC236}">
                <a16:creationId xmlns:a16="http://schemas.microsoft.com/office/drawing/2014/main" id="{A4192306-39B5-1308-05A2-75947CE30BB3}"/>
              </a:ext>
            </a:extLst>
          </p:cNvPr>
          <p:cNvSpPr/>
          <p:nvPr/>
        </p:nvSpPr>
        <p:spPr bwMode="auto">
          <a:xfrm>
            <a:off x="7137526" y="5663568"/>
            <a:ext cx="1015810" cy="123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Chunk Summaries</a:t>
            </a:r>
          </a:p>
        </p:txBody>
      </p:sp>
      <p:sp>
        <p:nvSpPr>
          <p:cNvPr id="72" name="Rectangle: Rounded Corners 93">
            <a:extLst>
              <a:ext uri="{FF2B5EF4-FFF2-40B4-BE49-F238E27FC236}">
                <a16:creationId xmlns:a16="http://schemas.microsoft.com/office/drawing/2014/main" id="{9EBCAB34-719E-C531-B480-96278A1303CD}"/>
              </a:ext>
            </a:extLst>
          </p:cNvPr>
          <p:cNvSpPr/>
          <p:nvPr/>
        </p:nvSpPr>
        <p:spPr bwMode="auto">
          <a:xfrm>
            <a:off x="600900" y="1764614"/>
            <a:ext cx="7498302" cy="169233"/>
          </a:xfrm>
          <a:prstGeom prst="roundRect">
            <a:avLst>
              <a:gd name="adj" fmla="val 22001"/>
            </a:avLst>
          </a:prstGeom>
          <a:solidFill>
            <a:schemeClr val="bg1">
              <a:alpha val="74143"/>
            </a:schemeClr>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cxnSp>
        <p:nvCxnSpPr>
          <p:cNvPr id="136" name="Straight Arrow Connector 135">
            <a:extLst>
              <a:ext uri="{FF2B5EF4-FFF2-40B4-BE49-F238E27FC236}">
                <a16:creationId xmlns:a16="http://schemas.microsoft.com/office/drawing/2014/main" id="{0477F8D7-00FA-3C6F-82C2-2DBEDCD5BDA4}"/>
              </a:ext>
            </a:extLst>
          </p:cNvPr>
          <p:cNvCxnSpPr>
            <a:cxnSpLocks/>
          </p:cNvCxnSpPr>
          <p:nvPr/>
        </p:nvCxnSpPr>
        <p:spPr>
          <a:xfrm>
            <a:off x="3945714" y="3512085"/>
            <a:ext cx="976286"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6839B5BD-F2B3-7A51-D38C-C1CFDFDA1751}"/>
              </a:ext>
            </a:extLst>
          </p:cNvPr>
          <p:cNvCxnSpPr>
            <a:cxnSpLocks/>
          </p:cNvCxnSpPr>
          <p:nvPr/>
        </p:nvCxnSpPr>
        <p:spPr>
          <a:xfrm>
            <a:off x="5871038" y="3529792"/>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D22CD1B8-35DA-BD21-521B-540FB3E68E04}"/>
              </a:ext>
            </a:extLst>
          </p:cNvPr>
          <p:cNvCxnSpPr>
            <a:cxnSpLocks/>
          </p:cNvCxnSpPr>
          <p:nvPr/>
        </p:nvCxnSpPr>
        <p:spPr>
          <a:xfrm>
            <a:off x="5871038" y="4522058"/>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4" name="Straight Arrow Connector 153">
            <a:extLst>
              <a:ext uri="{FF2B5EF4-FFF2-40B4-BE49-F238E27FC236}">
                <a16:creationId xmlns:a16="http://schemas.microsoft.com/office/drawing/2014/main" id="{EB67AB54-A25B-AF55-9D40-D83F55149AA5}"/>
              </a:ext>
            </a:extLst>
          </p:cNvPr>
          <p:cNvCxnSpPr>
            <a:cxnSpLocks/>
          </p:cNvCxnSpPr>
          <p:nvPr/>
        </p:nvCxnSpPr>
        <p:spPr>
          <a:xfrm>
            <a:off x="5866870" y="5179236"/>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00147E90-6C37-7E74-E034-6C536DEEC3EA}"/>
              </a:ext>
            </a:extLst>
          </p:cNvPr>
          <p:cNvCxnSpPr>
            <a:cxnSpLocks/>
          </p:cNvCxnSpPr>
          <p:nvPr/>
        </p:nvCxnSpPr>
        <p:spPr>
          <a:xfrm>
            <a:off x="3945714" y="4522058"/>
            <a:ext cx="988867"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3" name="Straight Arrow Connector 162">
            <a:extLst>
              <a:ext uri="{FF2B5EF4-FFF2-40B4-BE49-F238E27FC236}">
                <a16:creationId xmlns:a16="http://schemas.microsoft.com/office/drawing/2014/main" id="{DBEF302F-CD00-EF62-0070-FF22DBD3D612}"/>
              </a:ext>
            </a:extLst>
          </p:cNvPr>
          <p:cNvCxnSpPr>
            <a:cxnSpLocks/>
          </p:cNvCxnSpPr>
          <p:nvPr/>
        </p:nvCxnSpPr>
        <p:spPr>
          <a:xfrm>
            <a:off x="3945714" y="5179236"/>
            <a:ext cx="988867"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4" name="Straight Arrow Connector 163">
            <a:extLst>
              <a:ext uri="{FF2B5EF4-FFF2-40B4-BE49-F238E27FC236}">
                <a16:creationId xmlns:a16="http://schemas.microsoft.com/office/drawing/2014/main" id="{7E4AC5C5-10A3-7696-89F9-A29CD1E12C19}"/>
              </a:ext>
            </a:extLst>
          </p:cNvPr>
          <p:cNvCxnSpPr>
            <a:cxnSpLocks/>
          </p:cNvCxnSpPr>
          <p:nvPr/>
        </p:nvCxnSpPr>
        <p:spPr>
          <a:xfrm>
            <a:off x="6990495" y="2895501"/>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25A62DD8-0966-447A-6F7D-A07879644BBB}"/>
              </a:ext>
            </a:extLst>
          </p:cNvPr>
          <p:cNvCxnSpPr>
            <a:cxnSpLocks/>
          </p:cNvCxnSpPr>
          <p:nvPr/>
        </p:nvCxnSpPr>
        <p:spPr>
          <a:xfrm>
            <a:off x="6990495" y="3512085"/>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20A6792D-1269-65CE-BF61-56163E42B1FB}"/>
              </a:ext>
            </a:extLst>
          </p:cNvPr>
          <p:cNvCxnSpPr>
            <a:cxnSpLocks/>
          </p:cNvCxnSpPr>
          <p:nvPr/>
        </p:nvCxnSpPr>
        <p:spPr>
          <a:xfrm>
            <a:off x="6990495" y="4497628"/>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1D2A79CF-E8EB-E57B-6616-00492B15B5A1}"/>
              </a:ext>
            </a:extLst>
          </p:cNvPr>
          <p:cNvCxnSpPr>
            <a:cxnSpLocks/>
          </p:cNvCxnSpPr>
          <p:nvPr/>
        </p:nvCxnSpPr>
        <p:spPr>
          <a:xfrm>
            <a:off x="6990495" y="5169582"/>
            <a:ext cx="465225"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201" name="Group 200">
            <a:extLst>
              <a:ext uri="{FF2B5EF4-FFF2-40B4-BE49-F238E27FC236}">
                <a16:creationId xmlns:a16="http://schemas.microsoft.com/office/drawing/2014/main" id="{46396413-6030-DEE6-27D6-12797F1CA8F2}"/>
              </a:ext>
            </a:extLst>
          </p:cNvPr>
          <p:cNvGrpSpPr/>
          <p:nvPr/>
        </p:nvGrpSpPr>
        <p:grpSpPr>
          <a:xfrm>
            <a:off x="629098" y="2655480"/>
            <a:ext cx="1015810" cy="2700742"/>
            <a:chOff x="641735" y="2773490"/>
            <a:chExt cx="1015810" cy="2700742"/>
          </a:xfrm>
        </p:grpSpPr>
        <p:sp>
          <p:nvSpPr>
            <p:cNvPr id="3" name="Rectangle 2">
              <a:extLst>
                <a:ext uri="{FF2B5EF4-FFF2-40B4-BE49-F238E27FC236}">
                  <a16:creationId xmlns:a16="http://schemas.microsoft.com/office/drawing/2014/main" id="{A5F69173-4BE9-F4D9-EA63-543F11ADAE87}"/>
                </a:ext>
              </a:extLst>
            </p:cNvPr>
            <p:cNvSpPr/>
            <p:nvPr/>
          </p:nvSpPr>
          <p:spPr bwMode="auto">
            <a:xfrm>
              <a:off x="641735" y="5351121"/>
              <a:ext cx="1015810" cy="123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Documents</a:t>
              </a:r>
            </a:p>
          </p:txBody>
        </p:sp>
        <p:grpSp>
          <p:nvGrpSpPr>
            <p:cNvPr id="183" name="Group 182">
              <a:extLst>
                <a:ext uri="{FF2B5EF4-FFF2-40B4-BE49-F238E27FC236}">
                  <a16:creationId xmlns:a16="http://schemas.microsoft.com/office/drawing/2014/main" id="{94D9273A-7632-EF27-7DF6-45F420D8420F}"/>
                </a:ext>
              </a:extLst>
            </p:cNvPr>
            <p:cNvGrpSpPr/>
            <p:nvPr/>
          </p:nvGrpSpPr>
          <p:grpSpPr>
            <a:xfrm>
              <a:off x="711785" y="2773490"/>
              <a:ext cx="760327" cy="2550178"/>
              <a:chOff x="711785" y="2773490"/>
              <a:chExt cx="760327" cy="2550178"/>
            </a:xfrm>
          </p:grpSpPr>
          <p:sp>
            <p:nvSpPr>
              <p:cNvPr id="11" name="Rectangle: Rounded Corners 3">
                <a:extLst>
                  <a:ext uri="{FF2B5EF4-FFF2-40B4-BE49-F238E27FC236}">
                    <a16:creationId xmlns:a16="http://schemas.microsoft.com/office/drawing/2014/main" id="{BABBF066-7344-53BF-DCB4-1AEF5A99FC36}"/>
                  </a:ext>
                </a:extLst>
              </p:cNvPr>
              <p:cNvSpPr/>
              <p:nvPr/>
            </p:nvSpPr>
            <p:spPr bwMode="auto">
              <a:xfrm flipH="1">
                <a:off x="711785" y="2773490"/>
                <a:ext cx="760327" cy="2550178"/>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pic>
            <p:nvPicPr>
              <p:cNvPr id="170" name="Graphic 169">
                <a:extLst>
                  <a:ext uri="{FF2B5EF4-FFF2-40B4-BE49-F238E27FC236}">
                    <a16:creationId xmlns:a16="http://schemas.microsoft.com/office/drawing/2014/main" id="{19D92AB4-6940-1043-2025-12E8B94E44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1031" y="2984884"/>
                <a:ext cx="270000" cy="270000"/>
              </a:xfrm>
              <a:prstGeom prst="rect">
                <a:avLst/>
              </a:prstGeom>
            </p:spPr>
          </p:pic>
          <p:pic>
            <p:nvPicPr>
              <p:cNvPr id="171" name="Graphic 170">
                <a:extLst>
                  <a:ext uri="{FF2B5EF4-FFF2-40B4-BE49-F238E27FC236}">
                    <a16:creationId xmlns:a16="http://schemas.microsoft.com/office/drawing/2014/main" id="{191F8F11-85CB-06DE-9CFA-7DE016D874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5503" y="3468117"/>
                <a:ext cx="270000" cy="270000"/>
              </a:xfrm>
              <a:prstGeom prst="rect">
                <a:avLst/>
              </a:prstGeom>
            </p:spPr>
          </p:pic>
          <p:pic>
            <p:nvPicPr>
              <p:cNvPr id="172" name="Graphic 171">
                <a:extLst>
                  <a:ext uri="{FF2B5EF4-FFF2-40B4-BE49-F238E27FC236}">
                    <a16:creationId xmlns:a16="http://schemas.microsoft.com/office/drawing/2014/main" id="{F4C233FA-19BF-8127-85CB-259B9D6F81E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6137" y="3938213"/>
                <a:ext cx="270000" cy="270000"/>
              </a:xfrm>
              <a:prstGeom prst="rect">
                <a:avLst/>
              </a:prstGeom>
            </p:spPr>
          </p:pic>
          <p:pic>
            <p:nvPicPr>
              <p:cNvPr id="176" name="Graphic 175">
                <a:extLst>
                  <a:ext uri="{FF2B5EF4-FFF2-40B4-BE49-F238E27FC236}">
                    <a16:creationId xmlns:a16="http://schemas.microsoft.com/office/drawing/2014/main" id="{70608B22-3E1A-E16C-3F8E-8D6ED47E1C4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1961" y="4379349"/>
                <a:ext cx="270000" cy="270000"/>
              </a:xfrm>
              <a:prstGeom prst="rect">
                <a:avLst/>
              </a:prstGeom>
            </p:spPr>
          </p:pic>
          <p:pic>
            <p:nvPicPr>
              <p:cNvPr id="182" name="Graphic 181">
                <a:extLst>
                  <a:ext uri="{FF2B5EF4-FFF2-40B4-BE49-F238E27FC236}">
                    <a16:creationId xmlns:a16="http://schemas.microsoft.com/office/drawing/2014/main" id="{8D9E6102-1E1D-7F95-A590-71DBAA56286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7393" y="4834884"/>
                <a:ext cx="270000" cy="270000"/>
              </a:xfrm>
              <a:prstGeom prst="rect">
                <a:avLst/>
              </a:prstGeom>
            </p:spPr>
          </p:pic>
        </p:grpSp>
      </p:grpSp>
      <p:grpSp>
        <p:nvGrpSpPr>
          <p:cNvPr id="188" name="Group 187">
            <a:extLst>
              <a:ext uri="{FF2B5EF4-FFF2-40B4-BE49-F238E27FC236}">
                <a16:creationId xmlns:a16="http://schemas.microsoft.com/office/drawing/2014/main" id="{B680757C-8434-0FE1-65F0-41F385F22CE6}"/>
              </a:ext>
            </a:extLst>
          </p:cNvPr>
          <p:cNvGrpSpPr/>
          <p:nvPr/>
        </p:nvGrpSpPr>
        <p:grpSpPr>
          <a:xfrm>
            <a:off x="6336621" y="2699890"/>
            <a:ext cx="662844" cy="343508"/>
            <a:chOff x="6306419" y="2699831"/>
            <a:chExt cx="662844" cy="343508"/>
          </a:xfrm>
        </p:grpSpPr>
        <p:sp>
          <p:nvSpPr>
            <p:cNvPr id="52" name="Rectangle: Rounded Corners 3">
              <a:extLst>
                <a:ext uri="{FF2B5EF4-FFF2-40B4-BE49-F238E27FC236}">
                  <a16:creationId xmlns:a16="http://schemas.microsoft.com/office/drawing/2014/main" id="{ABD125AA-F795-4C83-A6D3-90E3E3CB0B06}"/>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02" name="Rectangle 101">
              <a:extLst>
                <a:ext uri="{FF2B5EF4-FFF2-40B4-BE49-F238E27FC236}">
                  <a16:creationId xmlns:a16="http://schemas.microsoft.com/office/drawing/2014/main" id="{C0648057-8E1E-64CF-0D0C-D1B50C2FAB13}"/>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b="1" kern="0">
                  <a:solidFill>
                    <a:srgbClr val="7030A0"/>
                  </a:solidFill>
                  <a:latin typeface="72 Brand Light" panose="020B0304030603020204" pitchFamily="34" charset="0"/>
                  <a:ea typeface="Arial Unicode MS"/>
                  <a:cs typeface="Arial"/>
                </a:rPr>
                <a:t>Chat Model</a:t>
              </a:r>
            </a:p>
          </p:txBody>
        </p:sp>
        <p:sp>
          <p:nvSpPr>
            <p:cNvPr id="184" name="Rectangle 183">
              <a:extLst>
                <a:ext uri="{FF2B5EF4-FFF2-40B4-BE49-F238E27FC236}">
                  <a16:creationId xmlns:a16="http://schemas.microsoft.com/office/drawing/2014/main" id="{22216E4C-5EF7-8D9D-484E-621F9929D36E}"/>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err="1">
                  <a:solidFill>
                    <a:schemeClr val="tx1"/>
                  </a:solidFill>
                  <a:latin typeface="72 Brand Light" panose="020B0304030603020204" pitchFamily="34" charset="0"/>
                  <a:ea typeface="Arial Unicode MS"/>
                  <a:cs typeface="Arial"/>
                </a:rPr>
                <a:t>GenAI</a:t>
              </a:r>
              <a:r>
                <a:rPr lang="en-US" sz="600" kern="0">
                  <a:solidFill>
                    <a:schemeClr val="tx1"/>
                  </a:solidFill>
                  <a:latin typeface="72 Brand Light" panose="020B0304030603020204" pitchFamily="34" charset="0"/>
                  <a:ea typeface="Arial Unicode MS"/>
                  <a:cs typeface="Arial"/>
                </a:rPr>
                <a:t> Hub</a:t>
              </a:r>
            </a:p>
          </p:txBody>
        </p:sp>
      </p:grpSp>
      <p:grpSp>
        <p:nvGrpSpPr>
          <p:cNvPr id="189" name="Group 188">
            <a:extLst>
              <a:ext uri="{FF2B5EF4-FFF2-40B4-BE49-F238E27FC236}">
                <a16:creationId xmlns:a16="http://schemas.microsoft.com/office/drawing/2014/main" id="{42ACF1F5-4588-EFF1-131A-E96944BC0932}"/>
              </a:ext>
            </a:extLst>
          </p:cNvPr>
          <p:cNvGrpSpPr/>
          <p:nvPr/>
        </p:nvGrpSpPr>
        <p:grpSpPr>
          <a:xfrm>
            <a:off x="6344513" y="3351877"/>
            <a:ext cx="662844" cy="343508"/>
            <a:chOff x="6306419" y="2699831"/>
            <a:chExt cx="662844" cy="343508"/>
          </a:xfrm>
        </p:grpSpPr>
        <p:sp>
          <p:nvSpPr>
            <p:cNvPr id="190" name="Rectangle: Rounded Corners 3">
              <a:extLst>
                <a:ext uri="{FF2B5EF4-FFF2-40B4-BE49-F238E27FC236}">
                  <a16:creationId xmlns:a16="http://schemas.microsoft.com/office/drawing/2014/main" id="{D6B8821F-672E-1EA3-209E-2741201C648E}"/>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91" name="Rectangle 190">
              <a:extLst>
                <a:ext uri="{FF2B5EF4-FFF2-40B4-BE49-F238E27FC236}">
                  <a16:creationId xmlns:a16="http://schemas.microsoft.com/office/drawing/2014/main" id="{54CB0B82-DCDF-B528-2A3A-FF5D779BA07F}"/>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b="1" kern="0">
                  <a:solidFill>
                    <a:srgbClr val="7030A0"/>
                  </a:solidFill>
                  <a:latin typeface="72 Brand Light" panose="020B0304030603020204" pitchFamily="34" charset="0"/>
                  <a:ea typeface="Arial Unicode MS"/>
                  <a:cs typeface="Arial"/>
                </a:rPr>
                <a:t>Chat Model</a:t>
              </a:r>
            </a:p>
          </p:txBody>
        </p:sp>
        <p:sp>
          <p:nvSpPr>
            <p:cNvPr id="192" name="Rectangle 191">
              <a:extLst>
                <a:ext uri="{FF2B5EF4-FFF2-40B4-BE49-F238E27FC236}">
                  <a16:creationId xmlns:a16="http://schemas.microsoft.com/office/drawing/2014/main" id="{FC4981DD-138A-74CF-50A2-6AAAF1FC6C04}"/>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a:solidFill>
                    <a:schemeClr val="tx1"/>
                  </a:solidFill>
                  <a:latin typeface="72 Brand Light" panose="020B0304030603020204" pitchFamily="34" charset="0"/>
                  <a:ea typeface="Arial Unicode MS"/>
                  <a:cs typeface="Arial"/>
                </a:rPr>
                <a:t>GenAI Hub</a:t>
              </a:r>
            </a:p>
          </p:txBody>
        </p:sp>
      </p:grpSp>
      <p:grpSp>
        <p:nvGrpSpPr>
          <p:cNvPr id="193" name="Group 192">
            <a:extLst>
              <a:ext uri="{FF2B5EF4-FFF2-40B4-BE49-F238E27FC236}">
                <a16:creationId xmlns:a16="http://schemas.microsoft.com/office/drawing/2014/main" id="{D903F16C-08B0-0F17-28F7-B3A9FA6697D7}"/>
              </a:ext>
            </a:extLst>
          </p:cNvPr>
          <p:cNvGrpSpPr/>
          <p:nvPr/>
        </p:nvGrpSpPr>
        <p:grpSpPr>
          <a:xfrm>
            <a:off x="6344513" y="4366849"/>
            <a:ext cx="662844" cy="343508"/>
            <a:chOff x="6306419" y="2699831"/>
            <a:chExt cx="662844" cy="343508"/>
          </a:xfrm>
        </p:grpSpPr>
        <p:sp>
          <p:nvSpPr>
            <p:cNvPr id="194" name="Rectangle: Rounded Corners 3">
              <a:extLst>
                <a:ext uri="{FF2B5EF4-FFF2-40B4-BE49-F238E27FC236}">
                  <a16:creationId xmlns:a16="http://schemas.microsoft.com/office/drawing/2014/main" id="{2541CC4D-CCB5-2117-825E-318E7A5B7FF3}"/>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95" name="Rectangle 194">
              <a:extLst>
                <a:ext uri="{FF2B5EF4-FFF2-40B4-BE49-F238E27FC236}">
                  <a16:creationId xmlns:a16="http://schemas.microsoft.com/office/drawing/2014/main" id="{624F0526-E8CD-9E5E-38B0-1A42340AC206}"/>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b="1" kern="0">
                  <a:solidFill>
                    <a:srgbClr val="7030A0"/>
                  </a:solidFill>
                  <a:latin typeface="72 Brand Light" panose="020B0304030603020204" pitchFamily="34" charset="0"/>
                  <a:ea typeface="Arial Unicode MS"/>
                  <a:cs typeface="Arial"/>
                </a:rPr>
                <a:t>Chat Model</a:t>
              </a:r>
            </a:p>
          </p:txBody>
        </p:sp>
        <p:sp>
          <p:nvSpPr>
            <p:cNvPr id="196" name="Rectangle 195">
              <a:extLst>
                <a:ext uri="{FF2B5EF4-FFF2-40B4-BE49-F238E27FC236}">
                  <a16:creationId xmlns:a16="http://schemas.microsoft.com/office/drawing/2014/main" id="{590575B7-EA95-091E-97EF-84BE6506287D}"/>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a:solidFill>
                    <a:schemeClr val="tx1"/>
                  </a:solidFill>
                  <a:latin typeface="72 Brand Light" panose="020B0304030603020204" pitchFamily="34" charset="0"/>
                  <a:ea typeface="Arial Unicode MS"/>
                  <a:cs typeface="Arial"/>
                </a:rPr>
                <a:t>GenAI Hub</a:t>
              </a:r>
            </a:p>
          </p:txBody>
        </p:sp>
      </p:grpSp>
      <p:grpSp>
        <p:nvGrpSpPr>
          <p:cNvPr id="197" name="Group 196">
            <a:extLst>
              <a:ext uri="{FF2B5EF4-FFF2-40B4-BE49-F238E27FC236}">
                <a16:creationId xmlns:a16="http://schemas.microsoft.com/office/drawing/2014/main" id="{25DBDF71-5ECF-769B-39D7-CCDDCD328D70}"/>
              </a:ext>
            </a:extLst>
          </p:cNvPr>
          <p:cNvGrpSpPr/>
          <p:nvPr/>
        </p:nvGrpSpPr>
        <p:grpSpPr>
          <a:xfrm>
            <a:off x="6344513" y="5035521"/>
            <a:ext cx="662844" cy="343508"/>
            <a:chOff x="6306419" y="2699831"/>
            <a:chExt cx="662844" cy="343508"/>
          </a:xfrm>
        </p:grpSpPr>
        <p:sp>
          <p:nvSpPr>
            <p:cNvPr id="198" name="Rectangle: Rounded Corners 3">
              <a:extLst>
                <a:ext uri="{FF2B5EF4-FFF2-40B4-BE49-F238E27FC236}">
                  <a16:creationId xmlns:a16="http://schemas.microsoft.com/office/drawing/2014/main" id="{AC6841C5-BE45-5792-36B8-3D16F28E5452}"/>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99" name="Rectangle 198">
              <a:extLst>
                <a:ext uri="{FF2B5EF4-FFF2-40B4-BE49-F238E27FC236}">
                  <a16:creationId xmlns:a16="http://schemas.microsoft.com/office/drawing/2014/main" id="{00EC7430-0BDF-FAC0-CB3F-CDFF1F0ABAF9}"/>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b="1" kern="0">
                  <a:solidFill>
                    <a:srgbClr val="7030A0"/>
                  </a:solidFill>
                  <a:latin typeface="72 Brand Light" panose="020B0304030603020204" pitchFamily="34" charset="0"/>
                  <a:ea typeface="Arial Unicode MS"/>
                  <a:cs typeface="Arial"/>
                </a:rPr>
                <a:t>Chat Model</a:t>
              </a:r>
            </a:p>
          </p:txBody>
        </p:sp>
        <p:sp>
          <p:nvSpPr>
            <p:cNvPr id="200" name="Rectangle 199">
              <a:extLst>
                <a:ext uri="{FF2B5EF4-FFF2-40B4-BE49-F238E27FC236}">
                  <a16:creationId xmlns:a16="http://schemas.microsoft.com/office/drawing/2014/main" id="{95D693FE-9A8A-52AC-8CA0-BB0FA74962C2}"/>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a:solidFill>
                    <a:schemeClr val="tx1"/>
                  </a:solidFill>
                  <a:latin typeface="72 Brand Light" panose="020B0304030603020204" pitchFamily="34" charset="0"/>
                  <a:ea typeface="Arial Unicode MS"/>
                  <a:cs typeface="Arial"/>
                </a:rPr>
                <a:t>GenAI Hub</a:t>
              </a:r>
            </a:p>
          </p:txBody>
        </p:sp>
      </p:grpSp>
      <p:grpSp>
        <p:nvGrpSpPr>
          <p:cNvPr id="206" name="Group 205">
            <a:extLst>
              <a:ext uri="{FF2B5EF4-FFF2-40B4-BE49-F238E27FC236}">
                <a16:creationId xmlns:a16="http://schemas.microsoft.com/office/drawing/2014/main" id="{BC9E154C-6385-54CB-2725-FD2191A5E228}"/>
              </a:ext>
            </a:extLst>
          </p:cNvPr>
          <p:cNvGrpSpPr/>
          <p:nvPr/>
        </p:nvGrpSpPr>
        <p:grpSpPr>
          <a:xfrm>
            <a:off x="3008497" y="3387833"/>
            <a:ext cx="943835" cy="328396"/>
            <a:chOff x="2985235" y="2755630"/>
            <a:chExt cx="943835" cy="328396"/>
          </a:xfrm>
        </p:grpSpPr>
        <p:sp>
          <p:nvSpPr>
            <p:cNvPr id="207" name="Rectangle: Rounded Corners 3">
              <a:extLst>
                <a:ext uri="{FF2B5EF4-FFF2-40B4-BE49-F238E27FC236}">
                  <a16:creationId xmlns:a16="http://schemas.microsoft.com/office/drawing/2014/main" id="{5034B01A-76C5-31BF-E411-CF85CFE1ACE7}"/>
                </a:ext>
              </a:extLst>
            </p:cNvPr>
            <p:cNvSpPr/>
            <p:nvPr/>
          </p:nvSpPr>
          <p:spPr bwMode="auto">
            <a:xfrm flipH="1">
              <a:off x="3011120" y="2773490"/>
              <a:ext cx="916990" cy="310536"/>
            </a:xfrm>
            <a:prstGeom prst="roundRect">
              <a:avLst>
                <a:gd name="adj" fmla="val 2588"/>
              </a:avLst>
            </a:prstGeom>
            <a:solidFill>
              <a:schemeClr val="bg1">
                <a:lumMod val="85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08" name="Rectangle 207">
              <a:extLst>
                <a:ext uri="{FF2B5EF4-FFF2-40B4-BE49-F238E27FC236}">
                  <a16:creationId xmlns:a16="http://schemas.microsoft.com/office/drawing/2014/main" id="{45D06542-AF4A-1ED1-6308-A41EE196C6CE}"/>
                </a:ext>
              </a:extLst>
            </p:cNvPr>
            <p:cNvSpPr/>
            <p:nvPr/>
          </p:nvSpPr>
          <p:spPr bwMode="auto">
            <a:xfrm>
              <a:off x="2985235" y="2755630"/>
              <a:ext cx="943835" cy="3231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endParaRPr lang="en-US" sz="700" kern="0">
                <a:solidFill>
                  <a:srgbClr val="000000"/>
                </a:solidFill>
                <a:latin typeface="72 Brand Light" panose="020B0304030603020204" pitchFamily="34" charset="0"/>
                <a:ea typeface="Arial Unicode MS"/>
                <a:cs typeface="Arial"/>
              </a:endParaRPr>
            </a:p>
            <a:p>
              <a:pPr algn="ctr" defTabSz="1088449">
                <a:defRPr/>
              </a:pPr>
              <a:r>
                <a:rPr lang="en-US" sz="700" kern="0">
                  <a:solidFill>
                    <a:srgbClr val="000000"/>
                  </a:solidFill>
                  <a:latin typeface="72 Brand Light" panose="020B0304030603020204" pitchFamily="34" charset="0"/>
                  <a:ea typeface="Arial Unicode MS"/>
                  <a:cs typeface="Arial"/>
                </a:rPr>
                <a:t>Chunk-2</a:t>
              </a:r>
            </a:p>
            <a:p>
              <a:pPr algn="ctr" defTabSz="1088449">
                <a:defRPr/>
              </a:pPr>
              <a:endParaRPr lang="en-US" sz="700" kern="0">
                <a:solidFill>
                  <a:srgbClr val="000000"/>
                </a:solidFill>
                <a:latin typeface="72 Brand Light" panose="020B0304030603020204" pitchFamily="34" charset="0"/>
                <a:ea typeface="Arial Unicode MS"/>
                <a:cs typeface="Arial"/>
              </a:endParaRPr>
            </a:p>
          </p:txBody>
        </p:sp>
      </p:grpSp>
      <p:grpSp>
        <p:nvGrpSpPr>
          <p:cNvPr id="209" name="Group 208">
            <a:extLst>
              <a:ext uri="{FF2B5EF4-FFF2-40B4-BE49-F238E27FC236}">
                <a16:creationId xmlns:a16="http://schemas.microsoft.com/office/drawing/2014/main" id="{BDD836D3-5C0D-2E0E-5962-284E264633AC}"/>
              </a:ext>
            </a:extLst>
          </p:cNvPr>
          <p:cNvGrpSpPr/>
          <p:nvPr/>
        </p:nvGrpSpPr>
        <p:grpSpPr>
          <a:xfrm>
            <a:off x="3007537" y="4341959"/>
            <a:ext cx="943835" cy="328396"/>
            <a:chOff x="2985235" y="2755630"/>
            <a:chExt cx="943835" cy="328396"/>
          </a:xfrm>
        </p:grpSpPr>
        <p:sp>
          <p:nvSpPr>
            <p:cNvPr id="210" name="Rectangle: Rounded Corners 3">
              <a:extLst>
                <a:ext uri="{FF2B5EF4-FFF2-40B4-BE49-F238E27FC236}">
                  <a16:creationId xmlns:a16="http://schemas.microsoft.com/office/drawing/2014/main" id="{AA63430A-E014-07C5-E0A7-E7AB65F65CE7}"/>
                </a:ext>
              </a:extLst>
            </p:cNvPr>
            <p:cNvSpPr/>
            <p:nvPr/>
          </p:nvSpPr>
          <p:spPr bwMode="auto">
            <a:xfrm flipH="1">
              <a:off x="3011120" y="2773490"/>
              <a:ext cx="916990" cy="310536"/>
            </a:xfrm>
            <a:prstGeom prst="roundRect">
              <a:avLst>
                <a:gd name="adj" fmla="val 2588"/>
              </a:avLst>
            </a:prstGeom>
            <a:solidFill>
              <a:schemeClr val="bg1">
                <a:lumMod val="85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11" name="Rectangle 210">
              <a:extLst>
                <a:ext uri="{FF2B5EF4-FFF2-40B4-BE49-F238E27FC236}">
                  <a16:creationId xmlns:a16="http://schemas.microsoft.com/office/drawing/2014/main" id="{C38E0952-EE76-50A1-A8CE-323B7BCE3A7C}"/>
                </a:ext>
              </a:extLst>
            </p:cNvPr>
            <p:cNvSpPr/>
            <p:nvPr/>
          </p:nvSpPr>
          <p:spPr bwMode="auto">
            <a:xfrm>
              <a:off x="2985235" y="2755630"/>
              <a:ext cx="943835" cy="3231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endParaRPr lang="en-US" sz="700" kern="0">
                <a:solidFill>
                  <a:srgbClr val="000000"/>
                </a:solidFill>
                <a:latin typeface="72 Brand Light" panose="020B0304030603020204" pitchFamily="34" charset="0"/>
                <a:ea typeface="Arial Unicode MS"/>
                <a:cs typeface="Arial"/>
              </a:endParaRPr>
            </a:p>
            <a:p>
              <a:pPr algn="ctr" defTabSz="1088449">
                <a:defRPr/>
              </a:pPr>
              <a:r>
                <a:rPr lang="en-US" sz="700" kern="0">
                  <a:solidFill>
                    <a:srgbClr val="000000"/>
                  </a:solidFill>
                  <a:latin typeface="72 Brand Light" panose="020B0304030603020204" pitchFamily="34" charset="0"/>
                  <a:ea typeface="Arial Unicode MS"/>
                  <a:cs typeface="Arial"/>
                </a:rPr>
                <a:t>Chunk-3</a:t>
              </a:r>
            </a:p>
            <a:p>
              <a:pPr algn="ctr" defTabSz="1088449">
                <a:defRPr/>
              </a:pPr>
              <a:endParaRPr lang="en-US" sz="700" kern="0">
                <a:solidFill>
                  <a:srgbClr val="000000"/>
                </a:solidFill>
                <a:latin typeface="72 Brand Light" panose="020B0304030603020204" pitchFamily="34" charset="0"/>
                <a:ea typeface="Arial Unicode MS"/>
                <a:cs typeface="Arial"/>
              </a:endParaRPr>
            </a:p>
          </p:txBody>
        </p:sp>
      </p:grpSp>
      <p:grpSp>
        <p:nvGrpSpPr>
          <p:cNvPr id="212" name="Group 211">
            <a:extLst>
              <a:ext uri="{FF2B5EF4-FFF2-40B4-BE49-F238E27FC236}">
                <a16:creationId xmlns:a16="http://schemas.microsoft.com/office/drawing/2014/main" id="{551D2646-3E8C-2814-1F76-D0F5B5E73392}"/>
              </a:ext>
            </a:extLst>
          </p:cNvPr>
          <p:cNvGrpSpPr/>
          <p:nvPr/>
        </p:nvGrpSpPr>
        <p:grpSpPr>
          <a:xfrm>
            <a:off x="3015987" y="4987376"/>
            <a:ext cx="943835" cy="328396"/>
            <a:chOff x="2985235" y="2755630"/>
            <a:chExt cx="943835" cy="328396"/>
          </a:xfrm>
        </p:grpSpPr>
        <p:sp>
          <p:nvSpPr>
            <p:cNvPr id="213" name="Rectangle: Rounded Corners 3">
              <a:extLst>
                <a:ext uri="{FF2B5EF4-FFF2-40B4-BE49-F238E27FC236}">
                  <a16:creationId xmlns:a16="http://schemas.microsoft.com/office/drawing/2014/main" id="{7A0042F1-B95D-3056-ABD1-76BC5F6F3600}"/>
                </a:ext>
              </a:extLst>
            </p:cNvPr>
            <p:cNvSpPr/>
            <p:nvPr/>
          </p:nvSpPr>
          <p:spPr bwMode="auto">
            <a:xfrm flipH="1">
              <a:off x="3011120" y="2773490"/>
              <a:ext cx="916990" cy="310536"/>
            </a:xfrm>
            <a:prstGeom prst="roundRect">
              <a:avLst>
                <a:gd name="adj" fmla="val 2588"/>
              </a:avLst>
            </a:prstGeom>
            <a:solidFill>
              <a:schemeClr val="bg1">
                <a:lumMod val="85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14" name="Rectangle 213">
              <a:extLst>
                <a:ext uri="{FF2B5EF4-FFF2-40B4-BE49-F238E27FC236}">
                  <a16:creationId xmlns:a16="http://schemas.microsoft.com/office/drawing/2014/main" id="{AC8361DE-FB1E-6394-5E64-247D6EA4C9B9}"/>
                </a:ext>
              </a:extLst>
            </p:cNvPr>
            <p:cNvSpPr/>
            <p:nvPr/>
          </p:nvSpPr>
          <p:spPr bwMode="auto">
            <a:xfrm>
              <a:off x="2985235" y="2755630"/>
              <a:ext cx="943835" cy="3231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endParaRPr lang="en-US" sz="700" kern="0">
                <a:solidFill>
                  <a:srgbClr val="000000"/>
                </a:solidFill>
                <a:latin typeface="72 Brand Light" panose="020B0304030603020204" pitchFamily="34" charset="0"/>
                <a:ea typeface="Arial Unicode MS"/>
                <a:cs typeface="Arial"/>
              </a:endParaRPr>
            </a:p>
            <a:p>
              <a:pPr algn="ctr" defTabSz="1088449">
                <a:defRPr/>
              </a:pPr>
              <a:r>
                <a:rPr lang="en-US" sz="700" kern="0">
                  <a:solidFill>
                    <a:srgbClr val="000000"/>
                  </a:solidFill>
                  <a:latin typeface="72 Brand Light" panose="020B0304030603020204" pitchFamily="34" charset="0"/>
                  <a:ea typeface="Arial Unicode MS"/>
                  <a:cs typeface="Arial"/>
                </a:rPr>
                <a:t>Chunk-n</a:t>
              </a:r>
            </a:p>
            <a:p>
              <a:pPr algn="ctr" defTabSz="1088449">
                <a:defRPr/>
              </a:pPr>
              <a:endParaRPr lang="en-US" sz="700" kern="0">
                <a:solidFill>
                  <a:srgbClr val="000000"/>
                </a:solidFill>
                <a:latin typeface="72 Brand Light" panose="020B0304030603020204" pitchFamily="34" charset="0"/>
                <a:ea typeface="Arial Unicode MS"/>
                <a:cs typeface="Arial"/>
              </a:endParaRPr>
            </a:p>
          </p:txBody>
        </p:sp>
      </p:grpSp>
      <p:grpSp>
        <p:nvGrpSpPr>
          <p:cNvPr id="222" name="Group 221">
            <a:extLst>
              <a:ext uri="{FF2B5EF4-FFF2-40B4-BE49-F238E27FC236}">
                <a16:creationId xmlns:a16="http://schemas.microsoft.com/office/drawing/2014/main" id="{70610A40-1E69-B90A-C19C-689A6AA782EF}"/>
              </a:ext>
            </a:extLst>
          </p:cNvPr>
          <p:cNvGrpSpPr/>
          <p:nvPr/>
        </p:nvGrpSpPr>
        <p:grpSpPr>
          <a:xfrm>
            <a:off x="4922000" y="4366850"/>
            <a:ext cx="949038" cy="340424"/>
            <a:chOff x="4926954" y="3272497"/>
            <a:chExt cx="949038" cy="479177"/>
          </a:xfrm>
        </p:grpSpPr>
        <p:sp>
          <p:nvSpPr>
            <p:cNvPr id="223" name="Rectangle: Rounded Corners 3">
              <a:extLst>
                <a:ext uri="{FF2B5EF4-FFF2-40B4-BE49-F238E27FC236}">
                  <a16:creationId xmlns:a16="http://schemas.microsoft.com/office/drawing/2014/main" id="{8B38AA8B-CA22-F932-C122-6E166643C617}"/>
                </a:ext>
              </a:extLst>
            </p:cNvPr>
            <p:cNvSpPr/>
            <p:nvPr/>
          </p:nvSpPr>
          <p:spPr bwMode="auto">
            <a:xfrm flipH="1">
              <a:off x="4944077" y="3272497"/>
              <a:ext cx="916990" cy="479177"/>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24" name="Rectangle 223">
              <a:extLst>
                <a:ext uri="{FF2B5EF4-FFF2-40B4-BE49-F238E27FC236}">
                  <a16:creationId xmlns:a16="http://schemas.microsoft.com/office/drawing/2014/main" id="{A9D10407-6311-EE7B-26F1-66BF2D750C6F}"/>
                </a:ext>
              </a:extLst>
            </p:cNvPr>
            <p:cNvSpPr/>
            <p:nvPr/>
          </p:nvSpPr>
          <p:spPr bwMode="auto">
            <a:xfrm>
              <a:off x="4926954" y="3325397"/>
              <a:ext cx="94903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kern="0">
                  <a:solidFill>
                    <a:srgbClr val="000000"/>
                  </a:solidFill>
                  <a:latin typeface="72 Brand Light" panose="020B0304030603020204" pitchFamily="34" charset="0"/>
                  <a:ea typeface="Arial Unicode MS"/>
                  <a:cs typeface="Arial"/>
                </a:rPr>
                <a:t>Prompt</a:t>
              </a:r>
            </a:p>
            <a:p>
              <a:pPr algn="ctr" defTabSz="1088449">
                <a:defRPr/>
              </a:pPr>
              <a:r>
                <a:rPr lang="en-US" sz="800" kern="0">
                  <a:solidFill>
                    <a:srgbClr val="000000"/>
                  </a:solidFill>
                  <a:latin typeface="72 Brand Light" panose="020B0304030603020204" pitchFamily="34" charset="0"/>
                  <a:ea typeface="Arial Unicode MS"/>
                  <a:cs typeface="Arial"/>
                </a:rPr>
                <a:t>{chunk-3}</a:t>
              </a:r>
            </a:p>
            <a:p>
              <a:pPr algn="ctr" defTabSz="1088449">
                <a:defRPr/>
              </a:pPr>
              <a:endParaRPr lang="en-US" sz="800" kern="0">
                <a:solidFill>
                  <a:srgbClr val="000000"/>
                </a:solidFill>
                <a:latin typeface="72 Brand Light" panose="020B0304030603020204" pitchFamily="34" charset="0"/>
                <a:ea typeface="Arial Unicode MS"/>
                <a:cs typeface="Arial"/>
              </a:endParaRPr>
            </a:p>
          </p:txBody>
        </p:sp>
      </p:grpSp>
      <p:grpSp>
        <p:nvGrpSpPr>
          <p:cNvPr id="225" name="Group 224">
            <a:extLst>
              <a:ext uri="{FF2B5EF4-FFF2-40B4-BE49-F238E27FC236}">
                <a16:creationId xmlns:a16="http://schemas.microsoft.com/office/drawing/2014/main" id="{6438993D-4AF8-C8F8-0841-7274AA251C0E}"/>
              </a:ext>
            </a:extLst>
          </p:cNvPr>
          <p:cNvGrpSpPr/>
          <p:nvPr/>
        </p:nvGrpSpPr>
        <p:grpSpPr>
          <a:xfrm>
            <a:off x="4917458" y="5035278"/>
            <a:ext cx="949038" cy="340424"/>
            <a:chOff x="4926954" y="3272497"/>
            <a:chExt cx="949038" cy="479177"/>
          </a:xfrm>
        </p:grpSpPr>
        <p:sp>
          <p:nvSpPr>
            <p:cNvPr id="226" name="Rectangle: Rounded Corners 3">
              <a:extLst>
                <a:ext uri="{FF2B5EF4-FFF2-40B4-BE49-F238E27FC236}">
                  <a16:creationId xmlns:a16="http://schemas.microsoft.com/office/drawing/2014/main" id="{5B937E4B-E464-D428-B226-CF6EE68C6A50}"/>
                </a:ext>
              </a:extLst>
            </p:cNvPr>
            <p:cNvSpPr/>
            <p:nvPr/>
          </p:nvSpPr>
          <p:spPr bwMode="auto">
            <a:xfrm flipH="1">
              <a:off x="4944077" y="3272497"/>
              <a:ext cx="916990" cy="479177"/>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27" name="Rectangle 226">
              <a:extLst>
                <a:ext uri="{FF2B5EF4-FFF2-40B4-BE49-F238E27FC236}">
                  <a16:creationId xmlns:a16="http://schemas.microsoft.com/office/drawing/2014/main" id="{34F2AFE4-6020-5200-2BFD-0E21D151448E}"/>
                </a:ext>
              </a:extLst>
            </p:cNvPr>
            <p:cNvSpPr/>
            <p:nvPr/>
          </p:nvSpPr>
          <p:spPr bwMode="auto">
            <a:xfrm>
              <a:off x="4926954" y="3325397"/>
              <a:ext cx="94903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kern="0">
                  <a:solidFill>
                    <a:srgbClr val="000000"/>
                  </a:solidFill>
                  <a:latin typeface="72 Brand Light" panose="020B0304030603020204" pitchFamily="34" charset="0"/>
                  <a:ea typeface="Arial Unicode MS"/>
                  <a:cs typeface="Arial"/>
                </a:rPr>
                <a:t>Prompt</a:t>
              </a:r>
            </a:p>
            <a:p>
              <a:pPr algn="ctr" defTabSz="1088449">
                <a:defRPr/>
              </a:pPr>
              <a:r>
                <a:rPr lang="en-US" sz="800" kern="0">
                  <a:solidFill>
                    <a:srgbClr val="000000"/>
                  </a:solidFill>
                  <a:latin typeface="72 Brand Light" panose="020B0304030603020204" pitchFamily="34" charset="0"/>
                  <a:ea typeface="Arial Unicode MS"/>
                  <a:cs typeface="Arial"/>
                </a:rPr>
                <a:t>{chunk-n}</a:t>
              </a:r>
            </a:p>
            <a:p>
              <a:pPr algn="ctr" defTabSz="1088449">
                <a:defRPr/>
              </a:pPr>
              <a:endParaRPr lang="en-US" sz="800" kern="0">
                <a:solidFill>
                  <a:srgbClr val="000000"/>
                </a:solidFill>
                <a:latin typeface="72 Brand Light" panose="020B0304030603020204" pitchFamily="34" charset="0"/>
                <a:ea typeface="Arial Unicode MS"/>
                <a:cs typeface="Arial"/>
              </a:endParaRPr>
            </a:p>
          </p:txBody>
        </p:sp>
      </p:grpSp>
      <p:grpSp>
        <p:nvGrpSpPr>
          <p:cNvPr id="228" name="Group 227">
            <a:extLst>
              <a:ext uri="{FF2B5EF4-FFF2-40B4-BE49-F238E27FC236}">
                <a16:creationId xmlns:a16="http://schemas.microsoft.com/office/drawing/2014/main" id="{131C220A-2D6C-E402-720B-3272F30A79A3}"/>
              </a:ext>
            </a:extLst>
          </p:cNvPr>
          <p:cNvGrpSpPr/>
          <p:nvPr/>
        </p:nvGrpSpPr>
        <p:grpSpPr>
          <a:xfrm>
            <a:off x="4931695" y="2692169"/>
            <a:ext cx="949038" cy="411733"/>
            <a:chOff x="4926954" y="3326866"/>
            <a:chExt cx="949038" cy="411733"/>
          </a:xfrm>
        </p:grpSpPr>
        <p:sp>
          <p:nvSpPr>
            <p:cNvPr id="229" name="Rectangle: Rounded Corners 3">
              <a:extLst>
                <a:ext uri="{FF2B5EF4-FFF2-40B4-BE49-F238E27FC236}">
                  <a16:creationId xmlns:a16="http://schemas.microsoft.com/office/drawing/2014/main" id="{B672EAC8-DEA1-8369-4392-37873F13FE56}"/>
                </a:ext>
              </a:extLst>
            </p:cNvPr>
            <p:cNvSpPr/>
            <p:nvPr/>
          </p:nvSpPr>
          <p:spPr bwMode="auto">
            <a:xfrm flipH="1">
              <a:off x="4944077" y="3326866"/>
              <a:ext cx="916990" cy="351229"/>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230" name="Rectangle 229">
              <a:extLst>
                <a:ext uri="{FF2B5EF4-FFF2-40B4-BE49-F238E27FC236}">
                  <a16:creationId xmlns:a16="http://schemas.microsoft.com/office/drawing/2014/main" id="{070049A9-1E0D-C202-1171-533A327036FE}"/>
                </a:ext>
              </a:extLst>
            </p:cNvPr>
            <p:cNvSpPr/>
            <p:nvPr/>
          </p:nvSpPr>
          <p:spPr bwMode="auto">
            <a:xfrm>
              <a:off x="4926954" y="3369267"/>
              <a:ext cx="949038"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kern="0">
                  <a:solidFill>
                    <a:srgbClr val="000000"/>
                  </a:solidFill>
                  <a:latin typeface="72 Brand Light" panose="020B0304030603020204" pitchFamily="34" charset="0"/>
                  <a:ea typeface="Arial Unicode MS"/>
                  <a:cs typeface="Arial"/>
                </a:rPr>
                <a:t>Prompt</a:t>
              </a:r>
            </a:p>
            <a:p>
              <a:pPr algn="ctr" defTabSz="1088449">
                <a:defRPr/>
              </a:pPr>
              <a:r>
                <a:rPr lang="en-US" sz="800" kern="0">
                  <a:solidFill>
                    <a:srgbClr val="000000"/>
                  </a:solidFill>
                  <a:latin typeface="72 Brand Light" panose="020B0304030603020204" pitchFamily="34" charset="0"/>
                  <a:ea typeface="Arial Unicode MS"/>
                  <a:cs typeface="Arial"/>
                </a:rPr>
                <a:t>{chunk-1}</a:t>
              </a:r>
            </a:p>
            <a:p>
              <a:pPr algn="ctr" defTabSz="1088449">
                <a:defRPr/>
              </a:pPr>
              <a:endParaRPr lang="en-US" sz="800" kern="0">
                <a:solidFill>
                  <a:srgbClr val="000000"/>
                </a:solidFill>
                <a:latin typeface="72 Brand Light" panose="020B0304030603020204" pitchFamily="34" charset="0"/>
                <a:ea typeface="Arial Unicode MS"/>
                <a:cs typeface="Arial"/>
              </a:endParaRPr>
            </a:p>
          </p:txBody>
        </p:sp>
      </p:grpSp>
      <p:pic>
        <p:nvPicPr>
          <p:cNvPr id="9" name="Picture Placeholder 11">
            <a:extLst>
              <a:ext uri="{FF2B5EF4-FFF2-40B4-BE49-F238E27FC236}">
                <a16:creationId xmlns:a16="http://schemas.microsoft.com/office/drawing/2014/main" id="{E3964BF3-3D38-BDC3-FE3D-67125A53FBD1}"/>
              </a:ext>
            </a:extLst>
          </p:cNvPr>
          <p:cNvPicPr>
            <a:picLocks noChangeAspect="1"/>
          </p:cNvPicPr>
          <p:nvPr/>
        </p:nvPicPr>
        <p:blipFill rotWithShape="1">
          <a:blip r:embed="rId1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2059535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wipe(left)">
                                      <p:cBhvr>
                                        <p:cTn id="7" dur="500"/>
                                        <p:tgtEl>
                                          <p:spTgt spid="20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wipe(left)">
                                      <p:cBhvr>
                                        <p:cTn id="16" dur="500"/>
                                        <p:tgtEl>
                                          <p:spTgt spid="202"/>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500"/>
                                        <p:tgtEl>
                                          <p:spTgt spid="62"/>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205"/>
                                        </p:tgtEl>
                                        <p:attrNameLst>
                                          <p:attrName>style.visibility</p:attrName>
                                        </p:attrNameLst>
                                      </p:cBhvr>
                                      <p:to>
                                        <p:strVal val="visible"/>
                                      </p:to>
                                    </p:set>
                                    <p:animEffect transition="in" filter="wipe(left)">
                                      <p:cBhvr>
                                        <p:cTn id="36" dur="500"/>
                                        <p:tgtEl>
                                          <p:spTgt spid="205"/>
                                        </p:tgtEl>
                                      </p:cBhvr>
                                    </p:animEffect>
                                  </p:childTnLst>
                                </p:cTn>
                              </p:par>
                            </p:childTnLst>
                          </p:cTn>
                        </p:par>
                        <p:par>
                          <p:cTn id="37" fill="hold">
                            <p:stCondLst>
                              <p:cond delay="3500"/>
                            </p:stCondLst>
                            <p:childTnLst>
                              <p:par>
                                <p:cTn id="38" presetID="22" presetClass="entr" presetSubtype="8" fill="hold" nodeType="afterEffect">
                                  <p:stCondLst>
                                    <p:cond delay="0"/>
                                  </p:stCondLst>
                                  <p:childTnLst>
                                    <p:set>
                                      <p:cBhvr>
                                        <p:cTn id="39" dur="1" fill="hold">
                                          <p:stCondLst>
                                            <p:cond delay="0"/>
                                          </p:stCondLst>
                                        </p:cTn>
                                        <p:tgtEl>
                                          <p:spTgt spid="206"/>
                                        </p:tgtEl>
                                        <p:attrNameLst>
                                          <p:attrName>style.visibility</p:attrName>
                                        </p:attrNameLst>
                                      </p:cBhvr>
                                      <p:to>
                                        <p:strVal val="visible"/>
                                      </p:to>
                                    </p:set>
                                    <p:animEffect transition="in" filter="wipe(left)">
                                      <p:cBhvr>
                                        <p:cTn id="40" dur="500"/>
                                        <p:tgtEl>
                                          <p:spTgt spid="206"/>
                                        </p:tgtEl>
                                      </p:cBhvr>
                                    </p:animEffect>
                                  </p:childTnLst>
                                </p:cTn>
                              </p:par>
                            </p:childTnLst>
                          </p:cTn>
                        </p:par>
                        <p:par>
                          <p:cTn id="41" fill="hold">
                            <p:stCondLst>
                              <p:cond delay="4000"/>
                            </p:stCondLst>
                            <p:childTnLst>
                              <p:par>
                                <p:cTn id="42" presetID="22" presetClass="entr" presetSubtype="8" fill="hold" nodeType="afterEffect">
                                  <p:stCondLst>
                                    <p:cond delay="0"/>
                                  </p:stCondLst>
                                  <p:childTnLst>
                                    <p:set>
                                      <p:cBhvr>
                                        <p:cTn id="43" dur="1" fill="hold">
                                          <p:stCondLst>
                                            <p:cond delay="0"/>
                                          </p:stCondLst>
                                        </p:cTn>
                                        <p:tgtEl>
                                          <p:spTgt spid="209"/>
                                        </p:tgtEl>
                                        <p:attrNameLst>
                                          <p:attrName>style.visibility</p:attrName>
                                        </p:attrNameLst>
                                      </p:cBhvr>
                                      <p:to>
                                        <p:strVal val="visible"/>
                                      </p:to>
                                    </p:set>
                                    <p:animEffect transition="in" filter="wipe(left)">
                                      <p:cBhvr>
                                        <p:cTn id="44" dur="500"/>
                                        <p:tgtEl>
                                          <p:spTgt spid="209"/>
                                        </p:tgtEl>
                                      </p:cBhvr>
                                    </p:animEffect>
                                  </p:childTnLst>
                                </p:cTn>
                              </p:par>
                            </p:childTnLst>
                          </p:cTn>
                        </p:par>
                        <p:par>
                          <p:cTn id="45" fill="hold">
                            <p:stCondLst>
                              <p:cond delay="4500"/>
                            </p:stCondLst>
                            <p:childTnLst>
                              <p:par>
                                <p:cTn id="46" presetID="22" presetClass="entr" presetSubtype="8" fill="hold" nodeType="afterEffect">
                                  <p:stCondLst>
                                    <p:cond delay="0"/>
                                  </p:stCondLst>
                                  <p:childTnLst>
                                    <p:set>
                                      <p:cBhvr>
                                        <p:cTn id="47" dur="1" fill="hold">
                                          <p:stCondLst>
                                            <p:cond delay="0"/>
                                          </p:stCondLst>
                                        </p:cTn>
                                        <p:tgtEl>
                                          <p:spTgt spid="212"/>
                                        </p:tgtEl>
                                        <p:attrNameLst>
                                          <p:attrName>style.visibility</p:attrName>
                                        </p:attrNameLst>
                                      </p:cBhvr>
                                      <p:to>
                                        <p:strVal val="visible"/>
                                      </p:to>
                                    </p:set>
                                    <p:animEffect transition="in" filter="wipe(left)">
                                      <p:cBhvr>
                                        <p:cTn id="48" dur="500"/>
                                        <p:tgtEl>
                                          <p:spTgt spid="212"/>
                                        </p:tgtEl>
                                      </p:cBhvr>
                                    </p:animEffect>
                                  </p:childTnLst>
                                </p:cTn>
                              </p:par>
                            </p:childTnLst>
                          </p:cTn>
                        </p:par>
                        <p:par>
                          <p:cTn id="49" fill="hold">
                            <p:stCondLst>
                              <p:cond delay="5000"/>
                            </p:stCondLst>
                            <p:childTnLst>
                              <p:par>
                                <p:cTn id="50" presetID="22" presetClass="entr" presetSubtype="8" fill="hold" nodeType="after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wipe(left)">
                                      <p:cBhvr>
                                        <p:cTn id="52" dur="500"/>
                                        <p:tgtEl>
                                          <p:spTgt spid="65"/>
                                        </p:tgtEl>
                                      </p:cBhvr>
                                    </p:animEffect>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136"/>
                                        </p:tgtEl>
                                        <p:attrNameLst>
                                          <p:attrName>style.visibility</p:attrName>
                                        </p:attrNameLst>
                                      </p:cBhvr>
                                      <p:to>
                                        <p:strVal val="visible"/>
                                      </p:to>
                                    </p:set>
                                    <p:animEffect transition="in" filter="wipe(left)">
                                      <p:cBhvr>
                                        <p:cTn id="56" dur="500"/>
                                        <p:tgtEl>
                                          <p:spTgt spid="136"/>
                                        </p:tgtEl>
                                      </p:cBhvr>
                                    </p:animEffect>
                                  </p:childTnLst>
                                </p:cTn>
                              </p:par>
                            </p:childTnLst>
                          </p:cTn>
                        </p:par>
                        <p:par>
                          <p:cTn id="57" fill="hold">
                            <p:stCondLst>
                              <p:cond delay="6000"/>
                            </p:stCondLst>
                            <p:childTnLst>
                              <p:par>
                                <p:cTn id="58" presetID="22" presetClass="entr" presetSubtype="8" fill="hold" nodeType="afterEffect">
                                  <p:stCondLst>
                                    <p:cond delay="0"/>
                                  </p:stCondLst>
                                  <p:childTnLst>
                                    <p:set>
                                      <p:cBhvr>
                                        <p:cTn id="59" dur="1" fill="hold">
                                          <p:stCondLst>
                                            <p:cond delay="0"/>
                                          </p:stCondLst>
                                        </p:cTn>
                                        <p:tgtEl>
                                          <p:spTgt spid="158"/>
                                        </p:tgtEl>
                                        <p:attrNameLst>
                                          <p:attrName>style.visibility</p:attrName>
                                        </p:attrNameLst>
                                      </p:cBhvr>
                                      <p:to>
                                        <p:strVal val="visible"/>
                                      </p:to>
                                    </p:set>
                                    <p:animEffect transition="in" filter="wipe(left)">
                                      <p:cBhvr>
                                        <p:cTn id="60" dur="500"/>
                                        <p:tgtEl>
                                          <p:spTgt spid="158"/>
                                        </p:tgtEl>
                                      </p:cBhvr>
                                    </p:animEffect>
                                  </p:childTnLst>
                                </p:cTn>
                              </p:par>
                            </p:childTnLst>
                          </p:cTn>
                        </p:par>
                        <p:par>
                          <p:cTn id="61" fill="hold">
                            <p:stCondLst>
                              <p:cond delay="6500"/>
                            </p:stCondLst>
                            <p:childTnLst>
                              <p:par>
                                <p:cTn id="62" presetID="22" presetClass="entr" presetSubtype="8" fill="hold" nodeType="afterEffect">
                                  <p:stCondLst>
                                    <p:cond delay="0"/>
                                  </p:stCondLst>
                                  <p:childTnLst>
                                    <p:set>
                                      <p:cBhvr>
                                        <p:cTn id="63" dur="1" fill="hold">
                                          <p:stCondLst>
                                            <p:cond delay="0"/>
                                          </p:stCondLst>
                                        </p:cTn>
                                        <p:tgtEl>
                                          <p:spTgt spid="163"/>
                                        </p:tgtEl>
                                        <p:attrNameLst>
                                          <p:attrName>style.visibility</p:attrName>
                                        </p:attrNameLst>
                                      </p:cBhvr>
                                      <p:to>
                                        <p:strVal val="visible"/>
                                      </p:to>
                                    </p:set>
                                    <p:animEffect transition="in" filter="wipe(left)">
                                      <p:cBhvr>
                                        <p:cTn id="64" dur="500"/>
                                        <p:tgtEl>
                                          <p:spTgt spid="163"/>
                                        </p:tgtEl>
                                      </p:cBhvr>
                                    </p:animEffect>
                                  </p:childTnLst>
                                </p:cTn>
                              </p:par>
                            </p:childTnLst>
                          </p:cTn>
                        </p:par>
                        <p:par>
                          <p:cTn id="65" fill="hold">
                            <p:stCondLst>
                              <p:cond delay="7000"/>
                            </p:stCondLst>
                            <p:childTnLst>
                              <p:par>
                                <p:cTn id="66" presetID="22" presetClass="entr" presetSubtype="8" fill="hold" grpId="0"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wipe(left)">
                                      <p:cBhvr>
                                        <p:cTn id="68" dur="500"/>
                                        <p:tgtEl>
                                          <p:spTgt spid="30"/>
                                        </p:tgtEl>
                                      </p:cBhvr>
                                    </p:animEffect>
                                  </p:childTnLst>
                                </p:cTn>
                              </p:par>
                            </p:childTnLst>
                          </p:cTn>
                        </p:par>
                        <p:par>
                          <p:cTn id="69" fill="hold">
                            <p:stCondLst>
                              <p:cond delay="7500"/>
                            </p:stCondLst>
                            <p:childTnLst>
                              <p:par>
                                <p:cTn id="70" presetID="22" presetClass="entr" presetSubtype="8" fill="hold" nodeType="afterEffect">
                                  <p:stCondLst>
                                    <p:cond delay="0"/>
                                  </p:stCondLst>
                                  <p:childTnLst>
                                    <p:set>
                                      <p:cBhvr>
                                        <p:cTn id="71" dur="1" fill="hold">
                                          <p:stCondLst>
                                            <p:cond delay="0"/>
                                          </p:stCondLst>
                                        </p:cTn>
                                        <p:tgtEl>
                                          <p:spTgt spid="228"/>
                                        </p:tgtEl>
                                        <p:attrNameLst>
                                          <p:attrName>style.visibility</p:attrName>
                                        </p:attrNameLst>
                                      </p:cBhvr>
                                      <p:to>
                                        <p:strVal val="visible"/>
                                      </p:to>
                                    </p:set>
                                    <p:animEffect transition="in" filter="wipe(left)">
                                      <p:cBhvr>
                                        <p:cTn id="72" dur="500"/>
                                        <p:tgtEl>
                                          <p:spTgt spid="228"/>
                                        </p:tgtEl>
                                      </p:cBhvr>
                                    </p:animEffect>
                                  </p:childTnLst>
                                </p:cTn>
                              </p:par>
                            </p:childTnLst>
                          </p:cTn>
                        </p:par>
                        <p:par>
                          <p:cTn id="73" fill="hold">
                            <p:stCondLst>
                              <p:cond delay="8000"/>
                            </p:stCondLst>
                            <p:childTnLst>
                              <p:par>
                                <p:cTn id="74" presetID="22" presetClass="entr" presetSubtype="8" fill="hold" nodeType="afterEffect">
                                  <p:stCondLst>
                                    <p:cond delay="0"/>
                                  </p:stCondLst>
                                  <p:childTnLst>
                                    <p:set>
                                      <p:cBhvr>
                                        <p:cTn id="75" dur="1" fill="hold">
                                          <p:stCondLst>
                                            <p:cond delay="0"/>
                                          </p:stCondLst>
                                        </p:cTn>
                                        <p:tgtEl>
                                          <p:spTgt spid="221"/>
                                        </p:tgtEl>
                                        <p:attrNameLst>
                                          <p:attrName>style.visibility</p:attrName>
                                        </p:attrNameLst>
                                      </p:cBhvr>
                                      <p:to>
                                        <p:strVal val="visible"/>
                                      </p:to>
                                    </p:set>
                                    <p:animEffect transition="in" filter="wipe(left)">
                                      <p:cBhvr>
                                        <p:cTn id="76" dur="500"/>
                                        <p:tgtEl>
                                          <p:spTgt spid="221"/>
                                        </p:tgtEl>
                                      </p:cBhvr>
                                    </p:animEffect>
                                  </p:childTnLst>
                                </p:cTn>
                              </p:par>
                            </p:childTnLst>
                          </p:cTn>
                        </p:par>
                        <p:par>
                          <p:cTn id="77" fill="hold">
                            <p:stCondLst>
                              <p:cond delay="8500"/>
                            </p:stCondLst>
                            <p:childTnLst>
                              <p:par>
                                <p:cTn id="78" presetID="22" presetClass="entr" presetSubtype="8" fill="hold" nodeType="afterEffect">
                                  <p:stCondLst>
                                    <p:cond delay="0"/>
                                  </p:stCondLst>
                                  <p:childTnLst>
                                    <p:set>
                                      <p:cBhvr>
                                        <p:cTn id="79" dur="1" fill="hold">
                                          <p:stCondLst>
                                            <p:cond delay="0"/>
                                          </p:stCondLst>
                                        </p:cTn>
                                        <p:tgtEl>
                                          <p:spTgt spid="222"/>
                                        </p:tgtEl>
                                        <p:attrNameLst>
                                          <p:attrName>style.visibility</p:attrName>
                                        </p:attrNameLst>
                                      </p:cBhvr>
                                      <p:to>
                                        <p:strVal val="visible"/>
                                      </p:to>
                                    </p:set>
                                    <p:animEffect transition="in" filter="wipe(left)">
                                      <p:cBhvr>
                                        <p:cTn id="80" dur="500"/>
                                        <p:tgtEl>
                                          <p:spTgt spid="222"/>
                                        </p:tgtEl>
                                      </p:cBhvr>
                                    </p:animEffect>
                                  </p:childTnLst>
                                </p:cTn>
                              </p:par>
                            </p:childTnLst>
                          </p:cTn>
                        </p:par>
                        <p:par>
                          <p:cTn id="81" fill="hold">
                            <p:stCondLst>
                              <p:cond delay="9000"/>
                            </p:stCondLst>
                            <p:childTnLst>
                              <p:par>
                                <p:cTn id="82" presetID="22" presetClass="entr" presetSubtype="8" fill="hold" nodeType="afterEffect">
                                  <p:stCondLst>
                                    <p:cond delay="0"/>
                                  </p:stCondLst>
                                  <p:childTnLst>
                                    <p:set>
                                      <p:cBhvr>
                                        <p:cTn id="83" dur="1" fill="hold">
                                          <p:stCondLst>
                                            <p:cond delay="0"/>
                                          </p:stCondLst>
                                        </p:cTn>
                                        <p:tgtEl>
                                          <p:spTgt spid="225"/>
                                        </p:tgtEl>
                                        <p:attrNameLst>
                                          <p:attrName>style.visibility</p:attrName>
                                        </p:attrNameLst>
                                      </p:cBhvr>
                                      <p:to>
                                        <p:strVal val="visible"/>
                                      </p:to>
                                    </p:set>
                                    <p:animEffect transition="in" filter="wipe(left)">
                                      <p:cBhvr>
                                        <p:cTn id="84" dur="500"/>
                                        <p:tgtEl>
                                          <p:spTgt spid="225"/>
                                        </p:tgtEl>
                                      </p:cBhvr>
                                    </p:animEffect>
                                  </p:childTnLst>
                                </p:cTn>
                              </p:par>
                            </p:childTnLst>
                          </p:cTn>
                        </p:par>
                        <p:par>
                          <p:cTn id="85" fill="hold">
                            <p:stCondLst>
                              <p:cond delay="9500"/>
                            </p:stCondLst>
                            <p:childTnLst>
                              <p:par>
                                <p:cTn id="86" presetID="22" presetClass="entr" presetSubtype="8" fill="hold" nodeType="after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wipe(left)">
                                      <p:cBhvr>
                                        <p:cTn id="88" dur="500"/>
                                        <p:tgtEl>
                                          <p:spTgt spid="70"/>
                                        </p:tgtEl>
                                      </p:cBhvr>
                                    </p:animEffect>
                                  </p:childTnLst>
                                </p:cTn>
                              </p:par>
                            </p:childTnLst>
                          </p:cTn>
                        </p:par>
                        <p:par>
                          <p:cTn id="89" fill="hold">
                            <p:stCondLst>
                              <p:cond delay="10000"/>
                            </p:stCondLst>
                            <p:childTnLst>
                              <p:par>
                                <p:cTn id="90" presetID="22" presetClass="entr" presetSubtype="8" fill="hold" nodeType="afterEffect">
                                  <p:stCondLst>
                                    <p:cond delay="0"/>
                                  </p:stCondLst>
                                  <p:childTnLst>
                                    <p:set>
                                      <p:cBhvr>
                                        <p:cTn id="91" dur="1" fill="hold">
                                          <p:stCondLst>
                                            <p:cond delay="0"/>
                                          </p:stCondLst>
                                        </p:cTn>
                                        <p:tgtEl>
                                          <p:spTgt spid="137"/>
                                        </p:tgtEl>
                                        <p:attrNameLst>
                                          <p:attrName>style.visibility</p:attrName>
                                        </p:attrNameLst>
                                      </p:cBhvr>
                                      <p:to>
                                        <p:strVal val="visible"/>
                                      </p:to>
                                    </p:set>
                                    <p:animEffect transition="in" filter="wipe(left)">
                                      <p:cBhvr>
                                        <p:cTn id="92" dur="500"/>
                                        <p:tgtEl>
                                          <p:spTgt spid="137"/>
                                        </p:tgtEl>
                                      </p:cBhvr>
                                    </p:animEffect>
                                  </p:childTnLst>
                                </p:cTn>
                              </p:par>
                            </p:childTnLst>
                          </p:cTn>
                        </p:par>
                        <p:par>
                          <p:cTn id="93" fill="hold">
                            <p:stCondLst>
                              <p:cond delay="10500"/>
                            </p:stCondLst>
                            <p:childTnLst>
                              <p:par>
                                <p:cTn id="94" presetID="22" presetClass="entr" presetSubtype="8" fill="hold" nodeType="afterEffect">
                                  <p:stCondLst>
                                    <p:cond delay="0"/>
                                  </p:stCondLst>
                                  <p:childTnLst>
                                    <p:set>
                                      <p:cBhvr>
                                        <p:cTn id="95" dur="1" fill="hold">
                                          <p:stCondLst>
                                            <p:cond delay="0"/>
                                          </p:stCondLst>
                                        </p:cTn>
                                        <p:tgtEl>
                                          <p:spTgt spid="138"/>
                                        </p:tgtEl>
                                        <p:attrNameLst>
                                          <p:attrName>style.visibility</p:attrName>
                                        </p:attrNameLst>
                                      </p:cBhvr>
                                      <p:to>
                                        <p:strVal val="visible"/>
                                      </p:to>
                                    </p:set>
                                    <p:animEffect transition="in" filter="wipe(left)">
                                      <p:cBhvr>
                                        <p:cTn id="96" dur="500"/>
                                        <p:tgtEl>
                                          <p:spTgt spid="138"/>
                                        </p:tgtEl>
                                      </p:cBhvr>
                                    </p:animEffect>
                                  </p:childTnLst>
                                </p:cTn>
                              </p:par>
                            </p:childTnLst>
                          </p:cTn>
                        </p:par>
                        <p:par>
                          <p:cTn id="97" fill="hold">
                            <p:stCondLst>
                              <p:cond delay="11000"/>
                            </p:stCondLst>
                            <p:childTnLst>
                              <p:par>
                                <p:cTn id="98" presetID="22" presetClass="entr" presetSubtype="8" fill="hold" nodeType="afterEffect">
                                  <p:stCondLst>
                                    <p:cond delay="0"/>
                                  </p:stCondLst>
                                  <p:childTnLst>
                                    <p:set>
                                      <p:cBhvr>
                                        <p:cTn id="99" dur="1" fill="hold">
                                          <p:stCondLst>
                                            <p:cond delay="0"/>
                                          </p:stCondLst>
                                        </p:cTn>
                                        <p:tgtEl>
                                          <p:spTgt spid="154"/>
                                        </p:tgtEl>
                                        <p:attrNameLst>
                                          <p:attrName>style.visibility</p:attrName>
                                        </p:attrNameLst>
                                      </p:cBhvr>
                                      <p:to>
                                        <p:strVal val="visible"/>
                                      </p:to>
                                    </p:set>
                                    <p:animEffect transition="in" filter="wipe(left)">
                                      <p:cBhvr>
                                        <p:cTn id="100" dur="500"/>
                                        <p:tgtEl>
                                          <p:spTgt spid="154"/>
                                        </p:tgtEl>
                                      </p:cBhvr>
                                    </p:animEffect>
                                  </p:childTnLst>
                                </p:cTn>
                              </p:par>
                            </p:childTnLst>
                          </p:cTn>
                        </p:par>
                        <p:par>
                          <p:cTn id="101" fill="hold">
                            <p:stCondLst>
                              <p:cond delay="11500"/>
                            </p:stCondLst>
                            <p:childTnLst>
                              <p:par>
                                <p:cTn id="102" presetID="22" presetClass="entr" presetSubtype="8" fill="hold" nodeType="afterEffect">
                                  <p:stCondLst>
                                    <p:cond delay="0"/>
                                  </p:stCondLst>
                                  <p:childTnLst>
                                    <p:set>
                                      <p:cBhvr>
                                        <p:cTn id="103" dur="1" fill="hold">
                                          <p:stCondLst>
                                            <p:cond delay="0"/>
                                          </p:stCondLst>
                                        </p:cTn>
                                        <p:tgtEl>
                                          <p:spTgt spid="188"/>
                                        </p:tgtEl>
                                        <p:attrNameLst>
                                          <p:attrName>style.visibility</p:attrName>
                                        </p:attrNameLst>
                                      </p:cBhvr>
                                      <p:to>
                                        <p:strVal val="visible"/>
                                      </p:to>
                                    </p:set>
                                    <p:animEffect transition="in" filter="wipe(left)">
                                      <p:cBhvr>
                                        <p:cTn id="104" dur="500"/>
                                        <p:tgtEl>
                                          <p:spTgt spid="188"/>
                                        </p:tgtEl>
                                      </p:cBhvr>
                                    </p:animEffect>
                                  </p:childTnLst>
                                </p:cTn>
                              </p:par>
                            </p:childTnLst>
                          </p:cTn>
                        </p:par>
                        <p:par>
                          <p:cTn id="105" fill="hold">
                            <p:stCondLst>
                              <p:cond delay="12000"/>
                            </p:stCondLst>
                            <p:childTnLst>
                              <p:par>
                                <p:cTn id="106" presetID="22" presetClass="entr" presetSubtype="8" fill="hold" nodeType="afterEffect">
                                  <p:stCondLst>
                                    <p:cond delay="0"/>
                                  </p:stCondLst>
                                  <p:childTnLst>
                                    <p:set>
                                      <p:cBhvr>
                                        <p:cTn id="107" dur="1" fill="hold">
                                          <p:stCondLst>
                                            <p:cond delay="0"/>
                                          </p:stCondLst>
                                        </p:cTn>
                                        <p:tgtEl>
                                          <p:spTgt spid="189"/>
                                        </p:tgtEl>
                                        <p:attrNameLst>
                                          <p:attrName>style.visibility</p:attrName>
                                        </p:attrNameLst>
                                      </p:cBhvr>
                                      <p:to>
                                        <p:strVal val="visible"/>
                                      </p:to>
                                    </p:set>
                                    <p:animEffect transition="in" filter="wipe(left)">
                                      <p:cBhvr>
                                        <p:cTn id="108" dur="500"/>
                                        <p:tgtEl>
                                          <p:spTgt spid="189"/>
                                        </p:tgtEl>
                                      </p:cBhvr>
                                    </p:animEffect>
                                  </p:childTnLst>
                                </p:cTn>
                              </p:par>
                            </p:childTnLst>
                          </p:cTn>
                        </p:par>
                        <p:par>
                          <p:cTn id="109" fill="hold">
                            <p:stCondLst>
                              <p:cond delay="12500"/>
                            </p:stCondLst>
                            <p:childTnLst>
                              <p:par>
                                <p:cTn id="110" presetID="22" presetClass="entr" presetSubtype="8" fill="hold" nodeType="afterEffect">
                                  <p:stCondLst>
                                    <p:cond delay="0"/>
                                  </p:stCondLst>
                                  <p:childTnLst>
                                    <p:set>
                                      <p:cBhvr>
                                        <p:cTn id="111" dur="1" fill="hold">
                                          <p:stCondLst>
                                            <p:cond delay="0"/>
                                          </p:stCondLst>
                                        </p:cTn>
                                        <p:tgtEl>
                                          <p:spTgt spid="193"/>
                                        </p:tgtEl>
                                        <p:attrNameLst>
                                          <p:attrName>style.visibility</p:attrName>
                                        </p:attrNameLst>
                                      </p:cBhvr>
                                      <p:to>
                                        <p:strVal val="visible"/>
                                      </p:to>
                                    </p:set>
                                    <p:animEffect transition="in" filter="wipe(left)">
                                      <p:cBhvr>
                                        <p:cTn id="112" dur="500"/>
                                        <p:tgtEl>
                                          <p:spTgt spid="193"/>
                                        </p:tgtEl>
                                      </p:cBhvr>
                                    </p:animEffect>
                                  </p:childTnLst>
                                </p:cTn>
                              </p:par>
                            </p:childTnLst>
                          </p:cTn>
                        </p:par>
                        <p:par>
                          <p:cTn id="113" fill="hold">
                            <p:stCondLst>
                              <p:cond delay="13000"/>
                            </p:stCondLst>
                            <p:childTnLst>
                              <p:par>
                                <p:cTn id="114" presetID="22" presetClass="entr" presetSubtype="8" fill="hold" nodeType="afterEffect">
                                  <p:stCondLst>
                                    <p:cond delay="0"/>
                                  </p:stCondLst>
                                  <p:childTnLst>
                                    <p:set>
                                      <p:cBhvr>
                                        <p:cTn id="115" dur="1" fill="hold">
                                          <p:stCondLst>
                                            <p:cond delay="0"/>
                                          </p:stCondLst>
                                        </p:cTn>
                                        <p:tgtEl>
                                          <p:spTgt spid="197"/>
                                        </p:tgtEl>
                                        <p:attrNameLst>
                                          <p:attrName>style.visibility</p:attrName>
                                        </p:attrNameLst>
                                      </p:cBhvr>
                                      <p:to>
                                        <p:strVal val="visible"/>
                                      </p:to>
                                    </p:set>
                                    <p:animEffect transition="in" filter="wipe(left)">
                                      <p:cBhvr>
                                        <p:cTn id="116" dur="500"/>
                                        <p:tgtEl>
                                          <p:spTgt spid="197"/>
                                        </p:tgtEl>
                                      </p:cBhvr>
                                    </p:animEffect>
                                  </p:childTnLst>
                                </p:cTn>
                              </p:par>
                            </p:childTnLst>
                          </p:cTn>
                        </p:par>
                        <p:par>
                          <p:cTn id="117" fill="hold">
                            <p:stCondLst>
                              <p:cond delay="13500"/>
                            </p:stCondLst>
                            <p:childTnLst>
                              <p:par>
                                <p:cTn id="118" presetID="22" presetClass="entr" presetSubtype="8" fill="hold" nodeType="afterEffect">
                                  <p:stCondLst>
                                    <p:cond delay="0"/>
                                  </p:stCondLst>
                                  <p:childTnLst>
                                    <p:set>
                                      <p:cBhvr>
                                        <p:cTn id="119" dur="1" fill="hold">
                                          <p:stCondLst>
                                            <p:cond delay="0"/>
                                          </p:stCondLst>
                                        </p:cTn>
                                        <p:tgtEl>
                                          <p:spTgt spid="164"/>
                                        </p:tgtEl>
                                        <p:attrNameLst>
                                          <p:attrName>style.visibility</p:attrName>
                                        </p:attrNameLst>
                                      </p:cBhvr>
                                      <p:to>
                                        <p:strVal val="visible"/>
                                      </p:to>
                                    </p:set>
                                    <p:animEffect transition="in" filter="wipe(left)">
                                      <p:cBhvr>
                                        <p:cTn id="120" dur="500"/>
                                        <p:tgtEl>
                                          <p:spTgt spid="164"/>
                                        </p:tgtEl>
                                      </p:cBhvr>
                                    </p:animEffect>
                                  </p:childTnLst>
                                </p:cTn>
                              </p:par>
                            </p:childTnLst>
                          </p:cTn>
                        </p:par>
                        <p:par>
                          <p:cTn id="121" fill="hold">
                            <p:stCondLst>
                              <p:cond delay="14000"/>
                            </p:stCondLst>
                            <p:childTnLst>
                              <p:par>
                                <p:cTn id="122" presetID="22" presetClass="entr" presetSubtype="8" fill="hold" nodeType="afterEffect">
                                  <p:stCondLst>
                                    <p:cond delay="0"/>
                                  </p:stCondLst>
                                  <p:childTnLst>
                                    <p:set>
                                      <p:cBhvr>
                                        <p:cTn id="123" dur="1" fill="hold">
                                          <p:stCondLst>
                                            <p:cond delay="0"/>
                                          </p:stCondLst>
                                        </p:cTn>
                                        <p:tgtEl>
                                          <p:spTgt spid="165"/>
                                        </p:tgtEl>
                                        <p:attrNameLst>
                                          <p:attrName>style.visibility</p:attrName>
                                        </p:attrNameLst>
                                      </p:cBhvr>
                                      <p:to>
                                        <p:strVal val="visible"/>
                                      </p:to>
                                    </p:set>
                                    <p:animEffect transition="in" filter="wipe(left)">
                                      <p:cBhvr>
                                        <p:cTn id="124" dur="500"/>
                                        <p:tgtEl>
                                          <p:spTgt spid="165"/>
                                        </p:tgtEl>
                                      </p:cBhvr>
                                    </p:animEffect>
                                  </p:childTnLst>
                                </p:cTn>
                              </p:par>
                            </p:childTnLst>
                          </p:cTn>
                        </p:par>
                        <p:par>
                          <p:cTn id="125" fill="hold">
                            <p:stCondLst>
                              <p:cond delay="14500"/>
                            </p:stCondLst>
                            <p:childTnLst>
                              <p:par>
                                <p:cTn id="126" presetID="22" presetClass="entr" presetSubtype="8" fill="hold" nodeType="afterEffect">
                                  <p:stCondLst>
                                    <p:cond delay="0"/>
                                  </p:stCondLst>
                                  <p:childTnLst>
                                    <p:set>
                                      <p:cBhvr>
                                        <p:cTn id="127" dur="1" fill="hold">
                                          <p:stCondLst>
                                            <p:cond delay="0"/>
                                          </p:stCondLst>
                                        </p:cTn>
                                        <p:tgtEl>
                                          <p:spTgt spid="166"/>
                                        </p:tgtEl>
                                        <p:attrNameLst>
                                          <p:attrName>style.visibility</p:attrName>
                                        </p:attrNameLst>
                                      </p:cBhvr>
                                      <p:to>
                                        <p:strVal val="visible"/>
                                      </p:to>
                                    </p:set>
                                    <p:animEffect transition="in" filter="wipe(left)">
                                      <p:cBhvr>
                                        <p:cTn id="128" dur="500"/>
                                        <p:tgtEl>
                                          <p:spTgt spid="166"/>
                                        </p:tgtEl>
                                      </p:cBhvr>
                                    </p:animEffect>
                                  </p:childTnLst>
                                </p:cTn>
                              </p:par>
                            </p:childTnLst>
                          </p:cTn>
                        </p:par>
                        <p:par>
                          <p:cTn id="129" fill="hold">
                            <p:stCondLst>
                              <p:cond delay="15000"/>
                            </p:stCondLst>
                            <p:childTnLst>
                              <p:par>
                                <p:cTn id="130" presetID="22" presetClass="entr" presetSubtype="8" fill="hold" nodeType="afterEffect">
                                  <p:stCondLst>
                                    <p:cond delay="0"/>
                                  </p:stCondLst>
                                  <p:childTnLst>
                                    <p:set>
                                      <p:cBhvr>
                                        <p:cTn id="131" dur="1" fill="hold">
                                          <p:stCondLst>
                                            <p:cond delay="0"/>
                                          </p:stCondLst>
                                        </p:cTn>
                                        <p:tgtEl>
                                          <p:spTgt spid="167"/>
                                        </p:tgtEl>
                                        <p:attrNameLst>
                                          <p:attrName>style.visibility</p:attrName>
                                        </p:attrNameLst>
                                      </p:cBhvr>
                                      <p:to>
                                        <p:strVal val="visible"/>
                                      </p:to>
                                    </p:set>
                                    <p:animEffect transition="in" filter="wipe(left)">
                                      <p:cBhvr>
                                        <p:cTn id="132" dur="500"/>
                                        <p:tgtEl>
                                          <p:spTgt spid="167"/>
                                        </p:tgtEl>
                                      </p:cBhvr>
                                    </p:animEffect>
                                  </p:childTnLst>
                                </p:cTn>
                              </p:par>
                            </p:childTnLst>
                          </p:cTn>
                        </p:par>
                        <p:par>
                          <p:cTn id="133" fill="hold">
                            <p:stCondLst>
                              <p:cond delay="15500"/>
                            </p:stCondLst>
                            <p:childTnLst>
                              <p:par>
                                <p:cTn id="134" presetID="22" presetClass="entr" presetSubtype="8" fill="hold" grpId="0" nodeType="after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wipe(left)">
                                      <p:cBhvr>
                                        <p:cTn id="136" dur="500"/>
                                        <p:tgtEl>
                                          <p:spTgt spid="51"/>
                                        </p:tgtEl>
                                      </p:cBhvr>
                                    </p:animEffect>
                                  </p:childTnLst>
                                </p:cTn>
                              </p:par>
                            </p:childTnLst>
                          </p:cTn>
                        </p:par>
                        <p:par>
                          <p:cTn id="137" fill="hold">
                            <p:stCondLst>
                              <p:cond delay="16000"/>
                            </p:stCondLst>
                            <p:childTnLst>
                              <p:par>
                                <p:cTn id="138" presetID="22" presetClass="entr" presetSubtype="8" fill="hold" grpId="0" nodeType="after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wipe(left)">
                                      <p:cBhvr>
                                        <p:cTn id="140" dur="500"/>
                                        <p:tgtEl>
                                          <p:spTgt spid="56"/>
                                        </p:tgtEl>
                                      </p:cBhvr>
                                    </p:animEffect>
                                  </p:childTnLst>
                                </p:cTn>
                              </p:par>
                            </p:childTnLst>
                          </p:cTn>
                        </p:par>
                        <p:par>
                          <p:cTn id="141" fill="hold">
                            <p:stCondLst>
                              <p:cond delay="16500"/>
                            </p:stCondLst>
                            <p:childTnLst>
                              <p:par>
                                <p:cTn id="142" presetID="22" presetClass="entr" presetSubtype="8" fill="hold" grpId="0" nodeType="afterEffect">
                                  <p:stCondLst>
                                    <p:cond delay="0"/>
                                  </p:stCondLst>
                                  <p:childTnLst>
                                    <p:set>
                                      <p:cBhvr>
                                        <p:cTn id="143" dur="1" fill="hold">
                                          <p:stCondLst>
                                            <p:cond delay="0"/>
                                          </p:stCondLst>
                                        </p:cTn>
                                        <p:tgtEl>
                                          <p:spTgt spid="57"/>
                                        </p:tgtEl>
                                        <p:attrNameLst>
                                          <p:attrName>style.visibility</p:attrName>
                                        </p:attrNameLst>
                                      </p:cBhvr>
                                      <p:to>
                                        <p:strVal val="visible"/>
                                      </p:to>
                                    </p:set>
                                    <p:animEffect transition="in" filter="wipe(left)">
                                      <p:cBhvr>
                                        <p:cTn id="144" dur="500"/>
                                        <p:tgtEl>
                                          <p:spTgt spid="57"/>
                                        </p:tgtEl>
                                      </p:cBhvr>
                                    </p:animEffect>
                                  </p:childTnLst>
                                </p:cTn>
                              </p:par>
                            </p:childTnLst>
                          </p:cTn>
                        </p:par>
                        <p:par>
                          <p:cTn id="145" fill="hold">
                            <p:stCondLst>
                              <p:cond delay="17000"/>
                            </p:stCondLst>
                            <p:childTnLst>
                              <p:par>
                                <p:cTn id="146" presetID="22" presetClass="entr" presetSubtype="8" fill="hold" grpId="0" nodeType="after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wipe(left)">
                                      <p:cBhvr>
                                        <p:cTn id="148" dur="500"/>
                                        <p:tgtEl>
                                          <p:spTgt spid="58"/>
                                        </p:tgtEl>
                                      </p:cBhvr>
                                    </p:animEffect>
                                  </p:childTnLst>
                                </p:cTn>
                              </p:par>
                            </p:childTnLst>
                          </p:cTn>
                        </p:par>
                        <p:par>
                          <p:cTn id="149" fill="hold">
                            <p:stCondLst>
                              <p:cond delay="17500"/>
                            </p:stCondLst>
                            <p:childTnLst>
                              <p:par>
                                <p:cTn id="150" presetID="22" presetClass="entr" presetSubtype="8" fill="hold" grpId="0" nodeType="afterEffect">
                                  <p:stCondLst>
                                    <p:cond delay="0"/>
                                  </p:stCondLst>
                                  <p:childTnLst>
                                    <p:set>
                                      <p:cBhvr>
                                        <p:cTn id="151" dur="1" fill="hold">
                                          <p:stCondLst>
                                            <p:cond delay="0"/>
                                          </p:stCondLst>
                                        </p:cTn>
                                        <p:tgtEl>
                                          <p:spTgt spid="59"/>
                                        </p:tgtEl>
                                        <p:attrNameLst>
                                          <p:attrName>style.visibility</p:attrName>
                                        </p:attrNameLst>
                                      </p:cBhvr>
                                      <p:to>
                                        <p:strVal val="visible"/>
                                      </p:to>
                                    </p:set>
                                    <p:animEffect transition="in" filter="wipe(left)">
                                      <p:cBhvr>
                                        <p:cTn id="15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1" grpId="0" animBg="1"/>
      <p:bldP spid="56" grpId="0" animBg="1"/>
      <p:bldP spid="57" grpId="0" animBg="1"/>
      <p:bldP spid="58" grpId="0" animBg="1"/>
      <p:bldP spid="5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B692FA4-80A3-FADF-0B7A-2927B358D29D}"/>
              </a:ext>
            </a:extLst>
          </p:cNvPr>
          <p:cNvSpPr/>
          <p:nvPr/>
        </p:nvSpPr>
        <p:spPr bwMode="gray">
          <a:xfrm>
            <a:off x="7587733" y="254155"/>
            <a:ext cx="4604267" cy="6856215"/>
          </a:xfrm>
          <a:prstGeom prst="rect">
            <a:avLst/>
          </a:prstGeom>
          <a:solidFill>
            <a:schemeClr val="bg2">
              <a:lumMod val="20000"/>
              <a:lumOff val="80000"/>
              <a:alpha val="26192"/>
            </a:schemeClr>
          </a:solidFill>
          <a:ln w="254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9946" indent="-179946" defTabSz="914126" fontAlgn="base">
              <a:spcAft>
                <a:spcPts val="600"/>
              </a:spcAft>
              <a:buSzPct val="80000"/>
              <a:buFont typeface="Wingdings" panose="05000000000000000000" pitchFamily="2" charset="2"/>
              <a:buChar char="§"/>
            </a:pPr>
            <a:endParaRPr lang="en-DE" sz="1400" kern="0">
              <a:solidFill>
                <a:srgbClr val="000000"/>
              </a:solidFill>
              <a:latin typeface="72 Brand"/>
              <a:ea typeface="Arial Unicode MS" pitchFamily="34" charset="-128"/>
              <a:cs typeface="Arial Unicode MS" pitchFamily="34" charset="-128"/>
            </a:endParaRPr>
          </a:p>
        </p:txBody>
      </p:sp>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674063"/>
            <a:ext cx="7692367" cy="4427751"/>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5" y="5873190"/>
            <a:ext cx="7498304" cy="172755"/>
          </a:xfrm>
          <a:prstGeom prst="roundRect">
            <a:avLst>
              <a:gd name="adj" fmla="val 25923"/>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7" y="1971655"/>
            <a:ext cx="7498304" cy="3861312"/>
          </a:xfrm>
          <a:prstGeom prst="roundRect">
            <a:avLst>
              <a:gd name="adj" fmla="val 1120"/>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7" y="1757820"/>
            <a:ext cx="7498302" cy="169233"/>
          </a:xfrm>
          <a:prstGeom prst="roundRect">
            <a:avLst>
              <a:gd name="adj" fmla="val 22001"/>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4230286" y="5913413"/>
            <a:ext cx="240451" cy="92333"/>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4211162" y="1817757"/>
            <a:ext cx="179536" cy="92333"/>
          </a:xfrm>
          <a:prstGeom prst="rect">
            <a:avLst/>
          </a:prstGeom>
          <a:noFill/>
        </p:spPr>
        <p:txBody>
          <a:bodyPr wrap="none" lIns="0" tIns="0" rIns="0" bIns="0" rtlCol="0">
            <a:spAutoFit/>
          </a:bodyPr>
          <a:lstStyle/>
          <a:p>
            <a:pPr algn="ctr" defTabSz="914126">
              <a:defRPr/>
            </a:pPr>
            <a:r>
              <a:rPr lang="en-US" sz="600" b="1">
                <a:solidFill>
                  <a:srgbClr val="000000"/>
                </a:solidFill>
                <a:latin typeface="72 Brand" panose="020B0504030603020204" pitchFamily="34" charset="0"/>
                <a:cs typeface="72 Bold" panose="020B0803030000000003" pitchFamily="34" charset="0"/>
              </a:rPr>
              <a:t>Stuff</a:t>
            </a:r>
          </a:p>
        </p:txBody>
      </p:sp>
      <p:sp>
        <p:nvSpPr>
          <p:cNvPr id="7" name="Rectangle: Rounded Corners 93">
            <a:extLst>
              <a:ext uri="{FF2B5EF4-FFF2-40B4-BE49-F238E27FC236}">
                <a16:creationId xmlns:a16="http://schemas.microsoft.com/office/drawing/2014/main" id="{447AA248-2FE4-952D-3DB3-DCF122121578}"/>
              </a:ext>
            </a:extLst>
          </p:cNvPr>
          <p:cNvSpPr/>
          <p:nvPr/>
        </p:nvSpPr>
        <p:spPr bwMode="auto">
          <a:xfrm>
            <a:off x="623318" y="1763164"/>
            <a:ext cx="7498302" cy="169233"/>
          </a:xfrm>
          <a:prstGeom prst="roundRect">
            <a:avLst>
              <a:gd name="adj" fmla="val 22001"/>
            </a:avLst>
          </a:prstGeom>
          <a:solidFill>
            <a:schemeClr val="bg1">
              <a:alpha val="74143"/>
            </a:schemeClr>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2" name="Rectangle: Rounded Corners 78">
            <a:extLst>
              <a:ext uri="{FF2B5EF4-FFF2-40B4-BE49-F238E27FC236}">
                <a16:creationId xmlns:a16="http://schemas.microsoft.com/office/drawing/2014/main" id="{0D76955C-4741-447C-0C92-4F48C9191B40}"/>
              </a:ext>
            </a:extLst>
          </p:cNvPr>
          <p:cNvSpPr/>
          <p:nvPr/>
        </p:nvSpPr>
        <p:spPr bwMode="auto">
          <a:xfrm>
            <a:off x="605792" y="5873188"/>
            <a:ext cx="7498304" cy="172755"/>
          </a:xfrm>
          <a:prstGeom prst="roundRect">
            <a:avLst>
              <a:gd name="adj" fmla="val 25923"/>
            </a:avLst>
          </a:prstGeom>
          <a:solidFill>
            <a:schemeClr val="bg1">
              <a:alpha val="74000"/>
            </a:schemeClr>
          </a:soli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14" name="TextBox 13">
            <a:extLst>
              <a:ext uri="{FF2B5EF4-FFF2-40B4-BE49-F238E27FC236}">
                <a16:creationId xmlns:a16="http://schemas.microsoft.com/office/drawing/2014/main" id="{4D90A748-2E8F-0675-1498-B2EC5D483D88}"/>
              </a:ext>
            </a:extLst>
          </p:cNvPr>
          <p:cNvSpPr txBox="1"/>
          <p:nvPr/>
        </p:nvSpPr>
        <p:spPr>
          <a:xfrm>
            <a:off x="3878768" y="2051184"/>
            <a:ext cx="942567" cy="184666"/>
          </a:xfrm>
          <a:prstGeom prst="rect">
            <a:avLst/>
          </a:prstGeom>
          <a:noFill/>
        </p:spPr>
        <p:txBody>
          <a:bodyPr wrap="none" lIns="0" tIns="0" rIns="0" bIns="0" rtlCol="0">
            <a:spAutoFit/>
          </a:bodyPr>
          <a:lstStyle/>
          <a:p>
            <a:pPr algn="ctr" defTabSz="914126">
              <a:defRPr/>
            </a:pPr>
            <a:r>
              <a:rPr lang="en-US" sz="12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grpSp>
        <p:nvGrpSpPr>
          <p:cNvPr id="31" name="Group 30">
            <a:extLst>
              <a:ext uri="{FF2B5EF4-FFF2-40B4-BE49-F238E27FC236}">
                <a16:creationId xmlns:a16="http://schemas.microsoft.com/office/drawing/2014/main" id="{5449FAB3-FA1E-BEDF-CDBF-40FFA8C74CED}"/>
              </a:ext>
            </a:extLst>
          </p:cNvPr>
          <p:cNvGrpSpPr/>
          <p:nvPr/>
        </p:nvGrpSpPr>
        <p:grpSpPr>
          <a:xfrm>
            <a:off x="8573824" y="1846056"/>
            <a:ext cx="3221394" cy="1234091"/>
            <a:chOff x="8576054" y="1701631"/>
            <a:chExt cx="3222232" cy="1234414"/>
          </a:xfrm>
        </p:grpSpPr>
        <p:sp>
          <p:nvSpPr>
            <p:cNvPr id="32" name="Rectangle 31">
              <a:extLst>
                <a:ext uri="{FF2B5EF4-FFF2-40B4-BE49-F238E27FC236}">
                  <a16:creationId xmlns:a16="http://schemas.microsoft.com/office/drawing/2014/main" id="{D892C263-C0EC-96C4-1680-8AF0DB87F945}"/>
                </a:ext>
              </a:extLst>
            </p:cNvPr>
            <p:cNvSpPr/>
            <p:nvPr/>
          </p:nvSpPr>
          <p:spPr bwMode="auto">
            <a:xfrm>
              <a:off x="8576054" y="1701631"/>
              <a:ext cx="2643983" cy="2216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Protection from Token Limit</a:t>
              </a:r>
            </a:p>
          </p:txBody>
        </p:sp>
        <p:sp>
          <p:nvSpPr>
            <p:cNvPr id="33" name="Rectangle 32">
              <a:extLst>
                <a:ext uri="{FF2B5EF4-FFF2-40B4-BE49-F238E27FC236}">
                  <a16:creationId xmlns:a16="http://schemas.microsoft.com/office/drawing/2014/main" id="{B52C9831-917F-33A8-2CEF-64A0DB958105}"/>
                </a:ext>
              </a:extLst>
            </p:cNvPr>
            <p:cNvSpPr/>
            <p:nvPr/>
          </p:nvSpPr>
          <p:spPr bwMode="auto">
            <a:xfrm>
              <a:off x="8581982" y="2012475"/>
              <a:ext cx="3216304" cy="9235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IN" sz="1200" kern="0">
                  <a:solidFill>
                    <a:srgbClr val="000000"/>
                  </a:solidFill>
                  <a:latin typeface="72 Brand Light" panose="020B0304030603020204" pitchFamily="34" charset="0"/>
                  <a:ea typeface="Arial Unicode MS"/>
                  <a:cs typeface="Arial"/>
                </a:rPr>
                <a:t>Attempting to merge all the chunk summaries at once might still run into </a:t>
              </a:r>
              <a:r>
                <a:rPr lang="en-IN" sz="1200" b="1" kern="0">
                  <a:solidFill>
                    <a:srgbClr val="000000"/>
                  </a:solidFill>
                  <a:latin typeface="72 Brand" panose="020B0504030603020204" pitchFamily="34" charset="0"/>
                  <a:ea typeface="Arial Unicode MS"/>
                  <a:cs typeface="Arial"/>
                </a:rPr>
                <a:t>token limit constraints</a:t>
              </a:r>
              <a:r>
                <a:rPr lang="en-IN" sz="1200" kern="0">
                  <a:solidFill>
                    <a:srgbClr val="000000"/>
                  </a:solidFill>
                  <a:latin typeface="72 Brand Light" panose="020B0304030603020204" pitchFamily="34" charset="0"/>
                  <a:ea typeface="Arial Unicode MS"/>
                  <a:cs typeface="Arial"/>
                </a:rPr>
                <a:t>. To address this challenge, the </a:t>
              </a:r>
              <a:r>
                <a:rPr lang="en-IN" sz="1200" b="1" kern="0">
                  <a:solidFill>
                    <a:srgbClr val="000000"/>
                  </a:solidFill>
                  <a:latin typeface="72 Brand" panose="020B0504030603020204" pitchFamily="34" charset="0"/>
                  <a:ea typeface="Arial Unicode MS"/>
                  <a:cs typeface="Arial"/>
                </a:rPr>
                <a:t>"Reduce Documents Chain" </a:t>
              </a:r>
              <a:r>
                <a:rPr lang="en-IN" sz="1200" kern="0">
                  <a:solidFill>
                    <a:srgbClr val="000000"/>
                  </a:solidFill>
                  <a:latin typeface="72 Brand Light" panose="020B0304030603020204" pitchFamily="34" charset="0"/>
                  <a:ea typeface="Arial Unicode MS"/>
                  <a:cs typeface="Arial"/>
                </a:rPr>
                <a:t>employs a smart iterative approach.</a:t>
              </a:r>
              <a:endParaRPr lang="en-US" sz="1200" kern="0">
                <a:solidFill>
                  <a:srgbClr val="000000"/>
                </a:solidFill>
                <a:latin typeface="72 Brand Light" panose="020B0304030603020204" pitchFamily="34" charset="0"/>
                <a:ea typeface="Arial Unicode MS"/>
                <a:cs typeface="Arial"/>
              </a:endParaRPr>
            </a:p>
          </p:txBody>
        </p:sp>
      </p:grpSp>
      <p:grpSp>
        <p:nvGrpSpPr>
          <p:cNvPr id="34" name="Group 33">
            <a:extLst>
              <a:ext uri="{FF2B5EF4-FFF2-40B4-BE49-F238E27FC236}">
                <a16:creationId xmlns:a16="http://schemas.microsoft.com/office/drawing/2014/main" id="{BB19BC8A-0689-0206-EC66-636BE240D038}"/>
              </a:ext>
            </a:extLst>
          </p:cNvPr>
          <p:cNvGrpSpPr/>
          <p:nvPr/>
        </p:nvGrpSpPr>
        <p:grpSpPr>
          <a:xfrm>
            <a:off x="8573822" y="3315690"/>
            <a:ext cx="3221393" cy="864702"/>
            <a:chOff x="8576054" y="1701689"/>
            <a:chExt cx="3222232" cy="864928"/>
          </a:xfrm>
        </p:grpSpPr>
        <p:sp>
          <p:nvSpPr>
            <p:cNvPr id="35" name="Rectangle 34">
              <a:extLst>
                <a:ext uri="{FF2B5EF4-FFF2-40B4-BE49-F238E27FC236}">
                  <a16:creationId xmlns:a16="http://schemas.microsoft.com/office/drawing/2014/main" id="{99DCB3BA-33C4-FEBB-0348-2CB9CA96B4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Pros</a:t>
              </a:r>
            </a:p>
          </p:txBody>
        </p:sp>
        <p:sp>
          <p:nvSpPr>
            <p:cNvPr id="36" name="Rectangle 35">
              <a:extLst>
                <a:ext uri="{FF2B5EF4-FFF2-40B4-BE49-F238E27FC236}">
                  <a16:creationId xmlns:a16="http://schemas.microsoft.com/office/drawing/2014/main" id="{0FED1BCE-28BF-C59E-6833-B242714EA9DE}"/>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Efficiently </a:t>
              </a:r>
              <a:r>
                <a:rPr lang="en-US" sz="1200" b="1" kern="0">
                  <a:solidFill>
                    <a:srgbClr val="000000"/>
                  </a:solidFill>
                  <a:latin typeface="72 Brand" panose="020B0504030603020204" pitchFamily="34" charset="0"/>
                  <a:ea typeface="Arial Unicode MS"/>
                  <a:cs typeface="Arial"/>
                </a:rPr>
                <a:t>divides and summarizes</a:t>
              </a:r>
              <a:r>
                <a:rPr lang="en-US" sz="1200" b="1" kern="0">
                  <a:solidFill>
                    <a:srgbClr val="000000"/>
                  </a:solidFill>
                  <a:latin typeface="72 Brand Light" panose="020B0304030603020204" pitchFamily="34" charset="0"/>
                  <a:ea typeface="Arial Unicode MS"/>
                  <a:cs typeface="Arial"/>
                </a:rPr>
                <a:t> </a:t>
              </a:r>
              <a:r>
                <a:rPr lang="en-US" sz="1200" kern="0">
                  <a:solidFill>
                    <a:srgbClr val="000000"/>
                  </a:solidFill>
                  <a:latin typeface="72 Brand Light" panose="020B0304030603020204" pitchFamily="34" charset="0"/>
                  <a:ea typeface="Arial Unicode MS"/>
                  <a:cs typeface="Arial"/>
                </a:rPr>
                <a:t>large documents. It also </a:t>
              </a:r>
              <a:r>
                <a:rPr lang="en-US" sz="1200" b="1" kern="0">
                  <a:solidFill>
                    <a:srgbClr val="000000"/>
                  </a:solidFill>
                  <a:latin typeface="72 Brand" panose="020B0504030603020204" pitchFamily="34" charset="0"/>
                  <a:ea typeface="Arial Unicode MS"/>
                  <a:cs typeface="Arial"/>
                </a:rPr>
                <a:t>overcomes token limit constraints </a:t>
              </a:r>
              <a:r>
                <a:rPr lang="en-US" sz="1200" kern="0">
                  <a:solidFill>
                    <a:srgbClr val="000000"/>
                  </a:solidFill>
                  <a:latin typeface="72 Brand Light" panose="020B0304030603020204" pitchFamily="34" charset="0"/>
                  <a:ea typeface="Arial Unicode MS"/>
                  <a:cs typeface="Arial"/>
                </a:rPr>
                <a:t>by iteratively reducing chunks</a:t>
              </a:r>
              <a:endParaRPr lang="en-US" sz="1200" kern="0">
                <a:solidFill>
                  <a:srgbClr val="000000"/>
                </a:solidFill>
                <a:latin typeface="72 Brand Medium" panose="020B0504030603020204" pitchFamily="34" charset="0"/>
                <a:ea typeface="Arial Unicode MS"/>
                <a:cs typeface="Arial"/>
              </a:endParaRPr>
            </a:p>
          </p:txBody>
        </p:sp>
      </p:grpSp>
      <p:grpSp>
        <p:nvGrpSpPr>
          <p:cNvPr id="37" name="Group 36">
            <a:extLst>
              <a:ext uri="{FF2B5EF4-FFF2-40B4-BE49-F238E27FC236}">
                <a16:creationId xmlns:a16="http://schemas.microsoft.com/office/drawing/2014/main" id="{0BA44DDE-C4B0-B388-8ECC-62FF4A2F0F08}"/>
              </a:ext>
            </a:extLst>
          </p:cNvPr>
          <p:cNvGrpSpPr/>
          <p:nvPr/>
        </p:nvGrpSpPr>
        <p:grpSpPr>
          <a:xfrm>
            <a:off x="8573822" y="4419502"/>
            <a:ext cx="3221393" cy="618215"/>
            <a:chOff x="8576054" y="1701689"/>
            <a:chExt cx="3222232" cy="680214"/>
          </a:xfrm>
        </p:grpSpPr>
        <p:sp>
          <p:nvSpPr>
            <p:cNvPr id="39" name="Rectangle 38">
              <a:extLst>
                <a:ext uri="{FF2B5EF4-FFF2-40B4-BE49-F238E27FC236}">
                  <a16:creationId xmlns:a16="http://schemas.microsoft.com/office/drawing/2014/main" id="{D8F7C607-07C9-8F37-653C-B9AD77900CF4}"/>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Cons</a:t>
              </a:r>
            </a:p>
          </p:txBody>
        </p:sp>
        <p:sp>
          <p:nvSpPr>
            <p:cNvPr id="66" name="Rectangle 65">
              <a:extLst>
                <a:ext uri="{FF2B5EF4-FFF2-40B4-BE49-F238E27FC236}">
                  <a16:creationId xmlns:a16="http://schemas.microsoft.com/office/drawing/2014/main" id="{F53618A9-0C3D-ADF3-9E92-2BC2DC657505}"/>
                </a:ext>
              </a:extLst>
            </p:cNvPr>
            <p:cNvSpPr/>
            <p:nvPr/>
          </p:nvSpPr>
          <p:spPr bwMode="auto">
            <a:xfrm>
              <a:off x="8581982" y="2012475"/>
              <a:ext cx="3216304" cy="36942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US" sz="1200" kern="0">
                  <a:solidFill>
                    <a:srgbClr val="000000"/>
                  </a:solidFill>
                  <a:latin typeface="72 Brand Light" panose="020B0304030603020204" pitchFamily="34" charset="0"/>
                  <a:ea typeface="Arial Unicode MS"/>
                  <a:cs typeface="Arial"/>
                </a:rPr>
                <a:t>It involves multiple iterations which may </a:t>
              </a:r>
              <a:r>
                <a:rPr lang="en-US" sz="1200" b="1" kern="0">
                  <a:solidFill>
                    <a:srgbClr val="000000"/>
                  </a:solidFill>
                  <a:latin typeface="72 Brand" panose="020B0504030603020204" pitchFamily="34" charset="0"/>
                  <a:ea typeface="Arial Unicode MS"/>
                  <a:cs typeface="Arial"/>
                </a:rPr>
                <a:t>impact processing time.</a:t>
              </a:r>
            </a:p>
          </p:txBody>
        </p:sp>
      </p:grpSp>
      <p:sp>
        <p:nvSpPr>
          <p:cNvPr id="11" name="Rectangle: Rounded Corners 3">
            <a:extLst>
              <a:ext uri="{FF2B5EF4-FFF2-40B4-BE49-F238E27FC236}">
                <a16:creationId xmlns:a16="http://schemas.microsoft.com/office/drawing/2014/main" id="{BABBF066-7344-53BF-DCB4-1AEF5A99FC36}"/>
              </a:ext>
            </a:extLst>
          </p:cNvPr>
          <p:cNvSpPr/>
          <p:nvPr/>
        </p:nvSpPr>
        <p:spPr bwMode="auto">
          <a:xfrm flipH="1">
            <a:off x="6797450" y="2626790"/>
            <a:ext cx="1211996" cy="2550178"/>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9" name="Rectangle: Rounded Corners 3">
            <a:extLst>
              <a:ext uri="{FF2B5EF4-FFF2-40B4-BE49-F238E27FC236}">
                <a16:creationId xmlns:a16="http://schemas.microsoft.com/office/drawing/2014/main" id="{5F9AD6BC-E90F-D696-1EFB-77441A26ED3C}"/>
              </a:ext>
            </a:extLst>
          </p:cNvPr>
          <p:cNvSpPr/>
          <p:nvPr/>
        </p:nvSpPr>
        <p:spPr bwMode="auto">
          <a:xfrm flipH="1">
            <a:off x="5116021" y="3621212"/>
            <a:ext cx="1305148" cy="556517"/>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42" name="Rectangle: Rounded Corners 3">
            <a:extLst>
              <a:ext uri="{FF2B5EF4-FFF2-40B4-BE49-F238E27FC236}">
                <a16:creationId xmlns:a16="http://schemas.microsoft.com/office/drawing/2014/main" id="{56949EAC-2874-A6E0-C8DF-BE6CCC21D3EA}"/>
              </a:ext>
            </a:extLst>
          </p:cNvPr>
          <p:cNvSpPr/>
          <p:nvPr/>
        </p:nvSpPr>
        <p:spPr bwMode="auto">
          <a:xfrm flipH="1">
            <a:off x="3455479" y="2874151"/>
            <a:ext cx="916990" cy="479177"/>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46" name="Rectangle: Rounded Corners 3">
            <a:extLst>
              <a:ext uri="{FF2B5EF4-FFF2-40B4-BE49-F238E27FC236}">
                <a16:creationId xmlns:a16="http://schemas.microsoft.com/office/drawing/2014/main" id="{6543C157-406A-9F3A-5C3F-8DC73387882A}"/>
              </a:ext>
            </a:extLst>
          </p:cNvPr>
          <p:cNvSpPr/>
          <p:nvPr/>
        </p:nvSpPr>
        <p:spPr bwMode="auto">
          <a:xfrm flipH="1">
            <a:off x="3449068" y="4493434"/>
            <a:ext cx="916990" cy="479177"/>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51" name="Rectangle: Rounded Corners 3">
            <a:extLst>
              <a:ext uri="{FF2B5EF4-FFF2-40B4-BE49-F238E27FC236}">
                <a16:creationId xmlns:a16="http://schemas.microsoft.com/office/drawing/2014/main" id="{179DD4DB-877B-4ACA-0B20-7062E96CFD30}"/>
              </a:ext>
            </a:extLst>
          </p:cNvPr>
          <p:cNvSpPr/>
          <p:nvPr/>
        </p:nvSpPr>
        <p:spPr bwMode="auto">
          <a:xfrm flipH="1">
            <a:off x="763224" y="2285658"/>
            <a:ext cx="628161" cy="3228274"/>
          </a:xfrm>
          <a:prstGeom prst="roundRect">
            <a:avLst>
              <a:gd name="adj" fmla="val 2588"/>
            </a:avLst>
          </a:prstGeom>
          <a:noFill/>
          <a:ln w="6350">
            <a:solidFill>
              <a:schemeClr val="accent3">
                <a:lumMod val="60000"/>
                <a:lumOff val="40000"/>
              </a:schemeClr>
            </a:solid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56" name="Rectangle: Rounded Corners 3">
            <a:extLst>
              <a:ext uri="{FF2B5EF4-FFF2-40B4-BE49-F238E27FC236}">
                <a16:creationId xmlns:a16="http://schemas.microsoft.com/office/drawing/2014/main" id="{42F19316-2372-F7BB-F5E2-9498C66AE44A}"/>
              </a:ext>
            </a:extLst>
          </p:cNvPr>
          <p:cNvSpPr/>
          <p:nvPr/>
        </p:nvSpPr>
        <p:spPr bwMode="auto">
          <a:xfrm flipH="1">
            <a:off x="864823" y="2606710"/>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endParaRPr lang="en-GB" sz="800">
              <a:solidFill>
                <a:srgbClr val="00144A"/>
              </a:solidFill>
              <a:latin typeface="72" panose="020B0503030000000003" pitchFamily="34" charset="0"/>
              <a:cs typeface="72" panose="020B0503030000000003" pitchFamily="34" charset="0"/>
            </a:endParaRPr>
          </a:p>
        </p:txBody>
      </p:sp>
      <p:sp>
        <p:nvSpPr>
          <p:cNvPr id="57" name="Rectangle: Rounded Corners 3">
            <a:extLst>
              <a:ext uri="{FF2B5EF4-FFF2-40B4-BE49-F238E27FC236}">
                <a16:creationId xmlns:a16="http://schemas.microsoft.com/office/drawing/2014/main" id="{D110ED1E-3C0D-9EC9-C261-0EC43BE95848}"/>
              </a:ext>
            </a:extLst>
          </p:cNvPr>
          <p:cNvSpPr/>
          <p:nvPr/>
        </p:nvSpPr>
        <p:spPr bwMode="auto">
          <a:xfrm flipH="1">
            <a:off x="864823" y="3252178"/>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58" name="Rectangle: Rounded Corners 3">
            <a:extLst>
              <a:ext uri="{FF2B5EF4-FFF2-40B4-BE49-F238E27FC236}">
                <a16:creationId xmlns:a16="http://schemas.microsoft.com/office/drawing/2014/main" id="{DD30454B-D975-BE2D-68D1-820CDA47EB42}"/>
              </a:ext>
            </a:extLst>
          </p:cNvPr>
          <p:cNvSpPr/>
          <p:nvPr/>
        </p:nvSpPr>
        <p:spPr bwMode="auto">
          <a:xfrm flipH="1">
            <a:off x="873419" y="4217952"/>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59" name="Rectangle: Rounded Corners 3">
            <a:extLst>
              <a:ext uri="{FF2B5EF4-FFF2-40B4-BE49-F238E27FC236}">
                <a16:creationId xmlns:a16="http://schemas.microsoft.com/office/drawing/2014/main" id="{A1F4B202-3708-88E6-DBE8-B226E39EF7E0}"/>
              </a:ext>
            </a:extLst>
          </p:cNvPr>
          <p:cNvSpPr/>
          <p:nvPr/>
        </p:nvSpPr>
        <p:spPr bwMode="auto">
          <a:xfrm flipH="1">
            <a:off x="868411" y="4881915"/>
            <a:ext cx="424962" cy="3859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700">
                <a:solidFill>
                  <a:srgbClr val="00144A"/>
                </a:solidFill>
                <a:latin typeface="72" panose="020B0503030000000003" pitchFamily="34" charset="0"/>
                <a:cs typeface="72" panose="020B0503030000000003" pitchFamily="34" charset="0"/>
              </a:rPr>
              <a:t>Summary</a:t>
            </a:r>
          </a:p>
        </p:txBody>
      </p:sp>
      <p:sp>
        <p:nvSpPr>
          <p:cNvPr id="89" name="Rectangle 88">
            <a:extLst>
              <a:ext uri="{FF2B5EF4-FFF2-40B4-BE49-F238E27FC236}">
                <a16:creationId xmlns:a16="http://schemas.microsoft.com/office/drawing/2014/main" id="{127FF33C-E8EE-5FB0-1138-7B8805014E04}"/>
              </a:ext>
            </a:extLst>
          </p:cNvPr>
          <p:cNvSpPr/>
          <p:nvPr/>
        </p:nvSpPr>
        <p:spPr bwMode="auto">
          <a:xfrm>
            <a:off x="5260690" y="3745581"/>
            <a:ext cx="101581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kern="0">
                <a:solidFill>
                  <a:schemeClr val="bg1"/>
                </a:solidFill>
                <a:latin typeface="72 Brand Light" panose="020B0304030603020204" pitchFamily="34" charset="0"/>
                <a:ea typeface="Arial Unicode MS"/>
                <a:cs typeface="Arial"/>
              </a:rPr>
              <a:t>Stuff Documents Chain</a:t>
            </a:r>
          </a:p>
        </p:txBody>
      </p:sp>
      <p:sp>
        <p:nvSpPr>
          <p:cNvPr id="110" name="Freeform 109">
            <a:extLst>
              <a:ext uri="{FF2B5EF4-FFF2-40B4-BE49-F238E27FC236}">
                <a16:creationId xmlns:a16="http://schemas.microsoft.com/office/drawing/2014/main" id="{A99138A5-F403-B9DB-BF0B-C479E011B4AE}"/>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44" name="Title 25">
            <a:extLst>
              <a:ext uri="{FF2B5EF4-FFF2-40B4-BE49-F238E27FC236}">
                <a16:creationId xmlns:a16="http://schemas.microsoft.com/office/drawing/2014/main" id="{31941D1A-CCC3-ED3E-CCA3-00458840B95B}"/>
              </a:ext>
            </a:extLst>
          </p:cNvPr>
          <p:cNvSpPr txBox="1">
            <a:spLocks/>
          </p:cNvSpPr>
          <p:nvPr/>
        </p:nvSpPr>
        <p:spPr bwMode="black">
          <a:xfrm>
            <a:off x="503870" y="504762"/>
            <a:ext cx="11183564" cy="584623"/>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defTabSz="1088231">
              <a:defRPr/>
            </a:pPr>
            <a:r>
              <a:rPr lang="en-US" sz="1400" b="1" spc="-20">
                <a:gradFill flip="none" rotWithShape="1">
                  <a:gsLst>
                    <a:gs pos="0">
                      <a:srgbClr val="0070F2"/>
                    </a:gs>
                    <a:gs pos="100000">
                      <a:srgbClr val="0070F2">
                        <a:lumMod val="75000"/>
                      </a:srgbClr>
                    </a:gs>
                  </a:gsLst>
                  <a:lin ang="0" scaled="1"/>
                  <a:tileRect/>
                </a:gradFill>
                <a:latin typeface="72" panose="020B0503030000000003" pitchFamily="34" charset="0"/>
                <a:cs typeface="72" panose="020B0503030000000003" pitchFamily="34" charset="0"/>
              </a:rPr>
              <a:t>Summarization Chain &amp; its Techniques</a:t>
            </a:r>
          </a:p>
          <a:p>
            <a:pPr defTabSz="1088231">
              <a:defRPr/>
            </a:pPr>
            <a:r>
              <a:rPr lang="en-US" sz="2399">
                <a:solidFill>
                  <a:srgbClr val="000000"/>
                </a:solidFill>
              </a:rPr>
              <a:t>Map-Reduce is the pragmatic solution to Summarization</a:t>
            </a:r>
          </a:p>
        </p:txBody>
      </p:sp>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633ADF09-A061-2081-47A5-31A9277CDB66}"/>
              </a:ext>
            </a:extLst>
          </p:cNvPr>
          <p:cNvSpPr/>
          <p:nvPr/>
        </p:nvSpPr>
        <p:spPr bwMode="auto">
          <a:xfrm>
            <a:off x="2277374" y="5626742"/>
            <a:ext cx="1773147"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chemeClr val="bg1"/>
                </a:solidFill>
                <a:latin typeface="72 Brand Light" panose="020B0304030603020204" pitchFamily="34" charset="0"/>
                <a:ea typeface="Arial Unicode MS"/>
                <a:cs typeface="Arial"/>
              </a:rPr>
              <a:t>Reduce Documents Chain</a:t>
            </a:r>
          </a:p>
        </p:txBody>
      </p:sp>
      <p:sp>
        <p:nvSpPr>
          <p:cNvPr id="25" name="Rectangle 24">
            <a:extLst>
              <a:ext uri="{FF2B5EF4-FFF2-40B4-BE49-F238E27FC236}">
                <a16:creationId xmlns:a16="http://schemas.microsoft.com/office/drawing/2014/main" id="{5C429071-3C83-39A8-375D-E2F2FBB6E9C6}"/>
              </a:ext>
            </a:extLst>
          </p:cNvPr>
          <p:cNvSpPr/>
          <p:nvPr/>
        </p:nvSpPr>
        <p:spPr bwMode="auto">
          <a:xfrm>
            <a:off x="601815" y="5624392"/>
            <a:ext cx="1011028"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chemeClr val="bg1"/>
                </a:solidFill>
                <a:latin typeface="72 Brand Light" panose="020B0304030603020204" pitchFamily="34" charset="0"/>
                <a:ea typeface="Arial Unicode MS"/>
                <a:cs typeface="Arial"/>
              </a:rPr>
              <a:t>Summary Chunks</a:t>
            </a:r>
          </a:p>
        </p:txBody>
      </p:sp>
      <p:sp>
        <p:nvSpPr>
          <p:cNvPr id="30" name="Rectangle: Rounded Corners 3">
            <a:extLst>
              <a:ext uri="{FF2B5EF4-FFF2-40B4-BE49-F238E27FC236}">
                <a16:creationId xmlns:a16="http://schemas.microsoft.com/office/drawing/2014/main" id="{C38F7C15-4AF9-B202-659D-035DAB7F1A7A}"/>
              </a:ext>
            </a:extLst>
          </p:cNvPr>
          <p:cNvSpPr/>
          <p:nvPr/>
        </p:nvSpPr>
        <p:spPr bwMode="auto">
          <a:xfrm flipH="1">
            <a:off x="1902907" y="2334299"/>
            <a:ext cx="2911066" cy="3228274"/>
          </a:xfrm>
          <a:prstGeom prst="roundRect">
            <a:avLst>
              <a:gd name="adj" fmla="val 2588"/>
            </a:avLst>
          </a:prstGeom>
          <a:noFill/>
          <a:ln w="6350">
            <a:solidFill>
              <a:schemeClr val="tx1"/>
            </a:solid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47" name="Rectangle: Rounded Corners 3">
            <a:extLst>
              <a:ext uri="{FF2B5EF4-FFF2-40B4-BE49-F238E27FC236}">
                <a16:creationId xmlns:a16="http://schemas.microsoft.com/office/drawing/2014/main" id="{B1C569D3-844C-C9B3-AAE5-1464CA877400}"/>
              </a:ext>
            </a:extLst>
          </p:cNvPr>
          <p:cNvSpPr/>
          <p:nvPr/>
        </p:nvSpPr>
        <p:spPr bwMode="auto">
          <a:xfrm flipH="1">
            <a:off x="2179324" y="2776364"/>
            <a:ext cx="916990" cy="662939"/>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50" name="Rectangle: Rounded Corners 3">
            <a:extLst>
              <a:ext uri="{FF2B5EF4-FFF2-40B4-BE49-F238E27FC236}">
                <a16:creationId xmlns:a16="http://schemas.microsoft.com/office/drawing/2014/main" id="{88E242FB-9802-8CA9-A559-7516B5ADAB7B}"/>
              </a:ext>
            </a:extLst>
          </p:cNvPr>
          <p:cNvSpPr/>
          <p:nvPr/>
        </p:nvSpPr>
        <p:spPr bwMode="auto">
          <a:xfrm flipH="1">
            <a:off x="2179324" y="4389688"/>
            <a:ext cx="916990" cy="662939"/>
          </a:xfrm>
          <a:prstGeom prst="roundRect">
            <a:avLst>
              <a:gd name="adj" fmla="val 2588"/>
            </a:avLst>
          </a:prstGeom>
          <a:solidFill>
            <a:schemeClr val="accent1">
              <a:lumMod val="20000"/>
              <a:lumOff val="80000"/>
            </a:schemeClr>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98" name="Rectangle 97">
            <a:extLst>
              <a:ext uri="{FF2B5EF4-FFF2-40B4-BE49-F238E27FC236}">
                <a16:creationId xmlns:a16="http://schemas.microsoft.com/office/drawing/2014/main" id="{DBE62C86-5E40-46AF-F79E-5F0BD7875EFF}"/>
              </a:ext>
            </a:extLst>
          </p:cNvPr>
          <p:cNvSpPr/>
          <p:nvPr/>
        </p:nvSpPr>
        <p:spPr bwMode="auto">
          <a:xfrm>
            <a:off x="2168843" y="2986817"/>
            <a:ext cx="927471"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900" b="1" kern="0">
                <a:solidFill>
                  <a:srgbClr val="000000"/>
                </a:solidFill>
                <a:latin typeface="72 Brand Light" panose="020B0304030603020204" pitchFamily="34" charset="0"/>
                <a:ea typeface="Arial Unicode MS"/>
                <a:cs typeface="Arial"/>
              </a:rPr>
              <a:t>Stuff Documents</a:t>
            </a:r>
          </a:p>
          <a:p>
            <a:pPr algn="ctr" defTabSz="1088449">
              <a:defRPr/>
            </a:pPr>
            <a:r>
              <a:rPr lang="en-US" sz="900" b="1" kern="0">
                <a:solidFill>
                  <a:srgbClr val="000000"/>
                </a:solidFill>
                <a:latin typeface="72 Brand Light" panose="020B0304030603020204" pitchFamily="34" charset="0"/>
                <a:ea typeface="Arial Unicode MS"/>
                <a:cs typeface="Arial"/>
              </a:rPr>
              <a:t>Chain</a:t>
            </a:r>
          </a:p>
        </p:txBody>
      </p:sp>
      <p:sp>
        <p:nvSpPr>
          <p:cNvPr id="3" name="Rectangle 2">
            <a:extLst>
              <a:ext uri="{FF2B5EF4-FFF2-40B4-BE49-F238E27FC236}">
                <a16:creationId xmlns:a16="http://schemas.microsoft.com/office/drawing/2014/main" id="{978088B3-4E4F-E254-BAE9-7DD58E954F43}"/>
              </a:ext>
            </a:extLst>
          </p:cNvPr>
          <p:cNvSpPr/>
          <p:nvPr/>
        </p:nvSpPr>
        <p:spPr bwMode="auto">
          <a:xfrm>
            <a:off x="2177808" y="4593888"/>
            <a:ext cx="927471"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900" b="1" kern="0">
                <a:solidFill>
                  <a:srgbClr val="000000"/>
                </a:solidFill>
                <a:latin typeface="72 Brand Light" panose="020B0304030603020204" pitchFamily="34" charset="0"/>
                <a:ea typeface="Arial Unicode MS"/>
                <a:cs typeface="Arial"/>
              </a:rPr>
              <a:t>Stuff Documents</a:t>
            </a:r>
          </a:p>
          <a:p>
            <a:pPr algn="ctr" defTabSz="1088449">
              <a:defRPr/>
            </a:pPr>
            <a:r>
              <a:rPr lang="en-US" sz="900" b="1" kern="0">
                <a:solidFill>
                  <a:srgbClr val="000000"/>
                </a:solidFill>
                <a:latin typeface="72 Brand Light" panose="020B0304030603020204" pitchFamily="34" charset="0"/>
                <a:ea typeface="Arial Unicode MS"/>
                <a:cs typeface="Arial"/>
              </a:rPr>
              <a:t>Chain</a:t>
            </a:r>
          </a:p>
        </p:txBody>
      </p:sp>
      <p:cxnSp>
        <p:nvCxnSpPr>
          <p:cNvPr id="64" name="Straight Arrow Connector 63">
            <a:extLst>
              <a:ext uri="{FF2B5EF4-FFF2-40B4-BE49-F238E27FC236}">
                <a16:creationId xmlns:a16="http://schemas.microsoft.com/office/drawing/2014/main" id="{BF65770E-A112-4F0A-52C5-7236FF83EABE}"/>
              </a:ext>
            </a:extLst>
          </p:cNvPr>
          <p:cNvCxnSpPr>
            <a:cxnSpLocks/>
            <a:endCxn id="98" idx="1"/>
          </p:cNvCxnSpPr>
          <p:nvPr/>
        </p:nvCxnSpPr>
        <p:spPr>
          <a:xfrm flipV="1">
            <a:off x="1289785" y="3125317"/>
            <a:ext cx="879058" cy="313986"/>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14774738-C7DA-8D40-A716-A76C7C7B2993}"/>
              </a:ext>
            </a:extLst>
          </p:cNvPr>
          <p:cNvCxnSpPr>
            <a:cxnSpLocks/>
            <a:stCxn id="58" idx="1"/>
            <a:endCxn id="50" idx="3"/>
          </p:cNvCxnSpPr>
          <p:nvPr/>
        </p:nvCxnSpPr>
        <p:spPr>
          <a:xfrm>
            <a:off x="1298381" y="4410934"/>
            <a:ext cx="880943" cy="310224"/>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72" name="Straight Arrow Connector 71">
            <a:extLst>
              <a:ext uri="{FF2B5EF4-FFF2-40B4-BE49-F238E27FC236}">
                <a16:creationId xmlns:a16="http://schemas.microsoft.com/office/drawing/2014/main" id="{C12BD633-9C11-995B-E657-535FED459CE0}"/>
              </a:ext>
            </a:extLst>
          </p:cNvPr>
          <p:cNvCxnSpPr>
            <a:cxnSpLocks/>
            <a:stCxn id="59" idx="1"/>
            <a:endCxn id="50" idx="3"/>
          </p:cNvCxnSpPr>
          <p:nvPr/>
        </p:nvCxnSpPr>
        <p:spPr>
          <a:xfrm flipV="1">
            <a:off x="1293373" y="4721158"/>
            <a:ext cx="885951" cy="353739"/>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44AD6293-76DC-BC2C-A483-1CD6345F6FE3}"/>
              </a:ext>
            </a:extLst>
          </p:cNvPr>
          <p:cNvCxnSpPr>
            <a:cxnSpLocks/>
            <a:stCxn id="47" idx="1"/>
            <a:endCxn id="42" idx="3"/>
          </p:cNvCxnSpPr>
          <p:nvPr/>
        </p:nvCxnSpPr>
        <p:spPr>
          <a:xfrm>
            <a:off x="3096314" y="3107834"/>
            <a:ext cx="359165" cy="5906"/>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34A7C3DE-9088-CEEE-F0CA-D228D7ECDDF6}"/>
              </a:ext>
            </a:extLst>
          </p:cNvPr>
          <p:cNvCxnSpPr>
            <a:cxnSpLocks/>
            <a:stCxn id="3" idx="3"/>
            <a:endCxn id="46" idx="3"/>
          </p:cNvCxnSpPr>
          <p:nvPr/>
        </p:nvCxnSpPr>
        <p:spPr>
          <a:xfrm>
            <a:off x="3105279" y="4732388"/>
            <a:ext cx="343789" cy="635"/>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2DD04115-FA9E-B023-6E77-229BE221DD98}"/>
              </a:ext>
            </a:extLst>
          </p:cNvPr>
          <p:cNvCxnSpPr>
            <a:cxnSpLocks/>
            <a:stCxn id="42" idx="1"/>
            <a:endCxn id="19" idx="3"/>
          </p:cNvCxnSpPr>
          <p:nvPr/>
        </p:nvCxnSpPr>
        <p:spPr>
          <a:xfrm>
            <a:off x="4372469" y="3113740"/>
            <a:ext cx="743552" cy="785731"/>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7C872BCF-BC2F-02AB-1873-A0BD7BC87AEA}"/>
              </a:ext>
            </a:extLst>
          </p:cNvPr>
          <p:cNvCxnSpPr>
            <a:cxnSpLocks/>
            <a:stCxn id="46" idx="1"/>
            <a:endCxn id="19" idx="3"/>
          </p:cNvCxnSpPr>
          <p:nvPr/>
        </p:nvCxnSpPr>
        <p:spPr>
          <a:xfrm flipV="1">
            <a:off x="4366058" y="3899471"/>
            <a:ext cx="749963" cy="833552"/>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511DB313-D92E-2E6F-1B95-D22BDF9C0B96}"/>
              </a:ext>
            </a:extLst>
          </p:cNvPr>
          <p:cNvCxnSpPr>
            <a:cxnSpLocks/>
            <a:stCxn id="19" idx="1"/>
            <a:endCxn id="11" idx="3"/>
          </p:cNvCxnSpPr>
          <p:nvPr/>
        </p:nvCxnSpPr>
        <p:spPr>
          <a:xfrm>
            <a:off x="6421169" y="3899471"/>
            <a:ext cx="376281" cy="2408"/>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92744DA9-55F1-9327-0B79-4DC406BF5BC7}"/>
              </a:ext>
            </a:extLst>
          </p:cNvPr>
          <p:cNvCxnSpPr>
            <a:cxnSpLocks/>
            <a:endCxn id="98" idx="1"/>
          </p:cNvCxnSpPr>
          <p:nvPr/>
        </p:nvCxnSpPr>
        <p:spPr>
          <a:xfrm>
            <a:off x="1298381" y="2776364"/>
            <a:ext cx="870462" cy="348953"/>
          </a:xfrm>
          <a:prstGeom prst="straightConnector1">
            <a:avLst/>
          </a:prstGeom>
          <a:ln w="6350">
            <a:tailEnd type="triangle" w="sm" len="sm"/>
          </a:ln>
        </p:spPr>
        <p:style>
          <a:lnRef idx="2">
            <a:schemeClr val="dk1"/>
          </a:lnRef>
          <a:fillRef idx="0">
            <a:schemeClr val="dk1"/>
          </a:fillRef>
          <a:effectRef idx="1">
            <a:schemeClr val="dk1"/>
          </a:effectRef>
          <a:fontRef idx="minor">
            <a:schemeClr val="tx1"/>
          </a:fontRef>
        </p:style>
      </p:cxnSp>
      <p:sp>
        <p:nvSpPr>
          <p:cNvPr id="48" name="Rectangle 47">
            <a:extLst>
              <a:ext uri="{FF2B5EF4-FFF2-40B4-BE49-F238E27FC236}">
                <a16:creationId xmlns:a16="http://schemas.microsoft.com/office/drawing/2014/main" id="{4CD8D899-6391-F71E-832A-FE54BD75EA9C}"/>
              </a:ext>
            </a:extLst>
          </p:cNvPr>
          <p:cNvSpPr/>
          <p:nvPr/>
        </p:nvSpPr>
        <p:spPr bwMode="auto">
          <a:xfrm>
            <a:off x="6788240" y="3231729"/>
            <a:ext cx="1228013" cy="169277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kern="0">
                <a:solidFill>
                  <a:srgbClr val="000000"/>
                </a:solidFill>
                <a:latin typeface="72 Brand Light" panose="020B0304030603020204" pitchFamily="34" charset="0"/>
                <a:ea typeface="Arial Unicode MS"/>
                <a:cs typeface="Arial"/>
              </a:rPr>
              <a:t>………………………………….. …………………………………..</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a:p>
            <a:pPr algn="ctr" defTabSz="1088449">
              <a:defRPr/>
            </a:pPr>
            <a:r>
              <a:rPr lang="en-US" sz="1000" kern="0">
                <a:solidFill>
                  <a:srgbClr val="000000"/>
                </a:solidFill>
                <a:latin typeface="72 Brand Light" panose="020B0304030603020204" pitchFamily="34" charset="0"/>
                <a:ea typeface="Arial Unicode MS"/>
                <a:cs typeface="Arial"/>
              </a:rPr>
              <a:t>…………………………………..</a:t>
            </a:r>
          </a:p>
        </p:txBody>
      </p:sp>
      <p:sp>
        <p:nvSpPr>
          <p:cNvPr id="49" name="Rectangle 48">
            <a:extLst>
              <a:ext uri="{FF2B5EF4-FFF2-40B4-BE49-F238E27FC236}">
                <a16:creationId xmlns:a16="http://schemas.microsoft.com/office/drawing/2014/main" id="{B316ECF6-BCF8-0221-DAB5-B250BCF5DECD}"/>
              </a:ext>
            </a:extLst>
          </p:cNvPr>
          <p:cNvSpPr/>
          <p:nvPr/>
        </p:nvSpPr>
        <p:spPr bwMode="auto">
          <a:xfrm>
            <a:off x="6781044" y="2897637"/>
            <a:ext cx="1228013" cy="153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1000" b="1" kern="0">
                <a:solidFill>
                  <a:srgbClr val="000000"/>
                </a:solidFill>
                <a:latin typeface="72 Brand" panose="020B0504030603020204" pitchFamily="34" charset="0"/>
                <a:ea typeface="Arial Unicode MS"/>
                <a:cs typeface="Arial"/>
              </a:rPr>
              <a:t>Final Summary</a:t>
            </a:r>
          </a:p>
        </p:txBody>
      </p:sp>
      <p:pic>
        <p:nvPicPr>
          <p:cNvPr id="12" name="Picture Placeholder 11">
            <a:extLst>
              <a:ext uri="{FF2B5EF4-FFF2-40B4-BE49-F238E27FC236}">
                <a16:creationId xmlns:a16="http://schemas.microsoft.com/office/drawing/2014/main" id="{D8EA0575-0922-1729-C852-1BFED0ABDB70}"/>
              </a:ext>
            </a:extLst>
          </p:cNvPr>
          <p:cNvPicPr>
            <a:picLocks noChangeAspect="1"/>
          </p:cNvPicPr>
          <p:nvPr/>
        </p:nvPicPr>
        <p:blipFill rotWithShape="1">
          <a:blip r:embed="rId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23265989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left)">
                                      <p:cBhvr>
                                        <p:cTn id="11" dur="500"/>
                                        <p:tgtEl>
                                          <p:spTgt spid="5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500"/>
                                        <p:tgtEl>
                                          <p:spTgt spid="5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left)">
                                      <p:cBhvr>
                                        <p:cTn id="19" dur="500"/>
                                        <p:tgtEl>
                                          <p:spTgt spid="58"/>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left)">
                                      <p:cBhvr>
                                        <p:cTn id="23" dur="500"/>
                                        <p:tgtEl>
                                          <p:spTgt spid="59"/>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wipe(left)">
                                      <p:cBhvr>
                                        <p:cTn id="31" dur="500"/>
                                        <p:tgtEl>
                                          <p:spTgt spid="55"/>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wipe(left)">
                                      <p:cBhvr>
                                        <p:cTn id="39" dur="500"/>
                                        <p:tgtEl>
                                          <p:spTgt spid="69"/>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wipe(left)">
                                      <p:cBhvr>
                                        <p:cTn id="43" dur="500"/>
                                        <p:tgtEl>
                                          <p:spTgt spid="72"/>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wipe(left)">
                                      <p:cBhvr>
                                        <p:cTn id="51" dur="500"/>
                                        <p:tgtEl>
                                          <p:spTgt spid="47"/>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98"/>
                                        </p:tgtEl>
                                        <p:attrNameLst>
                                          <p:attrName>style.visibility</p:attrName>
                                        </p:attrNameLst>
                                      </p:cBhvr>
                                      <p:to>
                                        <p:strVal val="visible"/>
                                      </p:to>
                                    </p:set>
                                    <p:animEffect transition="in" filter="wipe(left)">
                                      <p:cBhvr>
                                        <p:cTn id="55" dur="500"/>
                                        <p:tgtEl>
                                          <p:spTgt spid="98"/>
                                        </p:tgtEl>
                                      </p:cBhvr>
                                    </p:animEffect>
                                  </p:childTnLst>
                                </p:cTn>
                              </p:par>
                            </p:childTnLst>
                          </p:cTn>
                        </p:par>
                        <p:par>
                          <p:cTn id="56" fill="hold">
                            <p:stCondLst>
                              <p:cond delay="6500"/>
                            </p:stCondLst>
                            <p:childTnLst>
                              <p:par>
                                <p:cTn id="57" presetID="22" presetClass="entr" presetSubtype="8" fill="hold" grpId="0" nodeType="after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wipe(left)">
                                      <p:cBhvr>
                                        <p:cTn id="59" dur="500"/>
                                        <p:tgtEl>
                                          <p:spTgt spid="50"/>
                                        </p:tgtEl>
                                      </p:cBhvr>
                                    </p:animEffect>
                                  </p:childTnLst>
                                </p:cTn>
                              </p:par>
                            </p:childTnLst>
                          </p:cTn>
                        </p:par>
                        <p:par>
                          <p:cTn id="60" fill="hold">
                            <p:stCondLst>
                              <p:cond delay="7000"/>
                            </p:stCondLst>
                            <p:childTnLst>
                              <p:par>
                                <p:cTn id="61" presetID="22" presetClass="entr" presetSubtype="8" fill="hold" grpId="0" nodeType="after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left)">
                                      <p:cBhvr>
                                        <p:cTn id="63" dur="500"/>
                                        <p:tgtEl>
                                          <p:spTgt spid="3"/>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75"/>
                                        </p:tgtEl>
                                        <p:attrNameLst>
                                          <p:attrName>style.visibility</p:attrName>
                                        </p:attrNameLst>
                                      </p:cBhvr>
                                      <p:to>
                                        <p:strVal val="visible"/>
                                      </p:to>
                                    </p:set>
                                    <p:animEffect transition="in" filter="wipe(left)">
                                      <p:cBhvr>
                                        <p:cTn id="72" dur="500"/>
                                        <p:tgtEl>
                                          <p:spTgt spid="75"/>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78"/>
                                        </p:tgtEl>
                                        <p:attrNameLst>
                                          <p:attrName>style.visibility</p:attrName>
                                        </p:attrNameLst>
                                      </p:cBhvr>
                                      <p:to>
                                        <p:strVal val="visible"/>
                                      </p:to>
                                    </p:set>
                                    <p:animEffect transition="in" filter="wipe(left)">
                                      <p:cBhvr>
                                        <p:cTn id="76" dur="500"/>
                                        <p:tgtEl>
                                          <p:spTgt spid="78"/>
                                        </p:tgtEl>
                                      </p:cBhvr>
                                    </p:animEffect>
                                  </p:childTnLst>
                                </p:cTn>
                              </p:par>
                            </p:childTnLst>
                          </p:cTn>
                        </p:par>
                        <p:par>
                          <p:cTn id="77" fill="hold">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wipe(left)">
                                      <p:cBhvr>
                                        <p:cTn id="80" dur="500"/>
                                        <p:tgtEl>
                                          <p:spTgt spid="42"/>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wipe(left)">
                                      <p:cBhvr>
                                        <p:cTn id="84" dur="500"/>
                                        <p:tgtEl>
                                          <p:spTgt spid="46"/>
                                        </p:tgtEl>
                                      </p:cBhvr>
                                    </p:animEffect>
                                  </p:childTnLst>
                                </p:cTn>
                              </p:par>
                            </p:childTnLst>
                          </p:cTn>
                        </p:par>
                        <p:par>
                          <p:cTn id="85" fill="hold">
                            <p:stCondLst>
                              <p:cond delay="2000"/>
                            </p:stCondLst>
                            <p:childTnLst>
                              <p:par>
                                <p:cTn id="86" presetID="22" presetClass="entr" presetSubtype="8" fill="hold" nodeType="afterEffect">
                                  <p:stCondLst>
                                    <p:cond delay="0"/>
                                  </p:stCondLst>
                                  <p:childTnLst>
                                    <p:set>
                                      <p:cBhvr>
                                        <p:cTn id="87" dur="1" fill="hold">
                                          <p:stCondLst>
                                            <p:cond delay="0"/>
                                          </p:stCondLst>
                                        </p:cTn>
                                        <p:tgtEl>
                                          <p:spTgt spid="82"/>
                                        </p:tgtEl>
                                        <p:attrNameLst>
                                          <p:attrName>style.visibility</p:attrName>
                                        </p:attrNameLst>
                                      </p:cBhvr>
                                      <p:to>
                                        <p:strVal val="visible"/>
                                      </p:to>
                                    </p:set>
                                    <p:animEffect transition="in" filter="wipe(left)">
                                      <p:cBhvr>
                                        <p:cTn id="88" dur="500"/>
                                        <p:tgtEl>
                                          <p:spTgt spid="82"/>
                                        </p:tgtEl>
                                      </p:cBhvr>
                                    </p:animEffect>
                                  </p:childTnLst>
                                </p:cTn>
                              </p:par>
                            </p:childTnLst>
                          </p:cTn>
                        </p:par>
                        <p:par>
                          <p:cTn id="89" fill="hold">
                            <p:stCondLst>
                              <p:cond delay="2500"/>
                            </p:stCondLst>
                            <p:childTnLst>
                              <p:par>
                                <p:cTn id="90" presetID="22" presetClass="entr" presetSubtype="8" fill="hold" nodeType="afterEffect">
                                  <p:stCondLst>
                                    <p:cond delay="0"/>
                                  </p:stCondLst>
                                  <p:childTnLst>
                                    <p:set>
                                      <p:cBhvr>
                                        <p:cTn id="91" dur="1" fill="hold">
                                          <p:stCondLst>
                                            <p:cond delay="0"/>
                                          </p:stCondLst>
                                        </p:cTn>
                                        <p:tgtEl>
                                          <p:spTgt spid="87"/>
                                        </p:tgtEl>
                                        <p:attrNameLst>
                                          <p:attrName>style.visibility</p:attrName>
                                        </p:attrNameLst>
                                      </p:cBhvr>
                                      <p:to>
                                        <p:strVal val="visible"/>
                                      </p:to>
                                    </p:set>
                                    <p:animEffect transition="in" filter="wipe(left)">
                                      <p:cBhvr>
                                        <p:cTn id="92" dur="500"/>
                                        <p:tgtEl>
                                          <p:spTgt spid="87"/>
                                        </p:tgtEl>
                                      </p:cBhvr>
                                    </p:animEffect>
                                  </p:childTnLst>
                                </p:cTn>
                              </p:par>
                            </p:childTnLst>
                          </p:cTn>
                        </p:par>
                        <p:par>
                          <p:cTn id="93" fill="hold">
                            <p:stCondLst>
                              <p:cond delay="3000"/>
                            </p:stCondLst>
                            <p:childTnLst>
                              <p:par>
                                <p:cTn id="94" presetID="22" presetClass="entr" presetSubtype="8"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wipe(left)">
                                      <p:cBhvr>
                                        <p:cTn id="96" dur="500"/>
                                        <p:tgtEl>
                                          <p:spTgt spid="19"/>
                                        </p:tgtEl>
                                      </p:cBhvr>
                                    </p:animEffect>
                                  </p:childTnLst>
                                </p:cTn>
                              </p:par>
                            </p:childTnLst>
                          </p:cTn>
                        </p:par>
                        <p:par>
                          <p:cTn id="97" fill="hold">
                            <p:stCondLst>
                              <p:cond delay="3500"/>
                            </p:stCondLst>
                            <p:childTnLst>
                              <p:par>
                                <p:cTn id="98" presetID="22" presetClass="entr" presetSubtype="8" fill="hold" grpId="0" nodeType="afterEffect">
                                  <p:stCondLst>
                                    <p:cond delay="0"/>
                                  </p:stCondLst>
                                  <p:childTnLst>
                                    <p:set>
                                      <p:cBhvr>
                                        <p:cTn id="99" dur="1" fill="hold">
                                          <p:stCondLst>
                                            <p:cond delay="0"/>
                                          </p:stCondLst>
                                        </p:cTn>
                                        <p:tgtEl>
                                          <p:spTgt spid="89"/>
                                        </p:tgtEl>
                                        <p:attrNameLst>
                                          <p:attrName>style.visibility</p:attrName>
                                        </p:attrNameLst>
                                      </p:cBhvr>
                                      <p:to>
                                        <p:strVal val="visible"/>
                                      </p:to>
                                    </p:set>
                                    <p:animEffect transition="in" filter="wipe(left)">
                                      <p:cBhvr>
                                        <p:cTn id="100" dur="500"/>
                                        <p:tgtEl>
                                          <p:spTgt spid="89"/>
                                        </p:tgtEl>
                                      </p:cBhvr>
                                    </p:animEffect>
                                  </p:childTnLst>
                                </p:cTn>
                              </p:par>
                            </p:childTnLst>
                          </p:cTn>
                        </p:par>
                        <p:par>
                          <p:cTn id="101" fill="hold">
                            <p:stCondLst>
                              <p:cond delay="4000"/>
                            </p:stCondLst>
                            <p:childTnLst>
                              <p:par>
                                <p:cTn id="102" presetID="22" presetClass="entr" presetSubtype="8" fill="hold" nodeType="afterEffect">
                                  <p:stCondLst>
                                    <p:cond delay="0"/>
                                  </p:stCondLst>
                                  <p:childTnLst>
                                    <p:set>
                                      <p:cBhvr>
                                        <p:cTn id="103" dur="1" fill="hold">
                                          <p:stCondLst>
                                            <p:cond delay="0"/>
                                          </p:stCondLst>
                                        </p:cTn>
                                        <p:tgtEl>
                                          <p:spTgt spid="92"/>
                                        </p:tgtEl>
                                        <p:attrNameLst>
                                          <p:attrName>style.visibility</p:attrName>
                                        </p:attrNameLst>
                                      </p:cBhvr>
                                      <p:to>
                                        <p:strVal val="visible"/>
                                      </p:to>
                                    </p:set>
                                    <p:animEffect transition="in" filter="wipe(left)">
                                      <p:cBhvr>
                                        <p:cTn id="104" dur="500"/>
                                        <p:tgtEl>
                                          <p:spTgt spid="92"/>
                                        </p:tgtEl>
                                      </p:cBhvr>
                                    </p:animEffect>
                                  </p:childTnLst>
                                </p:cTn>
                              </p:par>
                            </p:childTnLst>
                          </p:cTn>
                        </p:par>
                        <p:par>
                          <p:cTn id="105" fill="hold">
                            <p:stCondLst>
                              <p:cond delay="4500"/>
                            </p:stCondLst>
                            <p:childTnLst>
                              <p:par>
                                <p:cTn id="106" presetID="22" presetClass="entr" presetSubtype="8" fill="hold" grpId="0" nodeType="after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wipe(left)">
                                      <p:cBhvr>
                                        <p:cTn id="108" dur="500"/>
                                        <p:tgtEl>
                                          <p:spTgt spid="11"/>
                                        </p:tgtEl>
                                      </p:cBhvr>
                                    </p:animEffect>
                                  </p:childTnLst>
                                </p:cTn>
                              </p:par>
                            </p:childTnLst>
                          </p:cTn>
                        </p:par>
                        <p:par>
                          <p:cTn id="109" fill="hold">
                            <p:stCondLst>
                              <p:cond delay="5000"/>
                            </p:stCondLst>
                            <p:childTnLst>
                              <p:par>
                                <p:cTn id="110" presetID="22" presetClass="entr" presetSubtype="8" fill="hold" grpId="0" nodeType="after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wipe(left)">
                                      <p:cBhvr>
                                        <p:cTn id="112" dur="500"/>
                                        <p:tgtEl>
                                          <p:spTgt spid="49"/>
                                        </p:tgtEl>
                                      </p:cBhvr>
                                    </p:animEffect>
                                  </p:childTnLst>
                                </p:cTn>
                              </p:par>
                            </p:childTnLst>
                          </p:cTn>
                        </p:par>
                        <p:par>
                          <p:cTn id="113" fill="hold">
                            <p:stCondLst>
                              <p:cond delay="5500"/>
                            </p:stCondLst>
                            <p:childTnLst>
                              <p:par>
                                <p:cTn id="114" presetID="22" presetClass="entr" presetSubtype="8" fill="hold" grpId="0" nodeType="after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wipe(left)">
                                      <p:cBhvr>
                                        <p:cTn id="11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42" grpId="0" animBg="1"/>
      <p:bldP spid="46" grpId="0" animBg="1"/>
      <p:bldP spid="51" grpId="0" animBg="1"/>
      <p:bldP spid="56" grpId="0" animBg="1"/>
      <p:bldP spid="57" grpId="0" animBg="1"/>
      <p:bldP spid="58" grpId="0" animBg="1"/>
      <p:bldP spid="59" grpId="0" animBg="1"/>
      <p:bldP spid="89" grpId="0"/>
      <p:bldP spid="24" grpId="0"/>
      <p:bldP spid="25" grpId="0"/>
      <p:bldP spid="30" grpId="0" animBg="1"/>
      <p:bldP spid="47" grpId="0" animBg="1"/>
      <p:bldP spid="50" grpId="0" animBg="1"/>
      <p:bldP spid="98" grpId="0"/>
      <p:bldP spid="3" grpId="0"/>
      <p:bldP spid="48"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910608"/>
            <a:ext cx="7692367" cy="2497890"/>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4" y="3535240"/>
            <a:ext cx="7498305" cy="787313"/>
          </a:xfrm>
          <a:prstGeom prst="roundRect">
            <a:avLst>
              <a:gd name="adj" fmla="val 10257"/>
            </a:avLst>
          </a:prstGeom>
          <a:gradFill>
            <a:gsLst>
              <a:gs pos="0">
                <a:srgbClr val="4394FF"/>
              </a:gs>
              <a:gs pos="50000">
                <a:srgbClr val="2374F5"/>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6" y="2725417"/>
            <a:ext cx="7498305" cy="703583"/>
          </a:xfrm>
          <a:prstGeom prst="roundRect">
            <a:avLst>
              <a:gd name="adj" fmla="val 6889"/>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6" y="1980346"/>
            <a:ext cx="7498303" cy="651313"/>
          </a:xfrm>
          <a:prstGeom prst="roundRect">
            <a:avLst>
              <a:gd name="adj" fmla="val 10257"/>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3786597" y="3693938"/>
            <a:ext cx="1126912"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14" name="TextBox 13">
            <a:extLst>
              <a:ext uri="{FF2B5EF4-FFF2-40B4-BE49-F238E27FC236}">
                <a16:creationId xmlns:a16="http://schemas.microsoft.com/office/drawing/2014/main" id="{4D90A748-2E8F-0675-1498-B2EC5D483D88}"/>
              </a:ext>
            </a:extLst>
          </p:cNvPr>
          <p:cNvSpPr txBox="1"/>
          <p:nvPr/>
        </p:nvSpPr>
        <p:spPr>
          <a:xfrm>
            <a:off x="3272766" y="2832551"/>
            <a:ext cx="2204130" cy="430887"/>
          </a:xfrm>
          <a:prstGeom prst="rect">
            <a:avLst/>
          </a:prstGeom>
          <a:noFill/>
        </p:spPr>
        <p:txBody>
          <a:bodyPr wrap="none" lIns="0" tIns="0" rIns="0" bIns="0" rtlCol="0">
            <a:spAutoFit/>
          </a:bodyPr>
          <a:lstStyle/>
          <a:p>
            <a:pPr algn="ctr" defTabSz="914126">
              <a:defRPr/>
            </a:pPr>
            <a:r>
              <a:rPr lang="en-US" sz="28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3746453" y="2095171"/>
            <a:ext cx="1146931" cy="430887"/>
          </a:xfrm>
          <a:prstGeom prst="rect">
            <a:avLst/>
          </a:prstGeom>
          <a:noFill/>
        </p:spPr>
        <p:txBody>
          <a:bodyPr wrap="square" lIns="0" tIns="0" rIns="0" bIns="0" rtlCol="0">
            <a:spAutoFit/>
          </a:bodyPr>
          <a:lstStyle/>
          <a:p>
            <a:pPr algn="ctr" defTabSz="914126">
              <a:defRPr/>
            </a:pPr>
            <a:r>
              <a:rPr lang="en-US" sz="2800" b="1">
                <a:solidFill>
                  <a:srgbClr val="000000"/>
                </a:solidFill>
                <a:latin typeface="72 Brand" panose="020B0504030603020204" pitchFamily="34" charset="0"/>
                <a:cs typeface="72 Bold" panose="020B0803030000000003" pitchFamily="34" charset="0"/>
              </a:rPr>
              <a:t>Stuff</a:t>
            </a:r>
            <a:endParaRPr lang="en-US" sz="1600" b="1">
              <a:solidFill>
                <a:srgbClr val="000000"/>
              </a:solidFill>
              <a:latin typeface="72 Brand" panose="020B0504030603020204" pitchFamily="34" charset="0"/>
              <a:cs typeface="72 Bold" panose="020B0803030000000003" pitchFamily="34" charset="0"/>
            </a:endParaRPr>
          </a:p>
        </p:txBody>
      </p:sp>
      <p:grpSp>
        <p:nvGrpSpPr>
          <p:cNvPr id="45" name="Group 44">
            <a:extLst>
              <a:ext uri="{FF2B5EF4-FFF2-40B4-BE49-F238E27FC236}">
                <a16:creationId xmlns:a16="http://schemas.microsoft.com/office/drawing/2014/main" id="{BA7209BC-3289-5943-F07E-486946F7A1C8}"/>
              </a:ext>
            </a:extLst>
          </p:cNvPr>
          <p:cNvGrpSpPr/>
          <p:nvPr/>
        </p:nvGrpSpPr>
        <p:grpSpPr>
          <a:xfrm>
            <a:off x="8573822" y="1846113"/>
            <a:ext cx="3221393" cy="864702"/>
            <a:chOff x="8576054" y="1701689"/>
            <a:chExt cx="3222232" cy="864929"/>
          </a:xfrm>
        </p:grpSpPr>
        <p:sp>
          <p:nvSpPr>
            <p:cNvPr id="24" name="Rectangle 23">
              <a:extLst>
                <a:ext uri="{FF2B5EF4-FFF2-40B4-BE49-F238E27FC236}">
                  <a16:creationId xmlns:a16="http://schemas.microsoft.com/office/drawing/2014/main" id="{D58AAA28-73AA-E40E-52DF-BB4CC9282A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Stuff</a:t>
              </a:r>
            </a:p>
          </p:txBody>
        </p:sp>
        <p:sp>
          <p:nvSpPr>
            <p:cNvPr id="26" name="Rectangle 25">
              <a:extLst>
                <a:ext uri="{FF2B5EF4-FFF2-40B4-BE49-F238E27FC236}">
                  <a16:creationId xmlns:a16="http://schemas.microsoft.com/office/drawing/2014/main" id="{066B3A3A-4637-8783-3FDA-892DD1EDB7C0}"/>
                </a:ext>
              </a:extLst>
            </p:cNvPr>
            <p:cNvSpPr/>
            <p:nvPr/>
          </p:nvSpPr>
          <p:spPr bwMode="auto">
            <a:xfrm>
              <a:off x="8581982" y="2012475"/>
              <a:ext cx="3216304" cy="5541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IN" sz="1200" kern="0">
                  <a:solidFill>
                    <a:srgbClr val="000000"/>
                  </a:solidFill>
                  <a:latin typeface="72 Brand Light" panose="020B0304030603020204" pitchFamily="34" charset="0"/>
                  <a:ea typeface="Arial Unicode MS"/>
                  <a:cs typeface="Arial"/>
                </a:rPr>
                <a:t>The Stuff method </a:t>
              </a:r>
              <a:r>
                <a:rPr lang="en-IN" sz="1200" b="1" kern="0">
                  <a:solidFill>
                    <a:srgbClr val="000000"/>
                  </a:solidFill>
                  <a:latin typeface="72" panose="020B0503030000000003" pitchFamily="34" charset="0"/>
                  <a:ea typeface="Arial Unicode MS"/>
                  <a:cs typeface="72" panose="020B0503030000000003" pitchFamily="34" charset="0"/>
                </a:rPr>
                <a:t>handles </a:t>
              </a:r>
              <a:r>
                <a:rPr lang="en-IN" sz="1200" b="0" i="0">
                  <a:solidFill>
                    <a:schemeClr val="tx1"/>
                  </a:solidFill>
                  <a:effectLst/>
                  <a:highlight>
                    <a:srgbClr val="FFFFFF"/>
                  </a:highlight>
                  <a:latin typeface="72 Brand" panose="020B0504030603020204" pitchFamily="34" charset="0"/>
                </a:rPr>
                <a:t>list of documents, insert them all into a </a:t>
              </a:r>
              <a:r>
                <a:rPr lang="en-IN" sz="1200" b="1" i="0">
                  <a:solidFill>
                    <a:schemeClr val="tx1"/>
                  </a:solidFill>
                  <a:effectLst/>
                  <a:highlight>
                    <a:srgbClr val="FFFFFF"/>
                  </a:highlight>
                  <a:latin typeface="72 Brand" panose="020B0504030603020204" pitchFamily="34" charset="0"/>
                </a:rPr>
                <a:t>prompt</a:t>
              </a:r>
              <a:r>
                <a:rPr lang="en-IN" sz="1200" b="0" i="0">
                  <a:solidFill>
                    <a:schemeClr val="tx1"/>
                  </a:solidFill>
                  <a:effectLst/>
                  <a:highlight>
                    <a:srgbClr val="FFFFFF"/>
                  </a:highlight>
                  <a:latin typeface="72 Brand" panose="020B0504030603020204" pitchFamily="34" charset="0"/>
                </a:rPr>
                <a:t>, and pass that prompt to an </a:t>
              </a:r>
              <a:r>
                <a:rPr lang="en-IN" sz="1200" b="1" i="0">
                  <a:solidFill>
                    <a:schemeClr val="tx1"/>
                  </a:solidFill>
                  <a:effectLst/>
                  <a:highlight>
                    <a:srgbClr val="FFFFFF"/>
                  </a:highlight>
                  <a:latin typeface="72 Brand" panose="020B0504030603020204" pitchFamily="34" charset="0"/>
                </a:rPr>
                <a:t>LLM for summarization</a:t>
              </a:r>
              <a:r>
                <a:rPr lang="en-IN" sz="1200" b="0" i="0">
                  <a:solidFill>
                    <a:schemeClr val="tx1"/>
                  </a:solidFill>
                  <a:effectLst/>
                  <a:highlight>
                    <a:srgbClr val="FFFFFF"/>
                  </a:highlight>
                  <a:latin typeface="72 Brand" panose="020B0504030603020204" pitchFamily="34" charset="0"/>
                </a:rPr>
                <a:t>.</a:t>
              </a:r>
              <a:endParaRPr lang="en-IN" sz="1200" kern="0">
                <a:solidFill>
                  <a:schemeClr val="tx1"/>
                </a:solidFill>
                <a:latin typeface="72 Brand" panose="020B0504030603020204" pitchFamily="34" charset="0"/>
                <a:ea typeface="Arial Unicode MS"/>
                <a:cs typeface="Arial"/>
              </a:endParaRPr>
            </a:p>
          </p:txBody>
        </p:sp>
      </p:grpSp>
      <p:grpSp>
        <p:nvGrpSpPr>
          <p:cNvPr id="55" name="Group 54">
            <a:extLst>
              <a:ext uri="{FF2B5EF4-FFF2-40B4-BE49-F238E27FC236}">
                <a16:creationId xmlns:a16="http://schemas.microsoft.com/office/drawing/2014/main" id="{0A04EAA5-7948-4FC3-6DAE-7528D0C57E52}"/>
              </a:ext>
            </a:extLst>
          </p:cNvPr>
          <p:cNvGrpSpPr/>
          <p:nvPr/>
        </p:nvGrpSpPr>
        <p:grpSpPr>
          <a:xfrm>
            <a:off x="8573822" y="3075456"/>
            <a:ext cx="3221393" cy="1049369"/>
            <a:chOff x="8576054" y="1701689"/>
            <a:chExt cx="3222232" cy="1049642"/>
          </a:xfrm>
        </p:grpSpPr>
        <p:sp>
          <p:nvSpPr>
            <p:cNvPr id="56" name="Rectangle 55">
              <a:extLst>
                <a:ext uri="{FF2B5EF4-FFF2-40B4-BE49-F238E27FC236}">
                  <a16:creationId xmlns:a16="http://schemas.microsoft.com/office/drawing/2014/main" id="{72528495-C74B-5642-2013-F84154294938}"/>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Map-Reduce</a:t>
              </a:r>
            </a:p>
          </p:txBody>
        </p:sp>
        <p:sp>
          <p:nvSpPr>
            <p:cNvPr id="59" name="Rectangle 58">
              <a:extLst>
                <a:ext uri="{FF2B5EF4-FFF2-40B4-BE49-F238E27FC236}">
                  <a16:creationId xmlns:a16="http://schemas.microsoft.com/office/drawing/2014/main" id="{D9604D83-3D78-AC90-C8B5-A5C77D231169}"/>
                </a:ext>
              </a:extLst>
            </p:cNvPr>
            <p:cNvSpPr/>
            <p:nvPr/>
          </p:nvSpPr>
          <p:spPr bwMode="auto">
            <a:xfrm>
              <a:off x="8581982" y="2012475"/>
              <a:ext cx="3216304" cy="73885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kern="0">
                  <a:solidFill>
                    <a:srgbClr val="000000"/>
                  </a:solidFill>
                  <a:latin typeface="72 Brand Light" panose="020B0304030603020204" pitchFamily="34" charset="0"/>
                  <a:ea typeface="Arial Unicode MS"/>
                  <a:cs typeface="Arial"/>
                </a:rPr>
                <a:t>The Map-Reduce method </a:t>
              </a:r>
              <a:r>
                <a:rPr lang="en-IN" sz="1200" b="1" kern="0">
                  <a:solidFill>
                    <a:srgbClr val="000000"/>
                  </a:solidFill>
                  <a:latin typeface="72" panose="020B0503030000000003" pitchFamily="34" charset="0"/>
                  <a:ea typeface="Arial Unicode MS"/>
                  <a:cs typeface="72" panose="020B0503030000000003" pitchFamily="34" charset="0"/>
                </a:rPr>
                <a:t>divides the document </a:t>
              </a:r>
              <a:r>
                <a:rPr lang="en-IN" sz="1200" kern="0">
                  <a:solidFill>
                    <a:srgbClr val="000000"/>
                  </a:solidFill>
                  <a:latin typeface="72 Brand Light" panose="020B0304030603020204" pitchFamily="34" charset="0"/>
                  <a:ea typeface="Arial Unicode MS"/>
                  <a:cs typeface="Arial"/>
                </a:rPr>
                <a:t>into chunks and </a:t>
              </a:r>
              <a:r>
                <a:rPr lang="en-IN" sz="1200" b="1" kern="0">
                  <a:solidFill>
                    <a:srgbClr val="000000"/>
                  </a:solidFill>
                  <a:latin typeface="72" panose="020B0503030000000003" pitchFamily="34" charset="0"/>
                  <a:ea typeface="Arial Unicode MS"/>
                  <a:cs typeface="72" panose="020B0503030000000003" pitchFamily="34" charset="0"/>
                </a:rPr>
                <a:t>each chunk is summarized</a:t>
              </a:r>
              <a:r>
                <a:rPr lang="en-IN" sz="1200" kern="0">
                  <a:solidFill>
                    <a:srgbClr val="000000"/>
                  </a:solidFill>
                  <a:latin typeface="72 Brand Light" panose="020B0304030603020204" pitchFamily="34" charset="0"/>
                  <a:ea typeface="Arial Unicode MS"/>
                  <a:cs typeface="Arial"/>
                </a:rPr>
                <a:t> (map step). Then, these summaries are </a:t>
              </a:r>
              <a:r>
                <a:rPr lang="en-IN" sz="1200" kern="0">
                  <a:solidFill>
                    <a:srgbClr val="000000"/>
                  </a:solidFill>
                  <a:latin typeface="72 Brand Light" panose="020B0304030603020204" pitchFamily="34" charset="0"/>
                  <a:ea typeface="Arial Unicode MS"/>
                  <a:cs typeface="72" panose="020B0503030000000003" pitchFamily="34" charset="0"/>
                </a:rPr>
                <a:t>combined into a final summary </a:t>
              </a:r>
              <a:r>
                <a:rPr lang="en-IN" sz="1200" kern="0">
                  <a:solidFill>
                    <a:srgbClr val="000000"/>
                  </a:solidFill>
                  <a:latin typeface="72 Brand Light" panose="020B0304030603020204" pitchFamily="34" charset="0"/>
                  <a:ea typeface="Arial Unicode MS"/>
                  <a:cs typeface="Arial"/>
                </a:rPr>
                <a:t>(reduce step). </a:t>
              </a:r>
              <a:endParaRPr lang="en-US" sz="1200" kern="0">
                <a:solidFill>
                  <a:srgbClr val="000000"/>
                </a:solidFill>
                <a:latin typeface="72 Brand Light" panose="020B0304030603020204" pitchFamily="34" charset="0"/>
                <a:ea typeface="Arial Unicode MS"/>
                <a:cs typeface="Arial"/>
              </a:endParaRPr>
            </a:p>
          </p:txBody>
        </p:sp>
      </p:grpSp>
      <p:grpSp>
        <p:nvGrpSpPr>
          <p:cNvPr id="60" name="Group 59">
            <a:extLst>
              <a:ext uri="{FF2B5EF4-FFF2-40B4-BE49-F238E27FC236}">
                <a16:creationId xmlns:a16="http://schemas.microsoft.com/office/drawing/2014/main" id="{61305565-54BA-516B-CE22-A542B2D5B416}"/>
              </a:ext>
            </a:extLst>
          </p:cNvPr>
          <p:cNvGrpSpPr/>
          <p:nvPr/>
        </p:nvGrpSpPr>
        <p:grpSpPr>
          <a:xfrm>
            <a:off x="8573821" y="4512137"/>
            <a:ext cx="3221394" cy="1234036"/>
            <a:chOff x="8576054" y="1701689"/>
            <a:chExt cx="3222233" cy="1234357"/>
          </a:xfrm>
        </p:grpSpPr>
        <p:sp>
          <p:nvSpPr>
            <p:cNvPr id="61" name="Rectangle 60">
              <a:extLst>
                <a:ext uri="{FF2B5EF4-FFF2-40B4-BE49-F238E27FC236}">
                  <a16:creationId xmlns:a16="http://schemas.microsoft.com/office/drawing/2014/main" id="{9C763651-021A-637C-8C23-7C929414DDB0}"/>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Refine</a:t>
              </a:r>
            </a:p>
          </p:txBody>
        </p:sp>
        <p:sp>
          <p:nvSpPr>
            <p:cNvPr id="62" name="Rectangle 61">
              <a:extLst>
                <a:ext uri="{FF2B5EF4-FFF2-40B4-BE49-F238E27FC236}">
                  <a16:creationId xmlns:a16="http://schemas.microsoft.com/office/drawing/2014/main" id="{9E9FDFDF-C103-3B8B-2689-FD8E79DD7C63}"/>
                </a:ext>
              </a:extLst>
            </p:cNvPr>
            <p:cNvSpPr/>
            <p:nvPr/>
          </p:nvSpPr>
          <p:spPr bwMode="auto">
            <a:xfrm>
              <a:off x="8581983" y="2012476"/>
              <a:ext cx="3216304" cy="9235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defRPr/>
              </a:pPr>
              <a:r>
                <a:rPr lang="en-IN" sz="1200" b="0" i="0">
                  <a:solidFill>
                    <a:schemeClr val="tx1"/>
                  </a:solidFill>
                  <a:effectLst/>
                  <a:highlight>
                    <a:srgbClr val="FFFFFF"/>
                  </a:highlight>
                  <a:latin typeface="72 Brand" panose="020B0504030603020204" pitchFamily="34" charset="0"/>
                </a:rPr>
                <a:t>The chain updates a </a:t>
              </a:r>
              <a:r>
                <a:rPr lang="en-IN" sz="1200" b="1" i="0">
                  <a:solidFill>
                    <a:schemeClr val="tx1"/>
                  </a:solidFill>
                  <a:effectLst/>
                  <a:highlight>
                    <a:srgbClr val="FFFFFF"/>
                  </a:highlight>
                  <a:latin typeface="72 Brand" panose="020B0504030603020204" pitchFamily="34" charset="0"/>
                </a:rPr>
                <a:t>rolling summary by iterating over the documents in a sequence</a:t>
              </a:r>
              <a:r>
                <a:rPr lang="en-IN" sz="1200" b="0" i="0">
                  <a:solidFill>
                    <a:schemeClr val="tx1"/>
                  </a:solidFill>
                  <a:effectLst/>
                  <a:highlight>
                    <a:srgbClr val="FFFFFF"/>
                  </a:highlight>
                  <a:latin typeface="72 Brand" panose="020B0504030603020204" pitchFamily="34" charset="0"/>
                </a:rPr>
                <a:t>. In each iteration, the current document and the previously generated summary are passed as prompt for summarization.</a:t>
              </a:r>
              <a:endParaRPr lang="en-US" sz="1200" kern="0">
                <a:solidFill>
                  <a:schemeClr val="tx1"/>
                </a:solidFill>
                <a:latin typeface="72 Brand" panose="020B0504030603020204" pitchFamily="34" charset="0"/>
                <a:ea typeface="Arial Unicode MS"/>
                <a:cs typeface="Arial"/>
              </a:endParaRPr>
            </a:p>
          </p:txBody>
        </p:sp>
      </p:grpSp>
      <p:sp>
        <p:nvSpPr>
          <p:cNvPr id="2" name="Freeform 1">
            <a:extLst>
              <a:ext uri="{FF2B5EF4-FFF2-40B4-BE49-F238E27FC236}">
                <a16:creationId xmlns:a16="http://schemas.microsoft.com/office/drawing/2014/main" id="{7A06309A-BF1C-8568-DE5E-F802FC7771BA}"/>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1E580499-4DBB-29AD-1BA7-25381C7BC751}"/>
              </a:ext>
            </a:extLst>
          </p:cNvPr>
          <p:cNvSpPr txBox="1"/>
          <p:nvPr/>
        </p:nvSpPr>
        <p:spPr>
          <a:xfrm>
            <a:off x="568007" y="633165"/>
            <a:ext cx="6107762" cy="598177"/>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Summarization Chain &amp; its Techniques</a:t>
            </a:r>
          </a:p>
        </p:txBody>
      </p:sp>
      <p:pic>
        <p:nvPicPr>
          <p:cNvPr id="12" name="Picture Placeholder 11">
            <a:extLst>
              <a:ext uri="{FF2B5EF4-FFF2-40B4-BE49-F238E27FC236}">
                <a16:creationId xmlns:a16="http://schemas.microsoft.com/office/drawing/2014/main" id="{2F56BCAD-5ACC-6CE9-F06D-FE3043490134}"/>
              </a:ext>
            </a:extLst>
          </p:cNvPr>
          <p:cNvPicPr>
            <a:picLocks noChangeAspect="1"/>
          </p:cNvPicPr>
          <p:nvPr/>
        </p:nvPicPr>
        <p:blipFill rotWithShape="1">
          <a:blip r:embed="rId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1451735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sp>
        <p:nvSpPr>
          <p:cNvPr id="117" name="Freeform 116">
            <a:extLst>
              <a:ext uri="{FF2B5EF4-FFF2-40B4-BE49-F238E27FC236}">
                <a16:creationId xmlns:a16="http://schemas.microsoft.com/office/drawing/2014/main" id="{3DE80B46-008C-11A7-BCAB-2E7A243D2938}"/>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22" name="Rectangle 21">
            <a:extLst>
              <a:ext uri="{FF2B5EF4-FFF2-40B4-BE49-F238E27FC236}">
                <a16:creationId xmlns:a16="http://schemas.microsoft.com/office/drawing/2014/main" id="{DB692FA4-80A3-FADF-0B7A-2927B358D29D}"/>
              </a:ext>
            </a:extLst>
          </p:cNvPr>
          <p:cNvSpPr/>
          <p:nvPr/>
        </p:nvSpPr>
        <p:spPr bwMode="gray">
          <a:xfrm>
            <a:off x="7587735" y="893"/>
            <a:ext cx="4604267" cy="6856215"/>
          </a:xfrm>
          <a:prstGeom prst="rect">
            <a:avLst/>
          </a:prstGeom>
          <a:solidFill>
            <a:schemeClr val="bg2">
              <a:lumMod val="20000"/>
              <a:lumOff val="80000"/>
              <a:alpha val="26192"/>
            </a:schemeClr>
          </a:solidFill>
          <a:ln w="254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9946" indent="-179946" defTabSz="914126" fontAlgn="base">
              <a:spcAft>
                <a:spcPts val="600"/>
              </a:spcAft>
              <a:buSzPct val="80000"/>
              <a:buFont typeface="Wingdings" panose="05000000000000000000" pitchFamily="2" charset="2"/>
              <a:buChar char="§"/>
            </a:pPr>
            <a:endParaRPr lang="en-DE" sz="1400" kern="0">
              <a:solidFill>
                <a:srgbClr val="000000"/>
              </a:solidFill>
              <a:latin typeface="72 Brand"/>
              <a:ea typeface="Arial Unicode MS" pitchFamily="34" charset="-128"/>
              <a:cs typeface="Arial Unicode MS" pitchFamily="34" charset="-128"/>
            </a:endParaRPr>
          </a:p>
        </p:txBody>
      </p:sp>
      <p:sp>
        <p:nvSpPr>
          <p:cNvPr id="44" name="Title 25">
            <a:extLst>
              <a:ext uri="{FF2B5EF4-FFF2-40B4-BE49-F238E27FC236}">
                <a16:creationId xmlns:a16="http://schemas.microsoft.com/office/drawing/2014/main" id="{31941D1A-CCC3-ED3E-CCA3-00458840B95B}"/>
              </a:ext>
            </a:extLst>
          </p:cNvPr>
          <p:cNvSpPr txBox="1">
            <a:spLocks/>
          </p:cNvSpPr>
          <p:nvPr/>
        </p:nvSpPr>
        <p:spPr bwMode="black">
          <a:xfrm>
            <a:off x="503870" y="504762"/>
            <a:ext cx="11183564" cy="584647"/>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defTabSz="1088231">
              <a:defRPr/>
            </a:pPr>
            <a:r>
              <a:rPr lang="en-US" sz="1400" b="1" spc="-20">
                <a:gradFill flip="none" rotWithShape="1">
                  <a:gsLst>
                    <a:gs pos="0">
                      <a:srgbClr val="0070F2"/>
                    </a:gs>
                    <a:gs pos="100000">
                      <a:srgbClr val="0070F2">
                        <a:lumMod val="75000"/>
                      </a:srgbClr>
                    </a:gs>
                  </a:gsLst>
                  <a:lin ang="0" scaled="1"/>
                  <a:tileRect/>
                </a:gradFill>
                <a:latin typeface="72" panose="020B0503030000000003" pitchFamily="34" charset="0"/>
                <a:cs typeface="72" panose="020B0503030000000003" pitchFamily="34" charset="0"/>
              </a:rPr>
              <a:t>Summarization Chain &amp; its Techniques</a:t>
            </a:r>
          </a:p>
          <a:p>
            <a:pPr defTabSz="1088231">
              <a:defRPr/>
            </a:pPr>
            <a:r>
              <a:rPr lang="en-US" sz="2399">
                <a:solidFill>
                  <a:srgbClr val="000000"/>
                </a:solidFill>
              </a:rPr>
              <a:t>Refine is the nuanced approach to Summarization</a:t>
            </a:r>
          </a:p>
        </p:txBody>
      </p:sp>
      <p:sp>
        <p:nvSpPr>
          <p:cNvPr id="5" name="Rectangle: Rounded Corners 77">
            <a:extLst>
              <a:ext uri="{FF2B5EF4-FFF2-40B4-BE49-F238E27FC236}">
                <a16:creationId xmlns:a16="http://schemas.microsoft.com/office/drawing/2014/main" id="{17E10F50-C2BA-0DA1-9712-6763C9F26F66}"/>
              </a:ext>
            </a:extLst>
          </p:cNvPr>
          <p:cNvSpPr/>
          <p:nvPr/>
        </p:nvSpPr>
        <p:spPr bwMode="auto">
          <a:xfrm>
            <a:off x="503870" y="1666571"/>
            <a:ext cx="7692367" cy="4239451"/>
          </a:xfrm>
          <a:prstGeom prst="roundRect">
            <a:avLst>
              <a:gd name="adj" fmla="val 2437"/>
            </a:avLst>
          </a:prstGeom>
          <a:noFill/>
          <a:ln w="8890" cap="flat">
            <a:solidFill>
              <a:srgbClr val="0070F2"/>
            </a:solidFill>
            <a:prstDash val="solid"/>
            <a:miter/>
          </a:ln>
          <a:effectLst/>
        </p:spPr>
        <p:txBody>
          <a:bodyPr lIns="77704" tIns="38852" rIns="77704" bIns="38852" rtlCol="0" anchor="ctr"/>
          <a:lstStyle/>
          <a:p>
            <a:pPr defTabSz="911717">
              <a:defRPr/>
            </a:pPr>
            <a:endParaRPr lang="en-US" sz="1696">
              <a:solidFill>
                <a:srgbClr val="FFFFFF"/>
              </a:solidFill>
              <a:latin typeface="72 Brand" panose="020B0504030603020204" pitchFamily="34" charset="0"/>
            </a:endParaRPr>
          </a:p>
        </p:txBody>
      </p:sp>
      <p:sp>
        <p:nvSpPr>
          <p:cNvPr id="6" name="Rectangle: Rounded Corners 78">
            <a:extLst>
              <a:ext uri="{FF2B5EF4-FFF2-40B4-BE49-F238E27FC236}">
                <a16:creationId xmlns:a16="http://schemas.microsoft.com/office/drawing/2014/main" id="{D1246065-80AC-F71C-DA4B-27553114E921}"/>
              </a:ext>
            </a:extLst>
          </p:cNvPr>
          <p:cNvSpPr/>
          <p:nvPr/>
        </p:nvSpPr>
        <p:spPr bwMode="auto">
          <a:xfrm>
            <a:off x="601815" y="2196114"/>
            <a:ext cx="7498304" cy="3597174"/>
          </a:xfrm>
          <a:prstGeom prst="roundRect">
            <a:avLst>
              <a:gd name="adj" fmla="val 1713"/>
            </a:avLst>
          </a:prstGeom>
          <a:gradFill>
            <a:gsLst>
              <a:gs pos="0">
                <a:srgbClr val="94C5FF"/>
              </a:gs>
              <a:gs pos="80000">
                <a:srgbClr val="2374F5"/>
              </a:gs>
              <a:gs pos="100000">
                <a:srgbClr val="0C5DDE"/>
              </a:gs>
              <a:gs pos="100000">
                <a:srgbClr val="0B5CDD"/>
              </a:gs>
            </a:gsLst>
            <a:lin ang="243261" scaled="1"/>
          </a:gradFill>
          <a:ln w="9525" cap="flat">
            <a:noFill/>
            <a:prstDash val="solid"/>
            <a:miter/>
          </a:ln>
        </p:spPr>
        <p:txBody>
          <a:bodyPr lIns="77704" tIns="38852" rIns="77704" bIns="38852" rtlCol="0" anchor="ctr"/>
          <a:lstStyle/>
          <a:p>
            <a:pPr algn="ctr" defTabSz="913304">
              <a:defRPr/>
            </a:pPr>
            <a:endParaRPr lang="en-US" sz="1400">
              <a:gradFill flip="none" rotWithShape="1">
                <a:gsLst>
                  <a:gs pos="0">
                    <a:srgbClr val="FFFFFF"/>
                  </a:gs>
                  <a:gs pos="100000">
                    <a:srgbClr val="FFFFFF"/>
                  </a:gs>
                </a:gsLst>
                <a:lin ang="0" scaled="1"/>
                <a:tileRect/>
              </a:gradFill>
              <a:latin typeface="72 Brand" panose="020B0504030603020204" pitchFamily="34" charset="0"/>
              <a:cs typeface="72 Bold" panose="020B0803030000000003" pitchFamily="34" charset="0"/>
            </a:endParaRPr>
          </a:p>
        </p:txBody>
      </p:sp>
      <p:sp>
        <p:nvSpPr>
          <p:cNvPr id="8" name="Rectangle: Rounded Corners 84">
            <a:extLst>
              <a:ext uri="{FF2B5EF4-FFF2-40B4-BE49-F238E27FC236}">
                <a16:creationId xmlns:a16="http://schemas.microsoft.com/office/drawing/2014/main" id="{E63D4277-9152-302A-6D6F-14ECC0A8E401}"/>
              </a:ext>
            </a:extLst>
          </p:cNvPr>
          <p:cNvSpPr/>
          <p:nvPr/>
        </p:nvSpPr>
        <p:spPr bwMode="auto">
          <a:xfrm>
            <a:off x="601817" y="1971655"/>
            <a:ext cx="7498304" cy="172755"/>
          </a:xfrm>
          <a:prstGeom prst="roundRect">
            <a:avLst>
              <a:gd name="adj" fmla="val 22994"/>
            </a:avLst>
          </a:prstGeom>
          <a:gradFill flip="none" rotWithShape="1">
            <a:gsLst>
              <a:gs pos="0">
                <a:srgbClr val="4CB1FF"/>
              </a:gs>
              <a:gs pos="100000">
                <a:srgbClr val="4192FF"/>
              </a:gs>
            </a:gsLst>
            <a:lin ang="2700000" scaled="1"/>
            <a:tileRect/>
          </a:gradFill>
          <a:ln w="9525" cap="flat">
            <a:noFill/>
            <a:prstDash val="solid"/>
            <a:miter/>
          </a:ln>
        </p:spPr>
        <p:txBody>
          <a:bodyPr lIns="77704" tIns="38852" rIns="77704" bIns="38852" rtlCol="0" anchor="ctr"/>
          <a:lstStyle/>
          <a:p>
            <a:pPr algn="ctr" defTabSz="913304">
              <a:defRPr/>
            </a:pPr>
            <a:endParaRPr lang="en-US" sz="1200">
              <a:gradFill flip="none" rotWithShape="1">
                <a:gsLst>
                  <a:gs pos="0">
                    <a:srgbClr val="FFFFFF"/>
                  </a:gs>
                  <a:gs pos="100000">
                    <a:srgbClr val="FFFFFF"/>
                  </a:gs>
                </a:gsLst>
                <a:lin ang="0" scaled="1"/>
                <a:tileRect/>
              </a:gradFill>
              <a:latin typeface="72 Brand" panose="020B0504030603020204" pitchFamily="34" charset="0"/>
              <a:cs typeface="72" panose="020B0503030000000003" pitchFamily="34" charset="0"/>
            </a:endParaRPr>
          </a:p>
        </p:txBody>
      </p:sp>
      <p:sp>
        <p:nvSpPr>
          <p:cNvPr id="9" name="Rectangle: Rounded Corners 93">
            <a:extLst>
              <a:ext uri="{FF2B5EF4-FFF2-40B4-BE49-F238E27FC236}">
                <a16:creationId xmlns:a16="http://schemas.microsoft.com/office/drawing/2014/main" id="{F66F58BF-2186-DFE9-1123-CD491CC82050}"/>
              </a:ext>
            </a:extLst>
          </p:cNvPr>
          <p:cNvSpPr/>
          <p:nvPr/>
        </p:nvSpPr>
        <p:spPr bwMode="auto">
          <a:xfrm>
            <a:off x="601817" y="1757820"/>
            <a:ext cx="7498302" cy="169233"/>
          </a:xfrm>
          <a:prstGeom prst="roundRect">
            <a:avLst>
              <a:gd name="adj" fmla="val 22001"/>
            </a:avLst>
          </a:prstGeom>
          <a:solidFill>
            <a:srgbClr val="D2EFFF"/>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0" name="TextBox 9">
            <a:extLst>
              <a:ext uri="{FF2B5EF4-FFF2-40B4-BE49-F238E27FC236}">
                <a16:creationId xmlns:a16="http://schemas.microsoft.com/office/drawing/2014/main" id="{72D44D39-B1CE-257F-A1FF-286648891171}"/>
              </a:ext>
            </a:extLst>
          </p:cNvPr>
          <p:cNvSpPr txBox="1"/>
          <p:nvPr/>
        </p:nvSpPr>
        <p:spPr>
          <a:xfrm>
            <a:off x="4133580" y="2319071"/>
            <a:ext cx="482504" cy="184666"/>
          </a:xfrm>
          <a:prstGeom prst="rect">
            <a:avLst/>
          </a:prstGeom>
          <a:noFill/>
        </p:spPr>
        <p:txBody>
          <a:bodyPr wrap="none" lIns="0" tIns="0" rIns="0" bIns="0" rtlCol="0">
            <a:spAutoFit/>
          </a:bodyPr>
          <a:lstStyle/>
          <a:p>
            <a:pPr algn="ctr" defTabSz="914126">
              <a:defRPr/>
            </a:pPr>
            <a:r>
              <a:rPr lang="en-US" sz="12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14" name="TextBox 13">
            <a:extLst>
              <a:ext uri="{FF2B5EF4-FFF2-40B4-BE49-F238E27FC236}">
                <a16:creationId xmlns:a16="http://schemas.microsoft.com/office/drawing/2014/main" id="{4D90A748-2E8F-0675-1498-B2EC5D483D88}"/>
              </a:ext>
            </a:extLst>
          </p:cNvPr>
          <p:cNvSpPr txBox="1"/>
          <p:nvPr/>
        </p:nvSpPr>
        <p:spPr>
          <a:xfrm>
            <a:off x="4204091" y="2008808"/>
            <a:ext cx="469680" cy="92333"/>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sp>
        <p:nvSpPr>
          <p:cNvPr id="38" name="TextBox 37">
            <a:extLst>
              <a:ext uri="{FF2B5EF4-FFF2-40B4-BE49-F238E27FC236}">
                <a16:creationId xmlns:a16="http://schemas.microsoft.com/office/drawing/2014/main" id="{C77CD31A-E6DA-32BF-9047-0BB643AE64C5}"/>
              </a:ext>
            </a:extLst>
          </p:cNvPr>
          <p:cNvSpPr txBox="1"/>
          <p:nvPr/>
        </p:nvSpPr>
        <p:spPr>
          <a:xfrm>
            <a:off x="4331375" y="1799016"/>
            <a:ext cx="179536" cy="92333"/>
          </a:xfrm>
          <a:prstGeom prst="rect">
            <a:avLst/>
          </a:prstGeom>
          <a:noFill/>
        </p:spPr>
        <p:txBody>
          <a:bodyPr wrap="none" lIns="0" tIns="0" rIns="0" bIns="0" rtlCol="0">
            <a:spAutoFit/>
          </a:bodyPr>
          <a:lstStyle/>
          <a:p>
            <a:pPr algn="ctr" defTabSz="914126">
              <a:defRPr/>
            </a:pPr>
            <a:r>
              <a:rPr lang="en-US" sz="600" b="1">
                <a:solidFill>
                  <a:srgbClr val="000000"/>
                </a:solidFill>
                <a:latin typeface="72 Brand" panose="020B0504030603020204" pitchFamily="34" charset="0"/>
                <a:cs typeface="72 Bold" panose="020B0803030000000003" pitchFamily="34" charset="0"/>
              </a:rPr>
              <a:t>Stuff</a:t>
            </a:r>
          </a:p>
        </p:txBody>
      </p:sp>
      <p:grpSp>
        <p:nvGrpSpPr>
          <p:cNvPr id="45" name="Group 44">
            <a:extLst>
              <a:ext uri="{FF2B5EF4-FFF2-40B4-BE49-F238E27FC236}">
                <a16:creationId xmlns:a16="http://schemas.microsoft.com/office/drawing/2014/main" id="{BA7209BC-3289-5943-F07E-486946F7A1C8}"/>
              </a:ext>
            </a:extLst>
          </p:cNvPr>
          <p:cNvGrpSpPr/>
          <p:nvPr/>
        </p:nvGrpSpPr>
        <p:grpSpPr>
          <a:xfrm>
            <a:off x="8548416" y="1529266"/>
            <a:ext cx="3221393" cy="1234035"/>
            <a:chOff x="8576054" y="1701689"/>
            <a:chExt cx="3222232" cy="1234356"/>
          </a:xfrm>
        </p:grpSpPr>
        <p:sp>
          <p:nvSpPr>
            <p:cNvPr id="24" name="Rectangle 23">
              <a:extLst>
                <a:ext uri="{FF2B5EF4-FFF2-40B4-BE49-F238E27FC236}">
                  <a16:creationId xmlns:a16="http://schemas.microsoft.com/office/drawing/2014/main" id="{D58AAA28-73AA-E40E-52DF-BB4CC9282A9C}"/>
                </a:ext>
              </a:extLst>
            </p:cNvPr>
            <p:cNvSpPr/>
            <p:nvPr/>
          </p:nvSpPr>
          <p:spPr bwMode="auto">
            <a:xfrm>
              <a:off x="8576054" y="1701689"/>
              <a:ext cx="2450243"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Iterative Approach</a:t>
              </a:r>
            </a:p>
          </p:txBody>
        </p:sp>
        <p:sp>
          <p:nvSpPr>
            <p:cNvPr id="26" name="Rectangle 25">
              <a:extLst>
                <a:ext uri="{FF2B5EF4-FFF2-40B4-BE49-F238E27FC236}">
                  <a16:creationId xmlns:a16="http://schemas.microsoft.com/office/drawing/2014/main" id="{066B3A3A-4637-8783-3FDA-892DD1EDB7C0}"/>
                </a:ext>
              </a:extLst>
            </p:cNvPr>
            <p:cNvSpPr/>
            <p:nvPr/>
          </p:nvSpPr>
          <p:spPr bwMode="auto">
            <a:xfrm>
              <a:off x="8581982" y="2012475"/>
              <a:ext cx="3216304" cy="92357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088449">
                <a:defRPr/>
              </a:pPr>
              <a:r>
                <a:rPr lang="en-GB" sz="1200" kern="0">
                  <a:solidFill>
                    <a:srgbClr val="000000"/>
                  </a:solidFill>
                  <a:latin typeface="72 Brand Light" panose="020B0304030603020204" pitchFamily="34" charset="0"/>
                  <a:ea typeface="Arial Unicode MS"/>
                  <a:cs typeface="Arial"/>
                </a:rPr>
                <a:t>Begins with an initial prompt on the first chunk of data, which generates an initial output. </a:t>
              </a:r>
              <a:r>
                <a:rPr lang="en-IN" sz="1200" kern="0">
                  <a:solidFill>
                    <a:srgbClr val="000000"/>
                  </a:solidFill>
                  <a:latin typeface="72 Brand Light" panose="020B0304030603020204" pitchFamily="34" charset="0"/>
                  <a:ea typeface="Arial Unicode MS"/>
                  <a:cs typeface="Arial"/>
                </a:rPr>
                <a:t>The </a:t>
              </a:r>
              <a:r>
                <a:rPr lang="en-IN" sz="1200" b="1" kern="0">
                  <a:solidFill>
                    <a:srgbClr val="000000"/>
                  </a:solidFill>
                  <a:latin typeface="72 Brand" panose="020B0504030603020204" pitchFamily="34" charset="0"/>
                  <a:ea typeface="Arial Unicode MS"/>
                  <a:cs typeface="Arial"/>
                </a:rPr>
                <a:t>'refine documents chain' </a:t>
              </a:r>
              <a:r>
                <a:rPr lang="en-IN" sz="1200" kern="0">
                  <a:solidFill>
                    <a:srgbClr val="000000"/>
                  </a:solidFill>
                  <a:latin typeface="72 Brand Light" panose="020B0304030603020204" pitchFamily="34" charset="0"/>
                  <a:ea typeface="Arial Unicode MS"/>
                  <a:cs typeface="Arial"/>
                </a:rPr>
                <a:t>constructs a response by iteratively cycling through the input documents and progressively updating its answer</a:t>
              </a:r>
              <a:endParaRPr lang="en-GB" sz="1200" kern="0">
                <a:solidFill>
                  <a:srgbClr val="000000"/>
                </a:solidFill>
                <a:latin typeface="72 Brand Light" panose="020B0304030603020204" pitchFamily="34" charset="0"/>
                <a:ea typeface="Arial Unicode MS"/>
                <a:cs typeface="Arial"/>
              </a:endParaRPr>
            </a:p>
          </p:txBody>
        </p:sp>
      </p:grpSp>
      <p:grpSp>
        <p:nvGrpSpPr>
          <p:cNvPr id="55" name="Group 54">
            <a:extLst>
              <a:ext uri="{FF2B5EF4-FFF2-40B4-BE49-F238E27FC236}">
                <a16:creationId xmlns:a16="http://schemas.microsoft.com/office/drawing/2014/main" id="{0A04EAA5-7948-4FC3-6DAE-7528D0C57E52}"/>
              </a:ext>
            </a:extLst>
          </p:cNvPr>
          <p:cNvGrpSpPr/>
          <p:nvPr/>
        </p:nvGrpSpPr>
        <p:grpSpPr>
          <a:xfrm>
            <a:off x="8548416" y="3003068"/>
            <a:ext cx="3221393" cy="864703"/>
            <a:chOff x="8576054" y="1701689"/>
            <a:chExt cx="3222232" cy="864928"/>
          </a:xfrm>
        </p:grpSpPr>
        <p:sp>
          <p:nvSpPr>
            <p:cNvPr id="56" name="Rectangle 55">
              <a:extLst>
                <a:ext uri="{FF2B5EF4-FFF2-40B4-BE49-F238E27FC236}">
                  <a16:creationId xmlns:a16="http://schemas.microsoft.com/office/drawing/2014/main" id="{72528495-C74B-5642-2013-F84154294938}"/>
                </a:ext>
              </a:extLst>
            </p:cNvPr>
            <p:cNvSpPr/>
            <p:nvPr/>
          </p:nvSpPr>
          <p:spPr bwMode="auto">
            <a:xfrm>
              <a:off x="8576054" y="1701689"/>
              <a:ext cx="2686334"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Increases Relevance</a:t>
              </a:r>
            </a:p>
          </p:txBody>
        </p:sp>
        <p:sp>
          <p:nvSpPr>
            <p:cNvPr id="59" name="Rectangle 58">
              <a:extLst>
                <a:ext uri="{FF2B5EF4-FFF2-40B4-BE49-F238E27FC236}">
                  <a16:creationId xmlns:a16="http://schemas.microsoft.com/office/drawing/2014/main" id="{D9604D83-3D78-AC90-C8B5-A5C77D231169}"/>
                </a:ext>
              </a:extLst>
            </p:cNvPr>
            <p:cNvSpPr/>
            <p:nvPr/>
          </p:nvSpPr>
          <p:spPr bwMode="auto">
            <a:xfrm>
              <a:off x="8581982" y="2012475"/>
              <a:ext cx="3216304" cy="5541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fontAlgn="base"/>
              <a:r>
                <a:rPr lang="en-IN" sz="1200" kern="0">
                  <a:solidFill>
                    <a:srgbClr val="000000"/>
                  </a:solidFill>
                  <a:latin typeface="72 Brand Light" panose="020B0304030603020204" pitchFamily="34" charset="0"/>
                  <a:ea typeface="Arial Unicode MS"/>
                  <a:cs typeface="Arial"/>
                </a:rPr>
                <a:t>Has the potential to </a:t>
              </a:r>
              <a:r>
                <a:rPr lang="en-IN" sz="1200" b="1" kern="0">
                  <a:solidFill>
                    <a:srgbClr val="000000"/>
                  </a:solidFill>
                  <a:latin typeface="72 Brand" panose="020B0504030603020204" pitchFamily="34" charset="0"/>
                  <a:ea typeface="Arial Unicode MS"/>
                  <a:cs typeface="Arial"/>
                </a:rPr>
                <a:t>incorporate more relevant context</a:t>
              </a:r>
              <a:r>
                <a:rPr lang="en-IN" sz="1200" kern="0">
                  <a:solidFill>
                    <a:srgbClr val="000000"/>
                  </a:solidFill>
                  <a:latin typeface="72 Brand Light" panose="020B0304030603020204" pitchFamily="34" charset="0"/>
                  <a:ea typeface="Arial Unicode MS"/>
                  <a:cs typeface="Arial"/>
                </a:rPr>
                <a:t>, potentially resulting in less loss of information compared to Map-Reduce</a:t>
              </a:r>
            </a:p>
          </p:txBody>
        </p:sp>
      </p:grpSp>
      <p:grpSp>
        <p:nvGrpSpPr>
          <p:cNvPr id="60" name="Group 59">
            <a:extLst>
              <a:ext uri="{FF2B5EF4-FFF2-40B4-BE49-F238E27FC236}">
                <a16:creationId xmlns:a16="http://schemas.microsoft.com/office/drawing/2014/main" id="{61305565-54BA-516B-CE22-A542B2D5B416}"/>
              </a:ext>
            </a:extLst>
          </p:cNvPr>
          <p:cNvGrpSpPr/>
          <p:nvPr/>
        </p:nvGrpSpPr>
        <p:grpSpPr>
          <a:xfrm>
            <a:off x="8548416" y="4243722"/>
            <a:ext cx="3221393" cy="1021124"/>
            <a:chOff x="8576054" y="1701689"/>
            <a:chExt cx="3222232" cy="1123528"/>
          </a:xfrm>
        </p:grpSpPr>
        <p:sp>
          <p:nvSpPr>
            <p:cNvPr id="61" name="Rectangle 60">
              <a:extLst>
                <a:ext uri="{FF2B5EF4-FFF2-40B4-BE49-F238E27FC236}">
                  <a16:creationId xmlns:a16="http://schemas.microsoft.com/office/drawing/2014/main" id="{9C763651-021A-637C-8C23-7C929414DDB0}"/>
                </a:ext>
              </a:extLst>
            </p:cNvPr>
            <p:cNvSpPr/>
            <p:nvPr/>
          </p:nvSpPr>
          <p:spPr bwMode="auto">
            <a:xfrm>
              <a:off x="8576054" y="1701689"/>
              <a:ext cx="2684405" cy="2215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192" fontAlgn="base">
                <a:lnSpc>
                  <a:spcPct val="90000"/>
                </a:lnSpc>
                <a:spcBef>
                  <a:spcPct val="0"/>
                </a:spcBef>
                <a:spcAft>
                  <a:spcPts val="600"/>
                </a:spcAft>
                <a:defRPr/>
              </a:pPr>
              <a:r>
                <a:rPr lang="en-US" sz="1600">
                  <a:solidFill>
                    <a:srgbClr val="0070F2"/>
                  </a:solidFill>
                  <a:latin typeface="72 Brand Medium" panose="020B0504030603020204" pitchFamily="34" charset="0"/>
                  <a:cs typeface="72" panose="020B0503030000000003" pitchFamily="34" charset="0"/>
                </a:rPr>
                <a:t>Can lead to slow processing</a:t>
              </a:r>
            </a:p>
          </p:txBody>
        </p:sp>
        <p:sp>
          <p:nvSpPr>
            <p:cNvPr id="62" name="Rectangle 61">
              <a:extLst>
                <a:ext uri="{FF2B5EF4-FFF2-40B4-BE49-F238E27FC236}">
                  <a16:creationId xmlns:a16="http://schemas.microsoft.com/office/drawing/2014/main" id="{9E9FDFDF-C103-3B8B-2689-FD8E79DD7C63}"/>
                </a:ext>
              </a:extLst>
            </p:cNvPr>
            <p:cNvSpPr/>
            <p:nvPr/>
          </p:nvSpPr>
          <p:spPr bwMode="auto">
            <a:xfrm>
              <a:off x="8581982" y="2012475"/>
              <a:ext cx="3216304" cy="8127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defRPr/>
              </a:pPr>
              <a:r>
                <a:rPr lang="en-GB" sz="1200" kern="0">
                  <a:solidFill>
                    <a:srgbClr val="000000"/>
                  </a:solidFill>
                  <a:latin typeface="72 Brand Light" panose="020B0304030603020204" pitchFamily="34" charset="0"/>
                  <a:ea typeface="Arial Unicode MS"/>
                  <a:cs typeface="Arial"/>
                </a:rPr>
                <a:t>Good things take time, and so does refine. It involves a </a:t>
              </a:r>
              <a:r>
                <a:rPr lang="en-GB" sz="1200" b="1" kern="0">
                  <a:solidFill>
                    <a:srgbClr val="000000"/>
                  </a:solidFill>
                  <a:latin typeface="72 Brand" panose="020B0504030603020204" pitchFamily="34" charset="0"/>
                  <a:ea typeface="Arial Unicode MS"/>
                  <a:cs typeface="Arial"/>
                </a:rPr>
                <a:t>larger number of LLM calls</a:t>
              </a:r>
              <a:r>
                <a:rPr lang="en-GB" sz="1200" kern="0">
                  <a:solidFill>
                    <a:srgbClr val="000000"/>
                  </a:solidFill>
                  <a:latin typeface="72 Brand Light" panose="020B0304030603020204" pitchFamily="34" charset="0"/>
                  <a:ea typeface="Arial Unicode MS"/>
                  <a:cs typeface="Arial"/>
                </a:rPr>
                <a:t>, that aren’t independent and </a:t>
              </a:r>
              <a:r>
                <a:rPr lang="en-GB" sz="1200" b="1" kern="0">
                  <a:solidFill>
                    <a:srgbClr val="000000"/>
                  </a:solidFill>
                  <a:latin typeface="72 Brand" panose="020B0504030603020204" pitchFamily="34" charset="0"/>
                  <a:ea typeface="Arial Unicode MS"/>
                  <a:cs typeface="Arial"/>
                </a:rPr>
                <a:t>can’t be parallelized</a:t>
              </a:r>
              <a:r>
                <a:rPr lang="en-GB" sz="1200" kern="0">
                  <a:solidFill>
                    <a:srgbClr val="000000"/>
                  </a:solidFill>
                  <a:latin typeface="72 Brand Light" panose="020B0304030603020204" pitchFamily="34" charset="0"/>
                  <a:ea typeface="Arial Unicode MS"/>
                  <a:cs typeface="Arial"/>
                </a:rPr>
                <a:t> like Map-Reduce</a:t>
              </a:r>
              <a:endParaRPr lang="en-US" sz="1200" kern="0">
                <a:solidFill>
                  <a:srgbClr val="000000"/>
                </a:solidFill>
                <a:latin typeface="72 Brand Light" panose="020B0304030603020204" pitchFamily="34" charset="0"/>
                <a:ea typeface="Arial Unicode MS"/>
                <a:cs typeface="Arial"/>
              </a:endParaRPr>
            </a:p>
          </p:txBody>
        </p:sp>
      </p:grpSp>
      <p:sp>
        <p:nvSpPr>
          <p:cNvPr id="7" name="Rectangle: Rounded Corners 93">
            <a:extLst>
              <a:ext uri="{FF2B5EF4-FFF2-40B4-BE49-F238E27FC236}">
                <a16:creationId xmlns:a16="http://schemas.microsoft.com/office/drawing/2014/main" id="{447AA248-2FE4-952D-3DB3-DCF122121578}"/>
              </a:ext>
            </a:extLst>
          </p:cNvPr>
          <p:cNvSpPr/>
          <p:nvPr/>
        </p:nvSpPr>
        <p:spPr bwMode="auto">
          <a:xfrm>
            <a:off x="601817" y="1758111"/>
            <a:ext cx="7498302" cy="169233"/>
          </a:xfrm>
          <a:prstGeom prst="roundRect">
            <a:avLst>
              <a:gd name="adj" fmla="val 22001"/>
            </a:avLst>
          </a:prstGeom>
          <a:solidFill>
            <a:schemeClr val="bg1">
              <a:alpha val="74143"/>
            </a:schemeClr>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9" name="Rectangle: Rounded Corners 93">
            <a:extLst>
              <a:ext uri="{FF2B5EF4-FFF2-40B4-BE49-F238E27FC236}">
                <a16:creationId xmlns:a16="http://schemas.microsoft.com/office/drawing/2014/main" id="{5209E4D4-9BEC-F4C3-51B4-5BAE997C4CAC}"/>
              </a:ext>
            </a:extLst>
          </p:cNvPr>
          <p:cNvSpPr/>
          <p:nvPr/>
        </p:nvSpPr>
        <p:spPr bwMode="auto">
          <a:xfrm>
            <a:off x="601817" y="1967608"/>
            <a:ext cx="7498302" cy="176315"/>
          </a:xfrm>
          <a:prstGeom prst="roundRect">
            <a:avLst>
              <a:gd name="adj" fmla="val 22001"/>
            </a:avLst>
          </a:prstGeom>
          <a:solidFill>
            <a:schemeClr val="bg1">
              <a:alpha val="74143"/>
            </a:schemeClr>
          </a:solidFill>
          <a:ln w="9525" cap="flat">
            <a:noFill/>
            <a:prstDash val="solid"/>
            <a:miter/>
          </a:ln>
          <a:effectLst/>
        </p:spPr>
        <p:txBody>
          <a:bodyPr lIns="77704" tIns="38852" rIns="77704" bIns="38852" rtlCol="0" anchor="ctr"/>
          <a:lstStyle/>
          <a:p>
            <a:pPr algn="ctr" defTabSz="913304">
              <a:defRPr/>
            </a:pPr>
            <a:endParaRPr lang="en-US" sz="1400">
              <a:solidFill>
                <a:srgbClr val="000000"/>
              </a:solidFill>
              <a:latin typeface="72 Brand" panose="020B0504030603020204" pitchFamily="34" charset="0"/>
              <a:cs typeface="72 Bold" panose="020B0803030000000003" pitchFamily="34" charset="0"/>
            </a:endParaRPr>
          </a:p>
        </p:txBody>
      </p:sp>
      <p:sp>
        <p:nvSpPr>
          <p:cNvPr id="13" name="Rectangle: Rounded Corners 3">
            <a:extLst>
              <a:ext uri="{FF2B5EF4-FFF2-40B4-BE49-F238E27FC236}">
                <a16:creationId xmlns:a16="http://schemas.microsoft.com/office/drawing/2014/main" id="{2D1CCC79-EE49-C32C-BE17-B7D83193C4AB}"/>
              </a:ext>
            </a:extLst>
          </p:cNvPr>
          <p:cNvSpPr/>
          <p:nvPr/>
        </p:nvSpPr>
        <p:spPr bwMode="auto">
          <a:xfrm flipH="1">
            <a:off x="2810511" y="2754953"/>
            <a:ext cx="498994" cy="282305"/>
          </a:xfrm>
          <a:prstGeom prst="roundRect">
            <a:avLst>
              <a:gd name="adj" fmla="val 2588"/>
            </a:avLst>
          </a:prstGeom>
          <a:solidFill>
            <a:srgbClr val="FEADC8"/>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ctr" anchorCtr="0" forceAA="0" compatLnSpc="1">
            <a:prstTxWarp prst="textNoShape">
              <a:avLst/>
            </a:prstTxWarp>
            <a:noAutofit/>
          </a:bodyPr>
          <a:lstStyle/>
          <a:p>
            <a:pP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Chunk-1</a:t>
            </a:r>
          </a:p>
        </p:txBody>
      </p:sp>
      <p:grpSp>
        <p:nvGrpSpPr>
          <p:cNvPr id="20" name="Group 19">
            <a:extLst>
              <a:ext uri="{FF2B5EF4-FFF2-40B4-BE49-F238E27FC236}">
                <a16:creationId xmlns:a16="http://schemas.microsoft.com/office/drawing/2014/main" id="{0B3609DB-8EDC-AB0D-89C1-5FEE9AF89FDB}"/>
              </a:ext>
            </a:extLst>
          </p:cNvPr>
          <p:cNvGrpSpPr/>
          <p:nvPr/>
        </p:nvGrpSpPr>
        <p:grpSpPr>
          <a:xfrm>
            <a:off x="1598691" y="3777323"/>
            <a:ext cx="1015810" cy="604376"/>
            <a:chOff x="1763147" y="3777323"/>
            <a:chExt cx="1015810" cy="604376"/>
          </a:xfrm>
        </p:grpSpPr>
        <p:sp>
          <p:nvSpPr>
            <p:cNvPr id="21" name="Rectangle: Rounded Corners 3">
              <a:extLst>
                <a:ext uri="{FF2B5EF4-FFF2-40B4-BE49-F238E27FC236}">
                  <a16:creationId xmlns:a16="http://schemas.microsoft.com/office/drawing/2014/main" id="{274247B7-761E-F47B-9325-A02CC114D253}"/>
                </a:ext>
              </a:extLst>
            </p:cNvPr>
            <p:cNvSpPr/>
            <p:nvPr/>
          </p:nvSpPr>
          <p:spPr bwMode="auto">
            <a:xfrm flipH="1">
              <a:off x="1835735" y="3777323"/>
              <a:ext cx="640997" cy="310536"/>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chemeClr val="bg1"/>
                  </a:solidFill>
                  <a:latin typeface="72 Brand Light" panose="020B0304030603020204" pitchFamily="34" charset="0"/>
                  <a:cs typeface="72" panose="020B0503030000000003" pitchFamily="34" charset="0"/>
                </a:rPr>
                <a:t>Splitter</a:t>
              </a:r>
            </a:p>
          </p:txBody>
        </p:sp>
        <p:sp>
          <p:nvSpPr>
            <p:cNvPr id="27" name="Rectangle 26">
              <a:extLst>
                <a:ext uri="{FF2B5EF4-FFF2-40B4-BE49-F238E27FC236}">
                  <a16:creationId xmlns:a16="http://schemas.microsoft.com/office/drawing/2014/main" id="{43A37BC4-6133-B8A8-107F-B1A0976BD323}"/>
                </a:ext>
              </a:extLst>
            </p:cNvPr>
            <p:cNvSpPr/>
            <p:nvPr/>
          </p:nvSpPr>
          <p:spPr bwMode="auto">
            <a:xfrm>
              <a:off x="1763147" y="4135478"/>
              <a:ext cx="1015810"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Splits content into smaller chunks</a:t>
              </a:r>
            </a:p>
          </p:txBody>
        </p:sp>
      </p:grpSp>
      <p:grpSp>
        <p:nvGrpSpPr>
          <p:cNvPr id="28" name="Group 27">
            <a:extLst>
              <a:ext uri="{FF2B5EF4-FFF2-40B4-BE49-F238E27FC236}">
                <a16:creationId xmlns:a16="http://schemas.microsoft.com/office/drawing/2014/main" id="{D65D376F-B279-A5F1-687F-E665DDA97437}"/>
              </a:ext>
            </a:extLst>
          </p:cNvPr>
          <p:cNvGrpSpPr/>
          <p:nvPr/>
        </p:nvGrpSpPr>
        <p:grpSpPr>
          <a:xfrm>
            <a:off x="589961" y="2755630"/>
            <a:ext cx="1015810" cy="2704501"/>
            <a:chOff x="602598" y="2773490"/>
            <a:chExt cx="1015810" cy="2704501"/>
          </a:xfrm>
        </p:grpSpPr>
        <p:sp>
          <p:nvSpPr>
            <p:cNvPr id="30" name="Rectangle 29">
              <a:extLst>
                <a:ext uri="{FF2B5EF4-FFF2-40B4-BE49-F238E27FC236}">
                  <a16:creationId xmlns:a16="http://schemas.microsoft.com/office/drawing/2014/main" id="{1E01AC66-6DE4-7C53-6605-60871A9A4123}"/>
                </a:ext>
              </a:extLst>
            </p:cNvPr>
            <p:cNvSpPr/>
            <p:nvPr/>
          </p:nvSpPr>
          <p:spPr bwMode="auto">
            <a:xfrm>
              <a:off x="602598" y="5354880"/>
              <a:ext cx="1015810" cy="123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800" b="1" kern="0">
                  <a:solidFill>
                    <a:schemeClr val="bg1"/>
                  </a:solidFill>
                  <a:latin typeface="72 Brand Light" panose="020B0304030603020204" pitchFamily="34" charset="0"/>
                  <a:ea typeface="Arial Unicode MS"/>
                  <a:cs typeface="Arial"/>
                </a:rPr>
                <a:t>Documents</a:t>
              </a:r>
            </a:p>
          </p:txBody>
        </p:sp>
        <p:grpSp>
          <p:nvGrpSpPr>
            <p:cNvPr id="40" name="Group 39">
              <a:extLst>
                <a:ext uri="{FF2B5EF4-FFF2-40B4-BE49-F238E27FC236}">
                  <a16:creationId xmlns:a16="http://schemas.microsoft.com/office/drawing/2014/main" id="{AB1AF3F2-C929-2DDA-D248-72A68AD107F7}"/>
                </a:ext>
              </a:extLst>
            </p:cNvPr>
            <p:cNvGrpSpPr/>
            <p:nvPr/>
          </p:nvGrpSpPr>
          <p:grpSpPr>
            <a:xfrm>
              <a:off x="711785" y="2773490"/>
              <a:ext cx="778482" cy="2550178"/>
              <a:chOff x="711785" y="2773490"/>
              <a:chExt cx="778482" cy="2550178"/>
            </a:xfrm>
          </p:grpSpPr>
          <p:sp>
            <p:nvSpPr>
              <p:cNvPr id="41" name="Rectangle: Rounded Corners 3">
                <a:extLst>
                  <a:ext uri="{FF2B5EF4-FFF2-40B4-BE49-F238E27FC236}">
                    <a16:creationId xmlns:a16="http://schemas.microsoft.com/office/drawing/2014/main" id="{5D21DF3E-30AA-7E6B-55AC-8ABD96A6F5ED}"/>
                  </a:ext>
                </a:extLst>
              </p:cNvPr>
              <p:cNvSpPr/>
              <p:nvPr/>
            </p:nvSpPr>
            <p:spPr bwMode="auto">
              <a:xfrm flipH="1">
                <a:off x="711785" y="2773490"/>
                <a:ext cx="778482" cy="2550178"/>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pic>
            <p:nvPicPr>
              <p:cNvPr id="42" name="Graphic 41">
                <a:extLst>
                  <a:ext uri="{FF2B5EF4-FFF2-40B4-BE49-F238E27FC236}">
                    <a16:creationId xmlns:a16="http://schemas.microsoft.com/office/drawing/2014/main" id="{4D3D224B-5E67-3A4E-464A-375522A221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1031" y="2984884"/>
                <a:ext cx="270000" cy="270000"/>
              </a:xfrm>
              <a:prstGeom prst="rect">
                <a:avLst/>
              </a:prstGeom>
            </p:spPr>
          </p:pic>
          <p:pic>
            <p:nvPicPr>
              <p:cNvPr id="43" name="Graphic 42">
                <a:extLst>
                  <a:ext uri="{FF2B5EF4-FFF2-40B4-BE49-F238E27FC236}">
                    <a16:creationId xmlns:a16="http://schemas.microsoft.com/office/drawing/2014/main" id="{29C1B14B-DE8D-7E2C-2732-61A8F13010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5503" y="3468117"/>
                <a:ext cx="270000" cy="270000"/>
              </a:xfrm>
              <a:prstGeom prst="rect">
                <a:avLst/>
              </a:prstGeom>
            </p:spPr>
          </p:pic>
          <p:pic>
            <p:nvPicPr>
              <p:cNvPr id="46" name="Graphic 45">
                <a:extLst>
                  <a:ext uri="{FF2B5EF4-FFF2-40B4-BE49-F238E27FC236}">
                    <a16:creationId xmlns:a16="http://schemas.microsoft.com/office/drawing/2014/main" id="{7F02C86D-876F-2699-7F10-541322634E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6137" y="3938213"/>
                <a:ext cx="270000" cy="270000"/>
              </a:xfrm>
              <a:prstGeom prst="rect">
                <a:avLst/>
              </a:prstGeom>
            </p:spPr>
          </p:pic>
          <p:pic>
            <p:nvPicPr>
              <p:cNvPr id="47" name="Graphic 46">
                <a:extLst>
                  <a:ext uri="{FF2B5EF4-FFF2-40B4-BE49-F238E27FC236}">
                    <a16:creationId xmlns:a16="http://schemas.microsoft.com/office/drawing/2014/main" id="{9610ACDE-BF82-FF17-5CB8-720A7C2CA6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1961" y="4379349"/>
                <a:ext cx="270000" cy="270000"/>
              </a:xfrm>
              <a:prstGeom prst="rect">
                <a:avLst/>
              </a:prstGeom>
            </p:spPr>
          </p:pic>
          <p:pic>
            <p:nvPicPr>
              <p:cNvPr id="48" name="Graphic 47">
                <a:extLst>
                  <a:ext uri="{FF2B5EF4-FFF2-40B4-BE49-F238E27FC236}">
                    <a16:creationId xmlns:a16="http://schemas.microsoft.com/office/drawing/2014/main" id="{3DD2085D-0957-A4CF-5539-8D6FB35B542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7393" y="4834884"/>
                <a:ext cx="270000" cy="270000"/>
              </a:xfrm>
              <a:prstGeom prst="rect">
                <a:avLst/>
              </a:prstGeom>
            </p:spPr>
          </p:pic>
        </p:grpSp>
      </p:grpSp>
      <p:sp>
        <p:nvSpPr>
          <p:cNvPr id="2" name="Rectangle: Rounded Corners 3">
            <a:extLst>
              <a:ext uri="{FF2B5EF4-FFF2-40B4-BE49-F238E27FC236}">
                <a16:creationId xmlns:a16="http://schemas.microsoft.com/office/drawing/2014/main" id="{F540B4AA-BC76-1794-7582-D6EF2BAD48E0}"/>
              </a:ext>
            </a:extLst>
          </p:cNvPr>
          <p:cNvSpPr/>
          <p:nvPr/>
        </p:nvSpPr>
        <p:spPr bwMode="auto">
          <a:xfrm flipH="1">
            <a:off x="3575820" y="2588550"/>
            <a:ext cx="1028445" cy="620602"/>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428496" eaLnBrk="0" fontAlgn="base" hangingPunct="0">
              <a:spcBef>
                <a:spcPct val="0"/>
              </a:spcBef>
              <a:spcAft>
                <a:spcPct val="0"/>
              </a:spcAft>
            </a:pPr>
            <a:r>
              <a:rPr lang="en-GB" sz="1100">
                <a:solidFill>
                  <a:schemeClr val="bg1"/>
                </a:solidFill>
                <a:latin typeface="72 Brand Medium" panose="020B0504030603020204" pitchFamily="34" charset="0"/>
                <a:cs typeface="72" panose="020B0503030000000003" pitchFamily="34" charset="0"/>
              </a:rPr>
              <a:t>Prompt</a:t>
            </a:r>
            <a:endParaRPr lang="en-GB" sz="1600">
              <a:solidFill>
                <a:schemeClr val="bg1"/>
              </a:solidFill>
              <a:latin typeface="72 Brand Medium" panose="020B0504030603020204" pitchFamily="34" charset="0"/>
              <a:cs typeface="72" panose="020B0503030000000003" pitchFamily="34" charset="0"/>
            </a:endParaRPr>
          </a:p>
        </p:txBody>
      </p:sp>
      <p:sp>
        <p:nvSpPr>
          <p:cNvPr id="76" name="Rectangle: Rounded Corners 3">
            <a:extLst>
              <a:ext uri="{FF2B5EF4-FFF2-40B4-BE49-F238E27FC236}">
                <a16:creationId xmlns:a16="http://schemas.microsoft.com/office/drawing/2014/main" id="{CB77236C-F5E6-CFA5-CF6D-073ACF2C322A}"/>
              </a:ext>
            </a:extLst>
          </p:cNvPr>
          <p:cNvSpPr/>
          <p:nvPr/>
        </p:nvSpPr>
        <p:spPr bwMode="auto">
          <a:xfrm flipH="1">
            <a:off x="6388561" y="2763932"/>
            <a:ext cx="571790"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grpSp>
        <p:nvGrpSpPr>
          <p:cNvPr id="88" name="Group 87">
            <a:extLst>
              <a:ext uri="{FF2B5EF4-FFF2-40B4-BE49-F238E27FC236}">
                <a16:creationId xmlns:a16="http://schemas.microsoft.com/office/drawing/2014/main" id="{483001EC-A338-9A18-DED7-5BD9045BB471}"/>
              </a:ext>
            </a:extLst>
          </p:cNvPr>
          <p:cNvGrpSpPr/>
          <p:nvPr/>
        </p:nvGrpSpPr>
        <p:grpSpPr>
          <a:xfrm>
            <a:off x="5069534" y="2727510"/>
            <a:ext cx="662844" cy="343508"/>
            <a:chOff x="6306419" y="2699831"/>
            <a:chExt cx="662844" cy="343508"/>
          </a:xfrm>
        </p:grpSpPr>
        <p:sp>
          <p:nvSpPr>
            <p:cNvPr id="89" name="Rectangle: Rounded Corners 3">
              <a:extLst>
                <a:ext uri="{FF2B5EF4-FFF2-40B4-BE49-F238E27FC236}">
                  <a16:creationId xmlns:a16="http://schemas.microsoft.com/office/drawing/2014/main" id="{DBBFA62B-F5BE-226D-B7B7-A62A67242BCE}"/>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90" name="Rectangle 89">
              <a:extLst>
                <a:ext uri="{FF2B5EF4-FFF2-40B4-BE49-F238E27FC236}">
                  <a16:creationId xmlns:a16="http://schemas.microsoft.com/office/drawing/2014/main" id="{3F12085A-41E8-47E9-5378-F6EDDE86A02B}"/>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kern="0">
                  <a:solidFill>
                    <a:srgbClr val="7030A0"/>
                  </a:solidFill>
                  <a:latin typeface="72 Brand Medium" panose="020B0504030603020204" pitchFamily="34" charset="0"/>
                  <a:ea typeface="Arial Unicode MS"/>
                  <a:cs typeface="Arial"/>
                </a:rPr>
                <a:t>Chat Model</a:t>
              </a:r>
            </a:p>
          </p:txBody>
        </p:sp>
        <p:sp>
          <p:nvSpPr>
            <p:cNvPr id="91" name="Rectangle 90">
              <a:extLst>
                <a:ext uri="{FF2B5EF4-FFF2-40B4-BE49-F238E27FC236}">
                  <a16:creationId xmlns:a16="http://schemas.microsoft.com/office/drawing/2014/main" id="{764906A4-5B37-35EA-6DB4-36A639EAC319}"/>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err="1">
                  <a:solidFill>
                    <a:schemeClr val="tx1"/>
                  </a:solidFill>
                  <a:latin typeface="72 Brand Light" panose="020B0304030603020204" pitchFamily="34" charset="0"/>
                  <a:ea typeface="Arial Unicode MS"/>
                  <a:cs typeface="Arial"/>
                </a:rPr>
                <a:t>GenAI</a:t>
              </a:r>
              <a:r>
                <a:rPr lang="en-US" sz="600" kern="0">
                  <a:solidFill>
                    <a:schemeClr val="tx1"/>
                  </a:solidFill>
                  <a:latin typeface="72 Brand Light" panose="020B0304030603020204" pitchFamily="34" charset="0"/>
                  <a:ea typeface="Arial Unicode MS"/>
                  <a:cs typeface="Arial"/>
                </a:rPr>
                <a:t> Hub</a:t>
              </a:r>
            </a:p>
          </p:txBody>
        </p:sp>
      </p:grpSp>
      <p:grpSp>
        <p:nvGrpSpPr>
          <p:cNvPr id="113" name="Group 112">
            <a:extLst>
              <a:ext uri="{FF2B5EF4-FFF2-40B4-BE49-F238E27FC236}">
                <a16:creationId xmlns:a16="http://schemas.microsoft.com/office/drawing/2014/main" id="{1A87D17F-F799-5272-B399-C77324ACB9A2}"/>
              </a:ext>
            </a:extLst>
          </p:cNvPr>
          <p:cNvGrpSpPr/>
          <p:nvPr/>
        </p:nvGrpSpPr>
        <p:grpSpPr>
          <a:xfrm>
            <a:off x="5068800" y="3499830"/>
            <a:ext cx="662844" cy="343508"/>
            <a:chOff x="6306419" y="2699831"/>
            <a:chExt cx="662844" cy="343508"/>
          </a:xfrm>
        </p:grpSpPr>
        <p:sp>
          <p:nvSpPr>
            <p:cNvPr id="114" name="Rectangle: Rounded Corners 3">
              <a:extLst>
                <a:ext uri="{FF2B5EF4-FFF2-40B4-BE49-F238E27FC236}">
                  <a16:creationId xmlns:a16="http://schemas.microsoft.com/office/drawing/2014/main" id="{E8860CFA-56A0-6A7D-3E36-777323D5853B}"/>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16" name="Rectangle 115">
              <a:extLst>
                <a:ext uri="{FF2B5EF4-FFF2-40B4-BE49-F238E27FC236}">
                  <a16:creationId xmlns:a16="http://schemas.microsoft.com/office/drawing/2014/main" id="{70F8E536-0A6D-9EA1-5E98-1453BA4A3719}"/>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kern="0">
                  <a:solidFill>
                    <a:srgbClr val="7030A0"/>
                  </a:solidFill>
                  <a:latin typeface="72 Brand Medium" panose="020B0504030603020204" pitchFamily="34" charset="0"/>
                  <a:ea typeface="Arial Unicode MS"/>
                  <a:cs typeface="Arial"/>
                </a:rPr>
                <a:t>Chat Model</a:t>
              </a:r>
            </a:p>
          </p:txBody>
        </p:sp>
        <p:sp>
          <p:nvSpPr>
            <p:cNvPr id="119" name="Rectangle 118">
              <a:extLst>
                <a:ext uri="{FF2B5EF4-FFF2-40B4-BE49-F238E27FC236}">
                  <a16:creationId xmlns:a16="http://schemas.microsoft.com/office/drawing/2014/main" id="{825F6F99-D0FD-2160-3F78-F81D0FB0E960}"/>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err="1">
                  <a:solidFill>
                    <a:schemeClr val="tx1"/>
                  </a:solidFill>
                  <a:latin typeface="72 Brand Light" panose="020B0304030603020204" pitchFamily="34" charset="0"/>
                  <a:ea typeface="Arial Unicode MS"/>
                  <a:cs typeface="Arial"/>
                </a:rPr>
                <a:t>GenAI</a:t>
              </a:r>
              <a:r>
                <a:rPr lang="en-US" sz="600" kern="0">
                  <a:solidFill>
                    <a:schemeClr val="tx1"/>
                  </a:solidFill>
                  <a:latin typeface="72 Brand Light" panose="020B0304030603020204" pitchFamily="34" charset="0"/>
                  <a:ea typeface="Arial Unicode MS"/>
                  <a:cs typeface="Arial"/>
                </a:rPr>
                <a:t> Hub</a:t>
              </a:r>
            </a:p>
          </p:txBody>
        </p:sp>
      </p:grpSp>
      <p:grpSp>
        <p:nvGrpSpPr>
          <p:cNvPr id="123" name="Group 122">
            <a:extLst>
              <a:ext uri="{FF2B5EF4-FFF2-40B4-BE49-F238E27FC236}">
                <a16:creationId xmlns:a16="http://schemas.microsoft.com/office/drawing/2014/main" id="{9CA51CF5-5E0F-0DA3-76DC-41FA67386DA3}"/>
              </a:ext>
            </a:extLst>
          </p:cNvPr>
          <p:cNvGrpSpPr/>
          <p:nvPr/>
        </p:nvGrpSpPr>
        <p:grpSpPr>
          <a:xfrm>
            <a:off x="5068800" y="4321563"/>
            <a:ext cx="662844" cy="343508"/>
            <a:chOff x="6306419" y="2699831"/>
            <a:chExt cx="662844" cy="343508"/>
          </a:xfrm>
        </p:grpSpPr>
        <p:sp>
          <p:nvSpPr>
            <p:cNvPr id="124" name="Rectangle: Rounded Corners 3">
              <a:extLst>
                <a:ext uri="{FF2B5EF4-FFF2-40B4-BE49-F238E27FC236}">
                  <a16:creationId xmlns:a16="http://schemas.microsoft.com/office/drawing/2014/main" id="{350AE517-246B-E52D-2E15-55236A7C1783}"/>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25" name="Rectangle 124">
              <a:extLst>
                <a:ext uri="{FF2B5EF4-FFF2-40B4-BE49-F238E27FC236}">
                  <a16:creationId xmlns:a16="http://schemas.microsoft.com/office/drawing/2014/main" id="{AAB8B6B1-7F22-F801-9818-2B6AD578CD05}"/>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kern="0">
                  <a:solidFill>
                    <a:srgbClr val="7030A0"/>
                  </a:solidFill>
                  <a:latin typeface="72 Brand Medium" panose="020B0504030603020204" pitchFamily="34" charset="0"/>
                  <a:ea typeface="Arial Unicode MS"/>
                  <a:cs typeface="Arial"/>
                </a:rPr>
                <a:t>Chat Model</a:t>
              </a:r>
            </a:p>
          </p:txBody>
        </p:sp>
        <p:sp>
          <p:nvSpPr>
            <p:cNvPr id="126" name="Rectangle 125">
              <a:extLst>
                <a:ext uri="{FF2B5EF4-FFF2-40B4-BE49-F238E27FC236}">
                  <a16:creationId xmlns:a16="http://schemas.microsoft.com/office/drawing/2014/main" id="{00C325CA-FEDB-68FA-33DA-6E2350288703}"/>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err="1">
                  <a:solidFill>
                    <a:schemeClr val="tx1"/>
                  </a:solidFill>
                  <a:latin typeface="72 Brand Light" panose="020B0304030603020204" pitchFamily="34" charset="0"/>
                  <a:ea typeface="Arial Unicode MS"/>
                  <a:cs typeface="Arial"/>
                </a:rPr>
                <a:t>GenAI</a:t>
              </a:r>
              <a:r>
                <a:rPr lang="en-US" sz="600" kern="0">
                  <a:solidFill>
                    <a:schemeClr val="tx1"/>
                  </a:solidFill>
                  <a:latin typeface="72 Brand Light" panose="020B0304030603020204" pitchFamily="34" charset="0"/>
                  <a:ea typeface="Arial Unicode MS"/>
                  <a:cs typeface="Arial"/>
                </a:rPr>
                <a:t> Hub</a:t>
              </a:r>
            </a:p>
          </p:txBody>
        </p:sp>
      </p:grpSp>
      <p:grpSp>
        <p:nvGrpSpPr>
          <p:cNvPr id="130" name="Group 129">
            <a:extLst>
              <a:ext uri="{FF2B5EF4-FFF2-40B4-BE49-F238E27FC236}">
                <a16:creationId xmlns:a16="http://schemas.microsoft.com/office/drawing/2014/main" id="{4C7738C3-4D7C-3BD8-06AF-D2293FEBE885}"/>
              </a:ext>
            </a:extLst>
          </p:cNvPr>
          <p:cNvGrpSpPr/>
          <p:nvPr/>
        </p:nvGrpSpPr>
        <p:grpSpPr>
          <a:xfrm>
            <a:off x="5068800" y="5046583"/>
            <a:ext cx="662844" cy="343508"/>
            <a:chOff x="6306419" y="2699831"/>
            <a:chExt cx="662844" cy="343508"/>
          </a:xfrm>
        </p:grpSpPr>
        <p:sp>
          <p:nvSpPr>
            <p:cNvPr id="131" name="Rectangle: Rounded Corners 3">
              <a:extLst>
                <a:ext uri="{FF2B5EF4-FFF2-40B4-BE49-F238E27FC236}">
                  <a16:creationId xmlns:a16="http://schemas.microsoft.com/office/drawing/2014/main" id="{58E7AA97-A43B-C166-AE4F-58D9852DDC3F}"/>
                </a:ext>
              </a:extLst>
            </p:cNvPr>
            <p:cNvSpPr/>
            <p:nvPr/>
          </p:nvSpPr>
          <p:spPr bwMode="auto">
            <a:xfrm flipH="1">
              <a:off x="6306419" y="2699831"/>
              <a:ext cx="662844" cy="343508"/>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pPr>
              <a:endParaRPr lang="en-GB" sz="1600">
                <a:solidFill>
                  <a:srgbClr val="00144A"/>
                </a:solidFill>
                <a:latin typeface="72" panose="020B0503030000000003" pitchFamily="34" charset="0"/>
                <a:cs typeface="72" panose="020B0503030000000003" pitchFamily="34" charset="0"/>
              </a:endParaRPr>
            </a:p>
          </p:txBody>
        </p:sp>
        <p:sp>
          <p:nvSpPr>
            <p:cNvPr id="132" name="Rectangle 131">
              <a:extLst>
                <a:ext uri="{FF2B5EF4-FFF2-40B4-BE49-F238E27FC236}">
                  <a16:creationId xmlns:a16="http://schemas.microsoft.com/office/drawing/2014/main" id="{2D51916F-1AAC-C7E9-8802-5B52F0CF051F}"/>
                </a:ext>
              </a:extLst>
            </p:cNvPr>
            <p:cNvSpPr/>
            <p:nvPr/>
          </p:nvSpPr>
          <p:spPr bwMode="auto">
            <a:xfrm>
              <a:off x="6343870" y="2786050"/>
              <a:ext cx="565354" cy="1077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700" kern="0">
                  <a:solidFill>
                    <a:srgbClr val="7030A0"/>
                  </a:solidFill>
                  <a:latin typeface="72 Brand Medium" panose="020B0504030603020204" pitchFamily="34" charset="0"/>
                  <a:ea typeface="Arial Unicode MS"/>
                  <a:cs typeface="Arial"/>
                </a:rPr>
                <a:t>Chat Model</a:t>
              </a:r>
            </a:p>
          </p:txBody>
        </p:sp>
        <p:sp>
          <p:nvSpPr>
            <p:cNvPr id="133" name="Rectangle 132">
              <a:extLst>
                <a:ext uri="{FF2B5EF4-FFF2-40B4-BE49-F238E27FC236}">
                  <a16:creationId xmlns:a16="http://schemas.microsoft.com/office/drawing/2014/main" id="{A1CDC1FC-4C90-1070-3EF5-68D8562DA15F}"/>
                </a:ext>
              </a:extLst>
            </p:cNvPr>
            <p:cNvSpPr/>
            <p:nvPr/>
          </p:nvSpPr>
          <p:spPr bwMode="auto">
            <a:xfrm>
              <a:off x="6337944" y="2893234"/>
              <a:ext cx="565354" cy="92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088449">
                <a:defRPr/>
              </a:pPr>
              <a:r>
                <a:rPr lang="en-US" sz="600" kern="0" err="1">
                  <a:solidFill>
                    <a:schemeClr val="tx1"/>
                  </a:solidFill>
                  <a:latin typeface="72 Brand Light" panose="020B0304030603020204" pitchFamily="34" charset="0"/>
                  <a:ea typeface="Arial Unicode MS"/>
                  <a:cs typeface="Arial"/>
                </a:rPr>
                <a:t>GenAI</a:t>
              </a:r>
              <a:r>
                <a:rPr lang="en-US" sz="600" kern="0">
                  <a:solidFill>
                    <a:schemeClr val="tx1"/>
                  </a:solidFill>
                  <a:latin typeface="72 Brand Light" panose="020B0304030603020204" pitchFamily="34" charset="0"/>
                  <a:ea typeface="Arial Unicode MS"/>
                  <a:cs typeface="Arial"/>
                </a:rPr>
                <a:t> Hub</a:t>
              </a:r>
            </a:p>
          </p:txBody>
        </p:sp>
      </p:grpSp>
      <p:cxnSp>
        <p:nvCxnSpPr>
          <p:cNvPr id="134" name="Straight Arrow Connector 133">
            <a:extLst>
              <a:ext uri="{FF2B5EF4-FFF2-40B4-BE49-F238E27FC236}">
                <a16:creationId xmlns:a16="http://schemas.microsoft.com/office/drawing/2014/main" id="{FE69F7DC-4BA1-9A38-DB07-30ABEB5C11E7}"/>
              </a:ext>
            </a:extLst>
          </p:cNvPr>
          <p:cNvCxnSpPr>
            <a:cxnSpLocks/>
            <a:endCxn id="21" idx="3"/>
          </p:cNvCxnSpPr>
          <p:nvPr/>
        </p:nvCxnSpPr>
        <p:spPr>
          <a:xfrm>
            <a:off x="1477630" y="3932591"/>
            <a:ext cx="193649" cy="0"/>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cxnSp>
        <p:nvCxnSpPr>
          <p:cNvPr id="138" name="Straight Arrow Connector 137">
            <a:extLst>
              <a:ext uri="{FF2B5EF4-FFF2-40B4-BE49-F238E27FC236}">
                <a16:creationId xmlns:a16="http://schemas.microsoft.com/office/drawing/2014/main" id="{2A5620F7-F9CD-F40B-15DC-A6DF32051569}"/>
              </a:ext>
            </a:extLst>
          </p:cNvPr>
          <p:cNvCxnSpPr>
            <a:cxnSpLocks/>
            <a:stCxn id="21" idx="1"/>
            <a:endCxn id="13" idx="3"/>
          </p:cNvCxnSpPr>
          <p:nvPr/>
        </p:nvCxnSpPr>
        <p:spPr>
          <a:xfrm flipV="1">
            <a:off x="2312276" y="2896106"/>
            <a:ext cx="498235" cy="1036485"/>
          </a:xfrm>
          <a:prstGeom prst="bentConnector3">
            <a:avLst>
              <a:gd name="adj1" fmla="val 50000"/>
            </a:avLst>
          </a:prstGeom>
          <a:ln w="6350">
            <a:solidFill>
              <a:schemeClr val="bg1"/>
            </a:solidFill>
            <a:tailEnd type="triangle" w="sm" len="sm"/>
          </a:ln>
        </p:spPr>
        <p:style>
          <a:lnRef idx="2">
            <a:schemeClr val="dk1"/>
          </a:lnRef>
          <a:fillRef idx="0">
            <a:schemeClr val="dk1"/>
          </a:fillRef>
          <a:effectRef idx="1">
            <a:schemeClr val="dk1"/>
          </a:effectRef>
          <a:fontRef idx="minor">
            <a:schemeClr val="tx1"/>
          </a:fontRef>
        </p:style>
      </p:cxnSp>
      <p:cxnSp>
        <p:nvCxnSpPr>
          <p:cNvPr id="141" name="Straight Arrow Connector 140">
            <a:extLst>
              <a:ext uri="{FF2B5EF4-FFF2-40B4-BE49-F238E27FC236}">
                <a16:creationId xmlns:a16="http://schemas.microsoft.com/office/drawing/2014/main" id="{2C8937B8-8562-D05D-13BC-F1F594478A06}"/>
              </a:ext>
            </a:extLst>
          </p:cNvPr>
          <p:cNvCxnSpPr>
            <a:cxnSpLocks/>
            <a:stCxn id="21" idx="1"/>
            <a:endCxn id="33" idx="3"/>
          </p:cNvCxnSpPr>
          <p:nvPr/>
        </p:nvCxnSpPr>
        <p:spPr>
          <a:xfrm flipV="1">
            <a:off x="2312276" y="3667110"/>
            <a:ext cx="498235" cy="265481"/>
          </a:xfrm>
          <a:prstGeom prst="bentConnector3">
            <a:avLst>
              <a:gd name="adj1" fmla="val 50000"/>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15"/>
                      <a:stretch>
                        <a:fillRect/>
                      </a:stretch>
                    </p:blipFill>
                    <p:spPr>
                      <a:xfrm>
                        <a:off x="1588" y="2480"/>
                        <a:ext cx="1227" cy="1588"/>
                      </a:xfrm>
                      <a:prstGeom prst="rect">
                        <a:avLst/>
                      </a:prstGeom>
                    </p:spPr>
                  </p:pic>
                </p:oleObj>
              </mc:Fallback>
            </mc:AlternateContent>
          </a:graphicData>
        </a:graphic>
      </p:graphicFrame>
      <p:cxnSp>
        <p:nvCxnSpPr>
          <p:cNvPr id="144" name="Straight Arrow Connector 143">
            <a:extLst>
              <a:ext uri="{FF2B5EF4-FFF2-40B4-BE49-F238E27FC236}">
                <a16:creationId xmlns:a16="http://schemas.microsoft.com/office/drawing/2014/main" id="{849503E7-D581-1C95-A42A-08DA61648A87}"/>
              </a:ext>
            </a:extLst>
          </p:cNvPr>
          <p:cNvCxnSpPr>
            <a:cxnSpLocks/>
            <a:stCxn id="21" idx="1"/>
            <a:endCxn id="64" idx="3"/>
          </p:cNvCxnSpPr>
          <p:nvPr/>
        </p:nvCxnSpPr>
        <p:spPr>
          <a:xfrm>
            <a:off x="2312276" y="3932591"/>
            <a:ext cx="499324" cy="557478"/>
          </a:xfrm>
          <a:prstGeom prst="bentConnector3">
            <a:avLst>
              <a:gd name="adj1" fmla="val 50000"/>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16" name="Rectangle: Rounded Corners 3">
            <a:extLst>
              <a:ext uri="{FF2B5EF4-FFF2-40B4-BE49-F238E27FC236}">
                <a16:creationId xmlns:a16="http://schemas.microsoft.com/office/drawing/2014/main" id="{B97DC528-649C-22EF-7B75-1205E783BF6E}"/>
              </a:ext>
            </a:extLst>
          </p:cNvPr>
          <p:cNvSpPr/>
          <p:nvPr/>
        </p:nvSpPr>
        <p:spPr bwMode="auto">
          <a:xfrm flipH="1">
            <a:off x="3840546" y="2892127"/>
            <a:ext cx="498994" cy="282305"/>
          </a:xfrm>
          <a:prstGeom prst="roundRect">
            <a:avLst>
              <a:gd name="adj" fmla="val 2588"/>
            </a:avLst>
          </a:prstGeom>
          <a:solidFill>
            <a:srgbClr val="FEADC8"/>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Chunk-1</a:t>
            </a:r>
          </a:p>
        </p:txBody>
      </p:sp>
      <p:cxnSp>
        <p:nvCxnSpPr>
          <p:cNvPr id="147" name="Straight Arrow Connector 146">
            <a:extLst>
              <a:ext uri="{FF2B5EF4-FFF2-40B4-BE49-F238E27FC236}">
                <a16:creationId xmlns:a16="http://schemas.microsoft.com/office/drawing/2014/main" id="{90518061-87E1-4CA5-DD5E-58A06C878DDE}"/>
              </a:ext>
            </a:extLst>
          </p:cNvPr>
          <p:cNvCxnSpPr>
            <a:cxnSpLocks/>
            <a:stCxn id="21" idx="1"/>
            <a:endCxn id="65" idx="3"/>
          </p:cNvCxnSpPr>
          <p:nvPr/>
        </p:nvCxnSpPr>
        <p:spPr>
          <a:xfrm>
            <a:off x="2312276" y="3932591"/>
            <a:ext cx="504563" cy="1283456"/>
          </a:xfrm>
          <a:prstGeom prst="bentConnector3">
            <a:avLst>
              <a:gd name="adj1" fmla="val 50000"/>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33" name="Rectangle: Rounded Corners 3">
            <a:extLst>
              <a:ext uri="{FF2B5EF4-FFF2-40B4-BE49-F238E27FC236}">
                <a16:creationId xmlns:a16="http://schemas.microsoft.com/office/drawing/2014/main" id="{88FAC55E-E5BD-73BF-1AE2-666BB692E745}"/>
              </a:ext>
            </a:extLst>
          </p:cNvPr>
          <p:cNvSpPr/>
          <p:nvPr/>
        </p:nvSpPr>
        <p:spPr bwMode="auto">
          <a:xfrm flipH="1">
            <a:off x="2810511" y="3525957"/>
            <a:ext cx="498994" cy="282305"/>
          </a:xfrm>
          <a:prstGeom prst="roundRect">
            <a:avLst>
              <a:gd name="adj" fmla="val 2588"/>
            </a:avLst>
          </a:prstGeom>
          <a:solidFill>
            <a:srgbClr val="FFF3B8"/>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ctr" anchorCtr="0" forceAA="0" compatLnSpc="1">
            <a:prstTxWarp prst="textNoShape">
              <a:avLst/>
            </a:prstTxWarp>
            <a:noAutofit/>
          </a:bodyPr>
          <a:lstStyle/>
          <a:p>
            <a:pP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Chunk-2</a:t>
            </a:r>
          </a:p>
        </p:txBody>
      </p:sp>
      <p:cxnSp>
        <p:nvCxnSpPr>
          <p:cNvPr id="150" name="Straight Arrow Connector 149">
            <a:extLst>
              <a:ext uri="{FF2B5EF4-FFF2-40B4-BE49-F238E27FC236}">
                <a16:creationId xmlns:a16="http://schemas.microsoft.com/office/drawing/2014/main" id="{7BE7DD39-BA87-856B-3017-3E9F3A6437E5}"/>
              </a:ext>
            </a:extLst>
          </p:cNvPr>
          <p:cNvCxnSpPr>
            <a:cxnSpLocks/>
            <a:stCxn id="13" idx="1"/>
            <a:endCxn id="2" idx="3"/>
          </p:cNvCxnSpPr>
          <p:nvPr/>
        </p:nvCxnSpPr>
        <p:spPr>
          <a:xfrm>
            <a:off x="3309505" y="2896106"/>
            <a:ext cx="266315" cy="2745"/>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37" name="Rectangle: Rounded Corners 3">
            <a:extLst>
              <a:ext uri="{FF2B5EF4-FFF2-40B4-BE49-F238E27FC236}">
                <a16:creationId xmlns:a16="http://schemas.microsoft.com/office/drawing/2014/main" id="{64BAAC4F-373A-1359-18A1-2CB65C0EA94A}"/>
              </a:ext>
            </a:extLst>
          </p:cNvPr>
          <p:cNvSpPr/>
          <p:nvPr/>
        </p:nvSpPr>
        <p:spPr bwMode="auto">
          <a:xfrm flipH="1">
            <a:off x="3575820" y="3358942"/>
            <a:ext cx="1009422" cy="620602"/>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428496" eaLnBrk="0" fontAlgn="base" hangingPunct="0">
              <a:spcBef>
                <a:spcPct val="0"/>
              </a:spcBef>
              <a:spcAft>
                <a:spcPct val="0"/>
              </a:spcAft>
            </a:pPr>
            <a:r>
              <a:rPr lang="en-GB" sz="1100">
                <a:solidFill>
                  <a:schemeClr val="bg1"/>
                </a:solidFill>
                <a:latin typeface="72 Brand Medium" panose="020B0504030603020204" pitchFamily="34" charset="0"/>
                <a:cs typeface="72" panose="020B0503030000000003" pitchFamily="34" charset="0"/>
              </a:rPr>
              <a:t>Prompt</a:t>
            </a:r>
            <a:endParaRPr lang="en-GB" sz="1600">
              <a:solidFill>
                <a:schemeClr val="bg1"/>
              </a:solidFill>
              <a:latin typeface="72 Brand Medium" panose="020B0504030603020204" pitchFamily="34" charset="0"/>
              <a:cs typeface="72" panose="020B0503030000000003" pitchFamily="34" charset="0"/>
            </a:endParaRPr>
          </a:p>
        </p:txBody>
      </p:sp>
      <p:cxnSp>
        <p:nvCxnSpPr>
          <p:cNvPr id="153" name="Straight Arrow Connector 152">
            <a:extLst>
              <a:ext uri="{FF2B5EF4-FFF2-40B4-BE49-F238E27FC236}">
                <a16:creationId xmlns:a16="http://schemas.microsoft.com/office/drawing/2014/main" id="{89F3C246-2C6C-47AD-D935-DF16051604CC}"/>
              </a:ext>
            </a:extLst>
          </p:cNvPr>
          <p:cNvCxnSpPr>
            <a:cxnSpLocks/>
            <a:stCxn id="2" idx="1"/>
            <a:endCxn id="89" idx="3"/>
          </p:cNvCxnSpPr>
          <p:nvPr/>
        </p:nvCxnSpPr>
        <p:spPr>
          <a:xfrm>
            <a:off x="4604265" y="2898851"/>
            <a:ext cx="465269" cy="413"/>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64" name="Rectangle: Rounded Corners 3">
            <a:extLst>
              <a:ext uri="{FF2B5EF4-FFF2-40B4-BE49-F238E27FC236}">
                <a16:creationId xmlns:a16="http://schemas.microsoft.com/office/drawing/2014/main" id="{1C89FE85-040B-5A43-C8E9-7C1C873BFDB9}"/>
              </a:ext>
            </a:extLst>
          </p:cNvPr>
          <p:cNvSpPr/>
          <p:nvPr/>
        </p:nvSpPr>
        <p:spPr bwMode="auto">
          <a:xfrm flipH="1">
            <a:off x="2811600" y="4348916"/>
            <a:ext cx="498994" cy="282305"/>
          </a:xfrm>
          <a:prstGeom prst="roundRect">
            <a:avLst>
              <a:gd name="adj" fmla="val 2588"/>
            </a:avLst>
          </a:prstGeom>
          <a:solidFill>
            <a:srgbClr val="C2FCEE"/>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ctr" anchorCtr="0" forceAA="0" compatLnSpc="1">
            <a:prstTxWarp prst="textNoShape">
              <a:avLst/>
            </a:prstTxWarp>
            <a:noAutofit/>
          </a:bodyPr>
          <a:lstStyle/>
          <a:p>
            <a:pP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Chunk-3</a:t>
            </a:r>
          </a:p>
        </p:txBody>
      </p:sp>
      <p:cxnSp>
        <p:nvCxnSpPr>
          <p:cNvPr id="156" name="Straight Arrow Connector 155">
            <a:extLst>
              <a:ext uri="{FF2B5EF4-FFF2-40B4-BE49-F238E27FC236}">
                <a16:creationId xmlns:a16="http://schemas.microsoft.com/office/drawing/2014/main" id="{B0786904-5D51-450C-D5CC-706DF2AFFB96}"/>
              </a:ext>
            </a:extLst>
          </p:cNvPr>
          <p:cNvCxnSpPr>
            <a:cxnSpLocks/>
            <a:stCxn id="89" idx="1"/>
            <a:endCxn id="76" idx="3"/>
          </p:cNvCxnSpPr>
          <p:nvPr/>
        </p:nvCxnSpPr>
        <p:spPr>
          <a:xfrm>
            <a:off x="5732378" y="2899264"/>
            <a:ext cx="656183" cy="0"/>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65" name="Rectangle: Rounded Corners 3">
            <a:extLst>
              <a:ext uri="{FF2B5EF4-FFF2-40B4-BE49-F238E27FC236}">
                <a16:creationId xmlns:a16="http://schemas.microsoft.com/office/drawing/2014/main" id="{FE472A27-AF89-BCA0-D39C-80866D16B261}"/>
              </a:ext>
            </a:extLst>
          </p:cNvPr>
          <p:cNvSpPr/>
          <p:nvPr/>
        </p:nvSpPr>
        <p:spPr bwMode="auto">
          <a:xfrm flipH="1">
            <a:off x="2816839" y="5074894"/>
            <a:ext cx="498994" cy="282305"/>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ctr" anchorCtr="0" forceAA="0" compatLnSpc="1">
            <a:prstTxWarp prst="textNoShape">
              <a:avLst/>
            </a:prstTxWarp>
            <a:noAutofit/>
          </a:bodyPr>
          <a:lstStyle/>
          <a:p>
            <a:pP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Chunk-4</a:t>
            </a:r>
          </a:p>
        </p:txBody>
      </p:sp>
      <p:cxnSp>
        <p:nvCxnSpPr>
          <p:cNvPr id="159" name="Straight Arrow Connector 158">
            <a:extLst>
              <a:ext uri="{FF2B5EF4-FFF2-40B4-BE49-F238E27FC236}">
                <a16:creationId xmlns:a16="http://schemas.microsoft.com/office/drawing/2014/main" id="{EA20555D-2D99-44C0-6F93-3740E78F14F1}"/>
              </a:ext>
            </a:extLst>
          </p:cNvPr>
          <p:cNvCxnSpPr>
            <a:cxnSpLocks/>
            <a:stCxn id="76" idx="2"/>
            <a:endCxn id="37" idx="0"/>
          </p:cNvCxnSpPr>
          <p:nvPr/>
        </p:nvCxnSpPr>
        <p:spPr>
          <a:xfrm flipH="1">
            <a:off x="4080531" y="3034596"/>
            <a:ext cx="2593925" cy="324346"/>
          </a:xfrm>
          <a:prstGeom prst="straightConnector1">
            <a:avLst/>
          </a:prstGeom>
          <a:ln w="9525">
            <a:solidFill>
              <a:schemeClr val="bg1"/>
            </a:solidFill>
            <a:prstDash val="sysDot"/>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66" name="Rectangle: Rounded Corners 3">
            <a:extLst>
              <a:ext uri="{FF2B5EF4-FFF2-40B4-BE49-F238E27FC236}">
                <a16:creationId xmlns:a16="http://schemas.microsoft.com/office/drawing/2014/main" id="{6AD6E0D6-8D51-5087-3535-3E03DB6C108F}"/>
              </a:ext>
            </a:extLst>
          </p:cNvPr>
          <p:cNvSpPr/>
          <p:nvPr/>
        </p:nvSpPr>
        <p:spPr bwMode="auto">
          <a:xfrm flipH="1">
            <a:off x="3593883" y="3679952"/>
            <a:ext cx="497542" cy="282305"/>
          </a:xfrm>
          <a:prstGeom prst="roundRect">
            <a:avLst>
              <a:gd name="adj" fmla="val 2588"/>
            </a:avLst>
          </a:prstGeom>
          <a:solidFill>
            <a:srgbClr val="FFF3B8"/>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Chunk-2</a:t>
            </a:r>
          </a:p>
        </p:txBody>
      </p:sp>
      <p:cxnSp>
        <p:nvCxnSpPr>
          <p:cNvPr id="162" name="Straight Arrow Connector 161">
            <a:extLst>
              <a:ext uri="{FF2B5EF4-FFF2-40B4-BE49-F238E27FC236}">
                <a16:creationId xmlns:a16="http://schemas.microsoft.com/office/drawing/2014/main" id="{AC7F9339-83EC-218A-B9D3-3500B9862C3C}"/>
              </a:ext>
            </a:extLst>
          </p:cNvPr>
          <p:cNvCxnSpPr>
            <a:cxnSpLocks/>
            <a:stCxn id="37" idx="1"/>
            <a:endCxn id="114" idx="3"/>
          </p:cNvCxnSpPr>
          <p:nvPr/>
        </p:nvCxnSpPr>
        <p:spPr>
          <a:xfrm>
            <a:off x="4585242" y="3669243"/>
            <a:ext cx="483558" cy="2341"/>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cxnSp>
        <p:nvCxnSpPr>
          <p:cNvPr id="165" name="Straight Arrow Connector 164">
            <a:extLst>
              <a:ext uri="{FF2B5EF4-FFF2-40B4-BE49-F238E27FC236}">
                <a16:creationId xmlns:a16="http://schemas.microsoft.com/office/drawing/2014/main" id="{6A52625F-8408-8915-2AAB-771FE7CF3BFF}"/>
              </a:ext>
            </a:extLst>
          </p:cNvPr>
          <p:cNvCxnSpPr>
            <a:cxnSpLocks/>
            <a:stCxn id="114" idx="1"/>
            <a:endCxn id="70" idx="3"/>
          </p:cNvCxnSpPr>
          <p:nvPr/>
        </p:nvCxnSpPr>
        <p:spPr>
          <a:xfrm flipV="1">
            <a:off x="5731644" y="3668248"/>
            <a:ext cx="658356" cy="3336"/>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70" name="Rectangle: Rounded Corners 3">
            <a:extLst>
              <a:ext uri="{FF2B5EF4-FFF2-40B4-BE49-F238E27FC236}">
                <a16:creationId xmlns:a16="http://schemas.microsoft.com/office/drawing/2014/main" id="{22F9E719-990D-D8D9-D579-DF9A20FC47B9}"/>
              </a:ext>
            </a:extLst>
          </p:cNvPr>
          <p:cNvSpPr/>
          <p:nvPr/>
        </p:nvSpPr>
        <p:spPr bwMode="auto">
          <a:xfrm flipH="1">
            <a:off x="6390000" y="3532916"/>
            <a:ext cx="571790"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cxnSp>
        <p:nvCxnSpPr>
          <p:cNvPr id="168" name="Straight Arrow Connector 167">
            <a:extLst>
              <a:ext uri="{FF2B5EF4-FFF2-40B4-BE49-F238E27FC236}">
                <a16:creationId xmlns:a16="http://schemas.microsoft.com/office/drawing/2014/main" id="{70E368E2-0E9C-3B31-28E1-2363533B4A3F}"/>
              </a:ext>
            </a:extLst>
          </p:cNvPr>
          <p:cNvCxnSpPr>
            <a:cxnSpLocks/>
            <a:stCxn id="70" idx="2"/>
            <a:endCxn id="71" idx="0"/>
          </p:cNvCxnSpPr>
          <p:nvPr/>
        </p:nvCxnSpPr>
        <p:spPr>
          <a:xfrm flipH="1">
            <a:off x="4079511" y="3803580"/>
            <a:ext cx="2596384" cy="379152"/>
          </a:xfrm>
          <a:prstGeom prst="straightConnector1">
            <a:avLst/>
          </a:prstGeom>
          <a:ln w="9525">
            <a:solidFill>
              <a:schemeClr val="bg1"/>
            </a:solidFill>
            <a:prstDash val="sysDot"/>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71" name="Rectangle: Rounded Corners 3">
            <a:extLst>
              <a:ext uri="{FF2B5EF4-FFF2-40B4-BE49-F238E27FC236}">
                <a16:creationId xmlns:a16="http://schemas.microsoft.com/office/drawing/2014/main" id="{D7A5B21B-FE89-99CB-D3A0-EE8530CFA6E9}"/>
              </a:ext>
            </a:extLst>
          </p:cNvPr>
          <p:cNvSpPr/>
          <p:nvPr/>
        </p:nvSpPr>
        <p:spPr bwMode="auto">
          <a:xfrm flipH="1">
            <a:off x="3574800" y="4182732"/>
            <a:ext cx="1009422" cy="620602"/>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428496" eaLnBrk="0" fontAlgn="base" hangingPunct="0">
              <a:spcBef>
                <a:spcPct val="0"/>
              </a:spcBef>
              <a:spcAft>
                <a:spcPct val="0"/>
              </a:spcAft>
            </a:pPr>
            <a:r>
              <a:rPr lang="en-GB" sz="1100">
                <a:solidFill>
                  <a:schemeClr val="bg1"/>
                </a:solidFill>
                <a:latin typeface="72 Brand Medium" panose="020B0504030603020204" pitchFamily="34" charset="0"/>
                <a:cs typeface="72" panose="020B0503030000000003" pitchFamily="34" charset="0"/>
              </a:rPr>
              <a:t>Prompt</a:t>
            </a:r>
            <a:endParaRPr lang="en-GB" sz="1600">
              <a:solidFill>
                <a:schemeClr val="bg1"/>
              </a:solidFill>
              <a:latin typeface="72 Brand Medium" panose="020B0504030603020204" pitchFamily="34" charset="0"/>
              <a:cs typeface="72" panose="020B0503030000000003" pitchFamily="34" charset="0"/>
            </a:endParaRPr>
          </a:p>
        </p:txBody>
      </p:sp>
      <p:cxnSp>
        <p:nvCxnSpPr>
          <p:cNvPr id="171" name="Straight Arrow Connector 170">
            <a:extLst>
              <a:ext uri="{FF2B5EF4-FFF2-40B4-BE49-F238E27FC236}">
                <a16:creationId xmlns:a16="http://schemas.microsoft.com/office/drawing/2014/main" id="{A5165110-43FE-C012-FAEC-FF7E9237382A}"/>
              </a:ext>
            </a:extLst>
          </p:cNvPr>
          <p:cNvCxnSpPr>
            <a:cxnSpLocks/>
            <a:stCxn id="71" idx="1"/>
            <a:endCxn id="124" idx="3"/>
          </p:cNvCxnSpPr>
          <p:nvPr/>
        </p:nvCxnSpPr>
        <p:spPr>
          <a:xfrm>
            <a:off x="4584222" y="4493033"/>
            <a:ext cx="484578" cy="284"/>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72" name="Rectangle: Rounded Corners 3">
            <a:extLst>
              <a:ext uri="{FF2B5EF4-FFF2-40B4-BE49-F238E27FC236}">
                <a16:creationId xmlns:a16="http://schemas.microsoft.com/office/drawing/2014/main" id="{65ADACB4-DD87-B57D-BD93-BCC75683B6D7}"/>
              </a:ext>
            </a:extLst>
          </p:cNvPr>
          <p:cNvSpPr/>
          <p:nvPr/>
        </p:nvSpPr>
        <p:spPr bwMode="auto">
          <a:xfrm flipH="1">
            <a:off x="3592800" y="4496817"/>
            <a:ext cx="497542" cy="282305"/>
          </a:xfrm>
          <a:prstGeom prst="roundRect">
            <a:avLst>
              <a:gd name="adj" fmla="val 2588"/>
            </a:avLst>
          </a:prstGeom>
          <a:solidFill>
            <a:srgbClr val="C2FCEE"/>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Chunk-3</a:t>
            </a:r>
          </a:p>
        </p:txBody>
      </p:sp>
      <p:cxnSp>
        <p:nvCxnSpPr>
          <p:cNvPr id="174" name="Straight Arrow Connector 173">
            <a:extLst>
              <a:ext uri="{FF2B5EF4-FFF2-40B4-BE49-F238E27FC236}">
                <a16:creationId xmlns:a16="http://schemas.microsoft.com/office/drawing/2014/main" id="{7D9A776C-BD6D-DFE2-2991-B748157591DE}"/>
              </a:ext>
            </a:extLst>
          </p:cNvPr>
          <p:cNvCxnSpPr>
            <a:cxnSpLocks/>
            <a:stCxn id="124" idx="1"/>
            <a:endCxn id="100" idx="3"/>
          </p:cNvCxnSpPr>
          <p:nvPr/>
        </p:nvCxnSpPr>
        <p:spPr>
          <a:xfrm flipV="1">
            <a:off x="5731644" y="4486793"/>
            <a:ext cx="658356" cy="6524"/>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79" name="Rectangle: Rounded Corners 3">
            <a:extLst>
              <a:ext uri="{FF2B5EF4-FFF2-40B4-BE49-F238E27FC236}">
                <a16:creationId xmlns:a16="http://schemas.microsoft.com/office/drawing/2014/main" id="{BF4BB81D-5967-7A8F-796A-50F4E710BF4E}"/>
              </a:ext>
            </a:extLst>
          </p:cNvPr>
          <p:cNvSpPr/>
          <p:nvPr/>
        </p:nvSpPr>
        <p:spPr bwMode="auto">
          <a:xfrm flipH="1">
            <a:off x="4111200" y="4499872"/>
            <a:ext cx="458583"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cxnSp>
        <p:nvCxnSpPr>
          <p:cNvPr id="178" name="Straight Arrow Connector 177">
            <a:extLst>
              <a:ext uri="{FF2B5EF4-FFF2-40B4-BE49-F238E27FC236}">
                <a16:creationId xmlns:a16="http://schemas.microsoft.com/office/drawing/2014/main" id="{4B367C67-A058-0298-95C2-AFA5681F19CB}"/>
              </a:ext>
            </a:extLst>
          </p:cNvPr>
          <p:cNvCxnSpPr>
            <a:cxnSpLocks/>
            <a:stCxn id="100" idx="2"/>
            <a:endCxn id="80" idx="0"/>
          </p:cNvCxnSpPr>
          <p:nvPr/>
        </p:nvCxnSpPr>
        <p:spPr>
          <a:xfrm flipH="1">
            <a:off x="4079511" y="4622125"/>
            <a:ext cx="2596384" cy="285006"/>
          </a:xfrm>
          <a:prstGeom prst="straightConnector1">
            <a:avLst/>
          </a:prstGeom>
          <a:ln w="9525">
            <a:solidFill>
              <a:schemeClr val="bg1"/>
            </a:solidFill>
            <a:prstDash val="sysDot"/>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80" name="Rectangle: Rounded Corners 3">
            <a:extLst>
              <a:ext uri="{FF2B5EF4-FFF2-40B4-BE49-F238E27FC236}">
                <a16:creationId xmlns:a16="http://schemas.microsoft.com/office/drawing/2014/main" id="{F3DEEB23-A50B-30CC-296A-05FD43265538}"/>
              </a:ext>
            </a:extLst>
          </p:cNvPr>
          <p:cNvSpPr/>
          <p:nvPr/>
        </p:nvSpPr>
        <p:spPr bwMode="auto">
          <a:xfrm flipH="1">
            <a:off x="3574800" y="4907131"/>
            <a:ext cx="1009422" cy="620602"/>
          </a:xfrm>
          <a:prstGeom prst="roundRect">
            <a:avLst>
              <a:gd name="adj" fmla="val 2588"/>
            </a:avLst>
          </a:prstGeom>
          <a:solidFill>
            <a:srgbClr val="002986"/>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428496" eaLnBrk="0" fontAlgn="base" hangingPunct="0">
              <a:spcBef>
                <a:spcPct val="0"/>
              </a:spcBef>
              <a:spcAft>
                <a:spcPct val="0"/>
              </a:spcAft>
            </a:pPr>
            <a:r>
              <a:rPr lang="en-GB" sz="1100">
                <a:solidFill>
                  <a:schemeClr val="bg1"/>
                </a:solidFill>
                <a:latin typeface="72 Brand Medium" panose="020B0504030603020204" pitchFamily="34" charset="0"/>
                <a:cs typeface="72" panose="020B0503030000000003" pitchFamily="34" charset="0"/>
              </a:rPr>
              <a:t>Prompt</a:t>
            </a:r>
            <a:endParaRPr lang="en-GB" sz="1600">
              <a:solidFill>
                <a:schemeClr val="bg1"/>
              </a:solidFill>
              <a:latin typeface="72 Brand Medium" panose="020B0504030603020204" pitchFamily="34" charset="0"/>
              <a:cs typeface="72" panose="020B0503030000000003" pitchFamily="34" charset="0"/>
            </a:endParaRPr>
          </a:p>
        </p:txBody>
      </p:sp>
      <p:cxnSp>
        <p:nvCxnSpPr>
          <p:cNvPr id="181" name="Straight Arrow Connector 180">
            <a:extLst>
              <a:ext uri="{FF2B5EF4-FFF2-40B4-BE49-F238E27FC236}">
                <a16:creationId xmlns:a16="http://schemas.microsoft.com/office/drawing/2014/main" id="{CBEE9CE3-8933-C2CB-1583-BD1DA20A145D}"/>
              </a:ext>
            </a:extLst>
          </p:cNvPr>
          <p:cNvCxnSpPr>
            <a:cxnSpLocks/>
            <a:stCxn id="80" idx="1"/>
            <a:endCxn id="131" idx="3"/>
          </p:cNvCxnSpPr>
          <p:nvPr/>
        </p:nvCxnSpPr>
        <p:spPr>
          <a:xfrm>
            <a:off x="4584222" y="5217432"/>
            <a:ext cx="484578" cy="905"/>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81" name="Rectangle: Rounded Corners 3">
            <a:extLst>
              <a:ext uri="{FF2B5EF4-FFF2-40B4-BE49-F238E27FC236}">
                <a16:creationId xmlns:a16="http://schemas.microsoft.com/office/drawing/2014/main" id="{70CF4F1E-E33F-19C9-4306-1482C90D3677}"/>
              </a:ext>
            </a:extLst>
          </p:cNvPr>
          <p:cNvSpPr/>
          <p:nvPr/>
        </p:nvSpPr>
        <p:spPr bwMode="auto">
          <a:xfrm flipH="1">
            <a:off x="3592800" y="5225509"/>
            <a:ext cx="497542" cy="282305"/>
          </a:xfrm>
          <a:prstGeom prst="roundRect">
            <a:avLst>
              <a:gd name="adj" fmla="val 2588"/>
            </a:avLst>
          </a:prstGeom>
          <a:solidFill>
            <a:srgbClr val="E2D8FF"/>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Light" panose="020B0304030603020204" pitchFamily="34" charset="0"/>
                <a:cs typeface="72" panose="020B0503030000000003" pitchFamily="34" charset="0"/>
              </a:rPr>
              <a:t>Chunk-4</a:t>
            </a:r>
          </a:p>
        </p:txBody>
      </p:sp>
      <p:cxnSp>
        <p:nvCxnSpPr>
          <p:cNvPr id="184" name="Straight Arrow Connector 183">
            <a:extLst>
              <a:ext uri="{FF2B5EF4-FFF2-40B4-BE49-F238E27FC236}">
                <a16:creationId xmlns:a16="http://schemas.microsoft.com/office/drawing/2014/main" id="{A94A1BF3-4EE1-431F-585E-4F6954CC705C}"/>
              </a:ext>
            </a:extLst>
          </p:cNvPr>
          <p:cNvCxnSpPr>
            <a:cxnSpLocks/>
            <a:stCxn id="131" idx="1"/>
            <a:endCxn id="101" idx="3"/>
          </p:cNvCxnSpPr>
          <p:nvPr/>
        </p:nvCxnSpPr>
        <p:spPr>
          <a:xfrm flipV="1">
            <a:off x="5731644" y="5214526"/>
            <a:ext cx="428419" cy="3811"/>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85" name="Rectangle: Rounded Corners 3">
            <a:extLst>
              <a:ext uri="{FF2B5EF4-FFF2-40B4-BE49-F238E27FC236}">
                <a16:creationId xmlns:a16="http://schemas.microsoft.com/office/drawing/2014/main" id="{A42DEA38-BC23-DB7F-DEB3-567BA09BE798}"/>
              </a:ext>
            </a:extLst>
          </p:cNvPr>
          <p:cNvSpPr/>
          <p:nvPr/>
        </p:nvSpPr>
        <p:spPr bwMode="auto">
          <a:xfrm flipH="1">
            <a:off x="4111200" y="5228564"/>
            <a:ext cx="458583"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sp>
        <p:nvSpPr>
          <p:cNvPr id="100" name="Rectangle: Rounded Corners 3">
            <a:extLst>
              <a:ext uri="{FF2B5EF4-FFF2-40B4-BE49-F238E27FC236}">
                <a16:creationId xmlns:a16="http://schemas.microsoft.com/office/drawing/2014/main" id="{D4863466-2A7E-5658-98FF-E46E1A567E14}"/>
              </a:ext>
            </a:extLst>
          </p:cNvPr>
          <p:cNvSpPr/>
          <p:nvPr/>
        </p:nvSpPr>
        <p:spPr bwMode="auto">
          <a:xfrm flipH="1">
            <a:off x="6390000" y="4351461"/>
            <a:ext cx="571790"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sp>
        <p:nvSpPr>
          <p:cNvPr id="101" name="Rectangle: Rounded Corners 3">
            <a:extLst>
              <a:ext uri="{FF2B5EF4-FFF2-40B4-BE49-F238E27FC236}">
                <a16:creationId xmlns:a16="http://schemas.microsoft.com/office/drawing/2014/main" id="{6800ED38-30B8-B8B4-900F-2FC0B881773C}"/>
              </a:ext>
            </a:extLst>
          </p:cNvPr>
          <p:cNvSpPr/>
          <p:nvPr/>
        </p:nvSpPr>
        <p:spPr bwMode="auto">
          <a:xfrm flipH="1">
            <a:off x="6160063" y="4949772"/>
            <a:ext cx="1015810" cy="529507"/>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Final Summary</a:t>
            </a:r>
          </a:p>
        </p:txBody>
      </p:sp>
      <p:cxnSp>
        <p:nvCxnSpPr>
          <p:cNvPr id="115" name="Straight Arrow Connector 114">
            <a:extLst>
              <a:ext uri="{FF2B5EF4-FFF2-40B4-BE49-F238E27FC236}">
                <a16:creationId xmlns:a16="http://schemas.microsoft.com/office/drawing/2014/main" id="{1CFC6503-BB76-7AA3-407C-A15C10006338}"/>
              </a:ext>
            </a:extLst>
          </p:cNvPr>
          <p:cNvCxnSpPr>
            <a:cxnSpLocks/>
            <a:stCxn id="33" idx="1"/>
            <a:endCxn id="37" idx="3"/>
          </p:cNvCxnSpPr>
          <p:nvPr/>
        </p:nvCxnSpPr>
        <p:spPr>
          <a:xfrm>
            <a:off x="3309505" y="3667110"/>
            <a:ext cx="266315" cy="2133"/>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cxnSp>
        <p:nvCxnSpPr>
          <p:cNvPr id="137" name="Straight Arrow Connector 136">
            <a:extLst>
              <a:ext uri="{FF2B5EF4-FFF2-40B4-BE49-F238E27FC236}">
                <a16:creationId xmlns:a16="http://schemas.microsoft.com/office/drawing/2014/main" id="{4E5BAC1E-23A3-1BDE-2D8F-AA8F9E680CB6}"/>
              </a:ext>
            </a:extLst>
          </p:cNvPr>
          <p:cNvCxnSpPr>
            <a:cxnSpLocks/>
            <a:stCxn id="64" idx="1"/>
            <a:endCxn id="71" idx="3"/>
          </p:cNvCxnSpPr>
          <p:nvPr/>
        </p:nvCxnSpPr>
        <p:spPr>
          <a:xfrm>
            <a:off x="3310594" y="4490069"/>
            <a:ext cx="264206" cy="2964"/>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cxnSp>
        <p:nvCxnSpPr>
          <p:cNvPr id="143" name="Straight Arrow Connector 142">
            <a:extLst>
              <a:ext uri="{FF2B5EF4-FFF2-40B4-BE49-F238E27FC236}">
                <a16:creationId xmlns:a16="http://schemas.microsoft.com/office/drawing/2014/main" id="{6B1DEAF9-6892-E588-C50C-300E169A5158}"/>
              </a:ext>
            </a:extLst>
          </p:cNvPr>
          <p:cNvCxnSpPr>
            <a:cxnSpLocks/>
            <a:stCxn id="65" idx="1"/>
            <a:endCxn id="80" idx="3"/>
          </p:cNvCxnSpPr>
          <p:nvPr/>
        </p:nvCxnSpPr>
        <p:spPr>
          <a:xfrm>
            <a:off x="3315833" y="5216047"/>
            <a:ext cx="258967" cy="1385"/>
          </a:xfrm>
          <a:prstGeom prst="straightConnector1">
            <a:avLst/>
          </a:prstGeom>
          <a:ln w="6350">
            <a:solidFill>
              <a:schemeClr val="bg1"/>
            </a:solidFill>
            <a:headEnd type="none" w="med" len="med"/>
            <a:tailEnd type="triangle" w="sm" len="sm"/>
          </a:ln>
        </p:spPr>
        <p:style>
          <a:lnRef idx="2">
            <a:schemeClr val="dk1"/>
          </a:lnRef>
          <a:fillRef idx="0">
            <a:schemeClr val="dk1"/>
          </a:fillRef>
          <a:effectRef idx="1">
            <a:schemeClr val="dk1"/>
          </a:effectRef>
          <a:fontRef idx="minor">
            <a:schemeClr val="tx1"/>
          </a:fontRef>
        </p:style>
      </p:cxnSp>
      <p:sp>
        <p:nvSpPr>
          <p:cNvPr id="151" name="Rectangle: Rounded Corners 3">
            <a:extLst>
              <a:ext uri="{FF2B5EF4-FFF2-40B4-BE49-F238E27FC236}">
                <a16:creationId xmlns:a16="http://schemas.microsoft.com/office/drawing/2014/main" id="{60AEE9B3-0A59-37B2-0362-EE02A65CEEC3}"/>
              </a:ext>
            </a:extLst>
          </p:cNvPr>
          <p:cNvSpPr/>
          <p:nvPr/>
        </p:nvSpPr>
        <p:spPr bwMode="auto">
          <a:xfrm flipH="1">
            <a:off x="4109468" y="3685772"/>
            <a:ext cx="458583" cy="270664"/>
          </a:xfrm>
          <a:prstGeom prst="roundRect">
            <a:avLst>
              <a:gd name="adj" fmla="val 2588"/>
            </a:avLst>
          </a:prstGeom>
          <a:solidFill>
            <a:schemeClr val="bg1"/>
          </a:solidFill>
          <a:ln>
            <a:noFill/>
            <a:headEnd type="none" w="med" len="med"/>
            <a:tailEnd type="none" w="med" len="med"/>
          </a:ln>
          <a:effectLst>
            <a:outerShdw blurRad="1905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28496" eaLnBrk="0" fontAlgn="base" hangingPunct="0">
              <a:spcBef>
                <a:spcPct val="0"/>
              </a:spcBef>
              <a:spcAft>
                <a:spcPct val="0"/>
              </a:spcAft>
            </a:pPr>
            <a:r>
              <a:rPr lang="en-GB" sz="800">
                <a:solidFill>
                  <a:srgbClr val="00144A"/>
                </a:solidFill>
                <a:latin typeface="72 Brand Medium" panose="020B0504030603020204" pitchFamily="34" charset="0"/>
                <a:cs typeface="72" panose="020B0503030000000003" pitchFamily="34" charset="0"/>
              </a:rPr>
              <a:t>Summary</a:t>
            </a:r>
          </a:p>
        </p:txBody>
      </p:sp>
      <p:pic>
        <p:nvPicPr>
          <p:cNvPr id="3" name="Picture Placeholder 11">
            <a:extLst>
              <a:ext uri="{FF2B5EF4-FFF2-40B4-BE49-F238E27FC236}">
                <a16:creationId xmlns:a16="http://schemas.microsoft.com/office/drawing/2014/main" id="{4C1FB238-F37A-1001-8A8C-939652D483E5}"/>
              </a:ext>
            </a:extLst>
          </p:cNvPr>
          <p:cNvPicPr>
            <a:picLocks noChangeAspect="1"/>
          </p:cNvPicPr>
          <p:nvPr/>
        </p:nvPicPr>
        <p:blipFill rotWithShape="1">
          <a:blip r:embed="rId16"/>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4215883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left)">
                                      <p:cBhvr>
                                        <p:cTn id="12" dur="500"/>
                                        <p:tgtEl>
                                          <p:spTgt spid="13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8"/>
                                        </p:tgtEl>
                                        <p:attrNameLst>
                                          <p:attrName>style.visibility</p:attrName>
                                        </p:attrNameLst>
                                      </p:cBhvr>
                                      <p:to>
                                        <p:strVal val="visible"/>
                                      </p:to>
                                    </p:set>
                                    <p:animEffect transition="in" filter="wipe(left)">
                                      <p:cBhvr>
                                        <p:cTn id="20" dur="500"/>
                                        <p:tgtEl>
                                          <p:spTgt spid="138"/>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41"/>
                                        </p:tgtEl>
                                        <p:attrNameLst>
                                          <p:attrName>style.visibility</p:attrName>
                                        </p:attrNameLst>
                                      </p:cBhvr>
                                      <p:to>
                                        <p:strVal val="visible"/>
                                      </p:to>
                                    </p:set>
                                    <p:animEffect transition="in" filter="wipe(left)">
                                      <p:cBhvr>
                                        <p:cTn id="28" dur="500"/>
                                        <p:tgtEl>
                                          <p:spTgt spid="141"/>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144"/>
                                        </p:tgtEl>
                                        <p:attrNameLst>
                                          <p:attrName>style.visibility</p:attrName>
                                        </p:attrNameLst>
                                      </p:cBhvr>
                                      <p:to>
                                        <p:strVal val="visible"/>
                                      </p:to>
                                    </p:set>
                                    <p:animEffect transition="in" filter="wipe(left)">
                                      <p:cBhvr>
                                        <p:cTn id="36" dur="500"/>
                                        <p:tgtEl>
                                          <p:spTgt spid="144"/>
                                        </p:tgtEl>
                                      </p:cBhvr>
                                    </p:animEffect>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childTnLst>
                          </p:cTn>
                        </p:par>
                        <p:par>
                          <p:cTn id="41" fill="hold">
                            <p:stCondLst>
                              <p:cond delay="4000"/>
                            </p:stCondLst>
                            <p:childTnLst>
                              <p:par>
                                <p:cTn id="42" presetID="22" presetClass="entr" presetSubtype="8" fill="hold" nodeType="afterEffect">
                                  <p:stCondLst>
                                    <p:cond delay="0"/>
                                  </p:stCondLst>
                                  <p:childTnLst>
                                    <p:set>
                                      <p:cBhvr>
                                        <p:cTn id="43" dur="1" fill="hold">
                                          <p:stCondLst>
                                            <p:cond delay="0"/>
                                          </p:stCondLst>
                                        </p:cTn>
                                        <p:tgtEl>
                                          <p:spTgt spid="147"/>
                                        </p:tgtEl>
                                        <p:attrNameLst>
                                          <p:attrName>style.visibility</p:attrName>
                                        </p:attrNameLst>
                                      </p:cBhvr>
                                      <p:to>
                                        <p:strVal val="visible"/>
                                      </p:to>
                                    </p:set>
                                    <p:animEffect transition="in" filter="wipe(left)">
                                      <p:cBhvr>
                                        <p:cTn id="44" dur="500"/>
                                        <p:tgtEl>
                                          <p:spTgt spid="147"/>
                                        </p:tgtEl>
                                      </p:cBhvr>
                                    </p:animEffect>
                                  </p:childTnLst>
                                </p:cTn>
                              </p:par>
                            </p:childTnLst>
                          </p:cTn>
                        </p:par>
                        <p:par>
                          <p:cTn id="45" fill="hold">
                            <p:stCondLst>
                              <p:cond delay="4500"/>
                            </p:stCondLst>
                            <p:childTnLst>
                              <p:par>
                                <p:cTn id="46" presetID="22" presetClass="entr" presetSubtype="8" fill="hold" grpId="0" nodeType="after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wipe(left)">
                                      <p:cBhvr>
                                        <p:cTn id="48" dur="500"/>
                                        <p:tgtEl>
                                          <p:spTgt spid="65"/>
                                        </p:tgtEl>
                                      </p:cBhvr>
                                    </p:animEffect>
                                  </p:childTnLst>
                                </p:cTn>
                              </p:par>
                            </p:childTnLst>
                          </p:cTn>
                        </p:par>
                        <p:par>
                          <p:cTn id="49" fill="hold">
                            <p:stCondLst>
                              <p:cond delay="5000"/>
                            </p:stCondLst>
                            <p:childTnLst>
                              <p:par>
                                <p:cTn id="50" presetID="22" presetClass="entr" presetSubtype="8" fill="hold" nodeType="afterEffect">
                                  <p:stCondLst>
                                    <p:cond delay="0"/>
                                  </p:stCondLst>
                                  <p:childTnLst>
                                    <p:set>
                                      <p:cBhvr>
                                        <p:cTn id="51" dur="1" fill="hold">
                                          <p:stCondLst>
                                            <p:cond delay="0"/>
                                          </p:stCondLst>
                                        </p:cTn>
                                        <p:tgtEl>
                                          <p:spTgt spid="150"/>
                                        </p:tgtEl>
                                        <p:attrNameLst>
                                          <p:attrName>style.visibility</p:attrName>
                                        </p:attrNameLst>
                                      </p:cBhvr>
                                      <p:to>
                                        <p:strVal val="visible"/>
                                      </p:to>
                                    </p:set>
                                    <p:animEffect transition="in" filter="wipe(left)">
                                      <p:cBhvr>
                                        <p:cTn id="52" dur="500"/>
                                        <p:tgtEl>
                                          <p:spTgt spid="150"/>
                                        </p:tgtEl>
                                      </p:cBhvr>
                                    </p:animEffect>
                                  </p:childTnLst>
                                </p:cTn>
                              </p:par>
                            </p:childTnLst>
                          </p:cTn>
                        </p:par>
                        <p:par>
                          <p:cTn id="53" fill="hold">
                            <p:stCondLst>
                              <p:cond delay="5500"/>
                            </p:stCondLst>
                            <p:childTnLst>
                              <p:par>
                                <p:cTn id="54" presetID="22" presetClass="entr" presetSubtype="8" fill="hold" grpId="0" nodeType="after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childTnLst>
                          </p:cTn>
                        </p:par>
                        <p:par>
                          <p:cTn id="57" fill="hold">
                            <p:stCondLst>
                              <p:cond delay="6000"/>
                            </p:stCondLst>
                            <p:childTnLst>
                              <p:par>
                                <p:cTn id="58" presetID="10" presetClass="entr" presetSubtype="0" fill="hold" grpId="0"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childTnLst>
                          </p:cTn>
                        </p:par>
                        <p:par>
                          <p:cTn id="61" fill="hold">
                            <p:stCondLst>
                              <p:cond delay="6500"/>
                            </p:stCondLst>
                            <p:childTnLst>
                              <p:par>
                                <p:cTn id="62" presetID="22" presetClass="entr" presetSubtype="8" fill="hold" nodeType="afterEffect">
                                  <p:stCondLst>
                                    <p:cond delay="0"/>
                                  </p:stCondLst>
                                  <p:childTnLst>
                                    <p:set>
                                      <p:cBhvr>
                                        <p:cTn id="63" dur="1" fill="hold">
                                          <p:stCondLst>
                                            <p:cond delay="0"/>
                                          </p:stCondLst>
                                        </p:cTn>
                                        <p:tgtEl>
                                          <p:spTgt spid="153"/>
                                        </p:tgtEl>
                                        <p:attrNameLst>
                                          <p:attrName>style.visibility</p:attrName>
                                        </p:attrNameLst>
                                      </p:cBhvr>
                                      <p:to>
                                        <p:strVal val="visible"/>
                                      </p:to>
                                    </p:set>
                                    <p:animEffect transition="in" filter="wipe(left)">
                                      <p:cBhvr>
                                        <p:cTn id="64" dur="500"/>
                                        <p:tgtEl>
                                          <p:spTgt spid="153"/>
                                        </p:tgtEl>
                                      </p:cBhvr>
                                    </p:animEffect>
                                  </p:childTnLst>
                                </p:cTn>
                              </p:par>
                            </p:childTnLst>
                          </p:cTn>
                        </p:par>
                        <p:par>
                          <p:cTn id="65" fill="hold">
                            <p:stCondLst>
                              <p:cond delay="7000"/>
                            </p:stCondLst>
                            <p:childTnLst>
                              <p:par>
                                <p:cTn id="66" presetID="22" presetClass="entr" presetSubtype="8" fill="hold" nodeType="afterEffect">
                                  <p:stCondLst>
                                    <p:cond delay="0"/>
                                  </p:stCondLst>
                                  <p:childTnLst>
                                    <p:set>
                                      <p:cBhvr>
                                        <p:cTn id="67" dur="1" fill="hold">
                                          <p:stCondLst>
                                            <p:cond delay="0"/>
                                          </p:stCondLst>
                                        </p:cTn>
                                        <p:tgtEl>
                                          <p:spTgt spid="88"/>
                                        </p:tgtEl>
                                        <p:attrNameLst>
                                          <p:attrName>style.visibility</p:attrName>
                                        </p:attrNameLst>
                                      </p:cBhvr>
                                      <p:to>
                                        <p:strVal val="visible"/>
                                      </p:to>
                                    </p:set>
                                    <p:animEffect transition="in" filter="wipe(left)">
                                      <p:cBhvr>
                                        <p:cTn id="68" dur="500"/>
                                        <p:tgtEl>
                                          <p:spTgt spid="88"/>
                                        </p:tgtEl>
                                      </p:cBhvr>
                                    </p:animEffect>
                                  </p:childTnLst>
                                </p:cTn>
                              </p:par>
                            </p:childTnLst>
                          </p:cTn>
                        </p:par>
                        <p:par>
                          <p:cTn id="69" fill="hold">
                            <p:stCondLst>
                              <p:cond delay="7500"/>
                            </p:stCondLst>
                            <p:childTnLst>
                              <p:par>
                                <p:cTn id="70" presetID="22" presetClass="entr" presetSubtype="8" fill="hold" nodeType="afterEffect">
                                  <p:stCondLst>
                                    <p:cond delay="0"/>
                                  </p:stCondLst>
                                  <p:childTnLst>
                                    <p:set>
                                      <p:cBhvr>
                                        <p:cTn id="71" dur="1" fill="hold">
                                          <p:stCondLst>
                                            <p:cond delay="0"/>
                                          </p:stCondLst>
                                        </p:cTn>
                                        <p:tgtEl>
                                          <p:spTgt spid="156"/>
                                        </p:tgtEl>
                                        <p:attrNameLst>
                                          <p:attrName>style.visibility</p:attrName>
                                        </p:attrNameLst>
                                      </p:cBhvr>
                                      <p:to>
                                        <p:strVal val="visible"/>
                                      </p:to>
                                    </p:set>
                                    <p:animEffect transition="in" filter="wipe(left)">
                                      <p:cBhvr>
                                        <p:cTn id="72" dur="500"/>
                                        <p:tgtEl>
                                          <p:spTgt spid="156"/>
                                        </p:tgtEl>
                                      </p:cBhvr>
                                    </p:animEffect>
                                  </p:childTnLst>
                                </p:cTn>
                              </p:par>
                            </p:childTnLst>
                          </p:cTn>
                        </p:par>
                        <p:par>
                          <p:cTn id="73" fill="hold">
                            <p:stCondLst>
                              <p:cond delay="8000"/>
                            </p:stCondLst>
                            <p:childTnLst>
                              <p:par>
                                <p:cTn id="74" presetID="22" presetClass="entr" presetSubtype="8" fill="hold" grpId="0" nodeType="after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wipe(left)">
                                      <p:cBhvr>
                                        <p:cTn id="76" dur="500"/>
                                        <p:tgtEl>
                                          <p:spTgt spid="7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15"/>
                                        </p:tgtEl>
                                        <p:attrNameLst>
                                          <p:attrName>style.visibility</p:attrName>
                                        </p:attrNameLst>
                                      </p:cBhvr>
                                      <p:to>
                                        <p:strVal val="visible"/>
                                      </p:to>
                                    </p:set>
                                    <p:animEffect transition="in" filter="wipe(left)">
                                      <p:cBhvr>
                                        <p:cTn id="81" dur="500"/>
                                        <p:tgtEl>
                                          <p:spTgt spid="115"/>
                                        </p:tgtEl>
                                      </p:cBhvr>
                                    </p:animEffect>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wipe(left)">
                                      <p:cBhvr>
                                        <p:cTn id="85" dur="500"/>
                                        <p:tgtEl>
                                          <p:spTgt spid="37"/>
                                        </p:tgtEl>
                                      </p:cBhvr>
                                    </p:animEffect>
                                  </p:childTnLst>
                                </p:cTn>
                              </p:par>
                            </p:childTnLst>
                          </p:cTn>
                        </p:par>
                        <p:par>
                          <p:cTn id="86" fill="hold">
                            <p:stCondLst>
                              <p:cond delay="1000"/>
                            </p:stCondLst>
                            <p:childTnLst>
                              <p:par>
                                <p:cTn id="87" presetID="10" presetClass="entr" presetSubtype="0" fill="hold" grpId="0" nodeType="afterEffect">
                                  <p:stCondLst>
                                    <p:cond delay="0"/>
                                  </p:stCondLst>
                                  <p:childTnLst>
                                    <p:set>
                                      <p:cBhvr>
                                        <p:cTn id="88" dur="1" fill="hold">
                                          <p:stCondLst>
                                            <p:cond delay="0"/>
                                          </p:stCondLst>
                                        </p:cTn>
                                        <p:tgtEl>
                                          <p:spTgt spid="66"/>
                                        </p:tgtEl>
                                        <p:attrNameLst>
                                          <p:attrName>style.visibility</p:attrName>
                                        </p:attrNameLst>
                                      </p:cBhvr>
                                      <p:to>
                                        <p:strVal val="visible"/>
                                      </p:to>
                                    </p:set>
                                    <p:animEffect transition="in" filter="fade">
                                      <p:cBhvr>
                                        <p:cTn id="89" dur="500"/>
                                        <p:tgtEl>
                                          <p:spTgt spid="66"/>
                                        </p:tgtEl>
                                      </p:cBhvr>
                                    </p:animEffect>
                                  </p:childTnLst>
                                </p:cTn>
                              </p:par>
                            </p:childTnLst>
                          </p:cTn>
                        </p:par>
                        <p:par>
                          <p:cTn id="90" fill="hold">
                            <p:stCondLst>
                              <p:cond delay="1500"/>
                            </p:stCondLst>
                            <p:childTnLst>
                              <p:par>
                                <p:cTn id="91" presetID="22" presetClass="entr" presetSubtype="2" fill="hold" nodeType="afterEffect">
                                  <p:stCondLst>
                                    <p:cond delay="0"/>
                                  </p:stCondLst>
                                  <p:childTnLst>
                                    <p:set>
                                      <p:cBhvr>
                                        <p:cTn id="92" dur="1" fill="hold">
                                          <p:stCondLst>
                                            <p:cond delay="0"/>
                                          </p:stCondLst>
                                        </p:cTn>
                                        <p:tgtEl>
                                          <p:spTgt spid="159"/>
                                        </p:tgtEl>
                                        <p:attrNameLst>
                                          <p:attrName>style.visibility</p:attrName>
                                        </p:attrNameLst>
                                      </p:cBhvr>
                                      <p:to>
                                        <p:strVal val="visible"/>
                                      </p:to>
                                    </p:set>
                                    <p:animEffect transition="in" filter="wipe(right)">
                                      <p:cBhvr>
                                        <p:cTn id="93" dur="500"/>
                                        <p:tgtEl>
                                          <p:spTgt spid="159"/>
                                        </p:tgtEl>
                                      </p:cBhvr>
                                    </p:animEffect>
                                  </p:childTnLst>
                                </p:cTn>
                              </p:par>
                            </p:childTnLst>
                          </p:cTn>
                        </p:par>
                        <p:par>
                          <p:cTn id="94" fill="hold">
                            <p:stCondLst>
                              <p:cond delay="2000"/>
                            </p:stCondLst>
                            <p:childTnLst>
                              <p:par>
                                <p:cTn id="95" presetID="10" presetClass="entr" presetSubtype="0" fill="hold" grpId="0" nodeType="afterEffect">
                                  <p:stCondLst>
                                    <p:cond delay="0"/>
                                  </p:stCondLst>
                                  <p:childTnLst>
                                    <p:set>
                                      <p:cBhvr>
                                        <p:cTn id="96" dur="1" fill="hold">
                                          <p:stCondLst>
                                            <p:cond delay="0"/>
                                          </p:stCondLst>
                                        </p:cTn>
                                        <p:tgtEl>
                                          <p:spTgt spid="151"/>
                                        </p:tgtEl>
                                        <p:attrNameLst>
                                          <p:attrName>style.visibility</p:attrName>
                                        </p:attrNameLst>
                                      </p:cBhvr>
                                      <p:to>
                                        <p:strVal val="visible"/>
                                      </p:to>
                                    </p:set>
                                    <p:animEffect transition="in" filter="fade">
                                      <p:cBhvr>
                                        <p:cTn id="97" dur="500"/>
                                        <p:tgtEl>
                                          <p:spTgt spid="151"/>
                                        </p:tgtEl>
                                      </p:cBhvr>
                                    </p:animEffect>
                                  </p:childTnLst>
                                </p:cTn>
                              </p:par>
                            </p:childTnLst>
                          </p:cTn>
                        </p:par>
                        <p:par>
                          <p:cTn id="98" fill="hold">
                            <p:stCondLst>
                              <p:cond delay="2500"/>
                            </p:stCondLst>
                            <p:childTnLst>
                              <p:par>
                                <p:cTn id="99" presetID="22" presetClass="entr" presetSubtype="8" fill="hold" nodeType="afterEffect">
                                  <p:stCondLst>
                                    <p:cond delay="0"/>
                                  </p:stCondLst>
                                  <p:childTnLst>
                                    <p:set>
                                      <p:cBhvr>
                                        <p:cTn id="100" dur="1" fill="hold">
                                          <p:stCondLst>
                                            <p:cond delay="0"/>
                                          </p:stCondLst>
                                        </p:cTn>
                                        <p:tgtEl>
                                          <p:spTgt spid="162"/>
                                        </p:tgtEl>
                                        <p:attrNameLst>
                                          <p:attrName>style.visibility</p:attrName>
                                        </p:attrNameLst>
                                      </p:cBhvr>
                                      <p:to>
                                        <p:strVal val="visible"/>
                                      </p:to>
                                    </p:set>
                                    <p:animEffect transition="in" filter="wipe(left)">
                                      <p:cBhvr>
                                        <p:cTn id="101" dur="500"/>
                                        <p:tgtEl>
                                          <p:spTgt spid="162"/>
                                        </p:tgtEl>
                                      </p:cBhvr>
                                    </p:animEffect>
                                  </p:childTnLst>
                                </p:cTn>
                              </p:par>
                            </p:childTnLst>
                          </p:cTn>
                        </p:par>
                        <p:par>
                          <p:cTn id="102" fill="hold">
                            <p:stCondLst>
                              <p:cond delay="3000"/>
                            </p:stCondLst>
                            <p:childTnLst>
                              <p:par>
                                <p:cTn id="103" presetID="22" presetClass="entr" presetSubtype="8" fill="hold" nodeType="afterEffect">
                                  <p:stCondLst>
                                    <p:cond delay="0"/>
                                  </p:stCondLst>
                                  <p:childTnLst>
                                    <p:set>
                                      <p:cBhvr>
                                        <p:cTn id="104" dur="1" fill="hold">
                                          <p:stCondLst>
                                            <p:cond delay="0"/>
                                          </p:stCondLst>
                                        </p:cTn>
                                        <p:tgtEl>
                                          <p:spTgt spid="113"/>
                                        </p:tgtEl>
                                        <p:attrNameLst>
                                          <p:attrName>style.visibility</p:attrName>
                                        </p:attrNameLst>
                                      </p:cBhvr>
                                      <p:to>
                                        <p:strVal val="visible"/>
                                      </p:to>
                                    </p:set>
                                    <p:animEffect transition="in" filter="wipe(left)">
                                      <p:cBhvr>
                                        <p:cTn id="105" dur="500"/>
                                        <p:tgtEl>
                                          <p:spTgt spid="113"/>
                                        </p:tgtEl>
                                      </p:cBhvr>
                                    </p:animEffect>
                                  </p:childTnLst>
                                </p:cTn>
                              </p:par>
                            </p:childTnLst>
                          </p:cTn>
                        </p:par>
                        <p:par>
                          <p:cTn id="106" fill="hold">
                            <p:stCondLst>
                              <p:cond delay="3500"/>
                            </p:stCondLst>
                            <p:childTnLst>
                              <p:par>
                                <p:cTn id="107" presetID="22" presetClass="entr" presetSubtype="8" fill="hold" nodeType="afterEffect">
                                  <p:stCondLst>
                                    <p:cond delay="0"/>
                                  </p:stCondLst>
                                  <p:childTnLst>
                                    <p:set>
                                      <p:cBhvr>
                                        <p:cTn id="108" dur="1" fill="hold">
                                          <p:stCondLst>
                                            <p:cond delay="0"/>
                                          </p:stCondLst>
                                        </p:cTn>
                                        <p:tgtEl>
                                          <p:spTgt spid="165"/>
                                        </p:tgtEl>
                                        <p:attrNameLst>
                                          <p:attrName>style.visibility</p:attrName>
                                        </p:attrNameLst>
                                      </p:cBhvr>
                                      <p:to>
                                        <p:strVal val="visible"/>
                                      </p:to>
                                    </p:set>
                                    <p:animEffect transition="in" filter="wipe(left)">
                                      <p:cBhvr>
                                        <p:cTn id="109" dur="500"/>
                                        <p:tgtEl>
                                          <p:spTgt spid="165"/>
                                        </p:tgtEl>
                                      </p:cBhvr>
                                    </p:animEffect>
                                  </p:childTnLst>
                                </p:cTn>
                              </p:par>
                            </p:childTnLst>
                          </p:cTn>
                        </p:par>
                        <p:par>
                          <p:cTn id="110" fill="hold">
                            <p:stCondLst>
                              <p:cond delay="4000"/>
                            </p:stCondLst>
                            <p:childTnLst>
                              <p:par>
                                <p:cTn id="111" presetID="22" presetClass="entr" presetSubtype="8" fill="hold" grpId="0" nodeType="afterEffect">
                                  <p:stCondLst>
                                    <p:cond delay="0"/>
                                  </p:stCondLst>
                                  <p:childTnLst>
                                    <p:set>
                                      <p:cBhvr>
                                        <p:cTn id="112" dur="1" fill="hold">
                                          <p:stCondLst>
                                            <p:cond delay="0"/>
                                          </p:stCondLst>
                                        </p:cTn>
                                        <p:tgtEl>
                                          <p:spTgt spid="70"/>
                                        </p:tgtEl>
                                        <p:attrNameLst>
                                          <p:attrName>style.visibility</p:attrName>
                                        </p:attrNameLst>
                                      </p:cBhvr>
                                      <p:to>
                                        <p:strVal val="visible"/>
                                      </p:to>
                                    </p:set>
                                    <p:animEffect transition="in" filter="wipe(left)">
                                      <p:cBhvr>
                                        <p:cTn id="113" dur="500"/>
                                        <p:tgtEl>
                                          <p:spTgt spid="7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37"/>
                                        </p:tgtEl>
                                        <p:attrNameLst>
                                          <p:attrName>style.visibility</p:attrName>
                                        </p:attrNameLst>
                                      </p:cBhvr>
                                      <p:to>
                                        <p:strVal val="visible"/>
                                      </p:to>
                                    </p:set>
                                    <p:animEffect transition="in" filter="wipe(left)">
                                      <p:cBhvr>
                                        <p:cTn id="118" dur="500"/>
                                        <p:tgtEl>
                                          <p:spTgt spid="137"/>
                                        </p:tgtEl>
                                      </p:cBhvr>
                                    </p:animEffect>
                                  </p:childTnLst>
                                </p:cTn>
                              </p:par>
                            </p:childTnLst>
                          </p:cTn>
                        </p:par>
                        <p:par>
                          <p:cTn id="119" fill="hold">
                            <p:stCondLst>
                              <p:cond delay="500"/>
                            </p:stCondLst>
                            <p:childTnLst>
                              <p:par>
                                <p:cTn id="120" presetID="22" presetClass="entr" presetSubtype="8" fill="hold" grpId="0" nodeType="afterEffect">
                                  <p:stCondLst>
                                    <p:cond delay="0"/>
                                  </p:stCondLst>
                                  <p:childTnLst>
                                    <p:set>
                                      <p:cBhvr>
                                        <p:cTn id="121" dur="1" fill="hold">
                                          <p:stCondLst>
                                            <p:cond delay="0"/>
                                          </p:stCondLst>
                                        </p:cTn>
                                        <p:tgtEl>
                                          <p:spTgt spid="71"/>
                                        </p:tgtEl>
                                        <p:attrNameLst>
                                          <p:attrName>style.visibility</p:attrName>
                                        </p:attrNameLst>
                                      </p:cBhvr>
                                      <p:to>
                                        <p:strVal val="visible"/>
                                      </p:to>
                                    </p:set>
                                    <p:animEffect transition="in" filter="wipe(left)">
                                      <p:cBhvr>
                                        <p:cTn id="122" dur="500"/>
                                        <p:tgtEl>
                                          <p:spTgt spid="71"/>
                                        </p:tgtEl>
                                      </p:cBhvr>
                                    </p:animEffect>
                                  </p:childTnLst>
                                </p:cTn>
                              </p:par>
                            </p:childTnLst>
                          </p:cTn>
                        </p:par>
                        <p:par>
                          <p:cTn id="123" fill="hold">
                            <p:stCondLst>
                              <p:cond delay="1000"/>
                            </p:stCondLst>
                            <p:childTnLst>
                              <p:par>
                                <p:cTn id="124" presetID="10" presetClass="entr" presetSubtype="0" fill="hold" grpId="0" nodeType="afterEffect">
                                  <p:stCondLst>
                                    <p:cond delay="0"/>
                                  </p:stCondLst>
                                  <p:childTnLst>
                                    <p:set>
                                      <p:cBhvr>
                                        <p:cTn id="125" dur="1" fill="hold">
                                          <p:stCondLst>
                                            <p:cond delay="0"/>
                                          </p:stCondLst>
                                        </p:cTn>
                                        <p:tgtEl>
                                          <p:spTgt spid="72"/>
                                        </p:tgtEl>
                                        <p:attrNameLst>
                                          <p:attrName>style.visibility</p:attrName>
                                        </p:attrNameLst>
                                      </p:cBhvr>
                                      <p:to>
                                        <p:strVal val="visible"/>
                                      </p:to>
                                    </p:set>
                                    <p:animEffect transition="in" filter="fade">
                                      <p:cBhvr>
                                        <p:cTn id="126" dur="500"/>
                                        <p:tgtEl>
                                          <p:spTgt spid="72"/>
                                        </p:tgtEl>
                                      </p:cBhvr>
                                    </p:animEffect>
                                  </p:childTnLst>
                                </p:cTn>
                              </p:par>
                            </p:childTnLst>
                          </p:cTn>
                        </p:par>
                        <p:par>
                          <p:cTn id="127" fill="hold">
                            <p:stCondLst>
                              <p:cond delay="1500"/>
                            </p:stCondLst>
                            <p:childTnLst>
                              <p:par>
                                <p:cTn id="128" presetID="22" presetClass="entr" presetSubtype="2" fill="hold" nodeType="afterEffect">
                                  <p:stCondLst>
                                    <p:cond delay="0"/>
                                  </p:stCondLst>
                                  <p:childTnLst>
                                    <p:set>
                                      <p:cBhvr>
                                        <p:cTn id="129" dur="1" fill="hold">
                                          <p:stCondLst>
                                            <p:cond delay="0"/>
                                          </p:stCondLst>
                                        </p:cTn>
                                        <p:tgtEl>
                                          <p:spTgt spid="168"/>
                                        </p:tgtEl>
                                        <p:attrNameLst>
                                          <p:attrName>style.visibility</p:attrName>
                                        </p:attrNameLst>
                                      </p:cBhvr>
                                      <p:to>
                                        <p:strVal val="visible"/>
                                      </p:to>
                                    </p:set>
                                    <p:animEffect transition="in" filter="wipe(right)">
                                      <p:cBhvr>
                                        <p:cTn id="130" dur="500"/>
                                        <p:tgtEl>
                                          <p:spTgt spid="168"/>
                                        </p:tgtEl>
                                      </p:cBhvr>
                                    </p:animEffect>
                                  </p:childTnLst>
                                </p:cTn>
                              </p:par>
                            </p:childTnLst>
                          </p:cTn>
                        </p:par>
                        <p:par>
                          <p:cTn id="131" fill="hold">
                            <p:stCondLst>
                              <p:cond delay="2000"/>
                            </p:stCondLst>
                            <p:childTnLst>
                              <p:par>
                                <p:cTn id="132" presetID="10" presetClass="entr" presetSubtype="0" fill="hold" grpId="0" nodeType="afterEffect">
                                  <p:stCondLst>
                                    <p:cond delay="0"/>
                                  </p:stCondLst>
                                  <p:childTnLst>
                                    <p:set>
                                      <p:cBhvr>
                                        <p:cTn id="133" dur="1" fill="hold">
                                          <p:stCondLst>
                                            <p:cond delay="0"/>
                                          </p:stCondLst>
                                        </p:cTn>
                                        <p:tgtEl>
                                          <p:spTgt spid="79"/>
                                        </p:tgtEl>
                                        <p:attrNameLst>
                                          <p:attrName>style.visibility</p:attrName>
                                        </p:attrNameLst>
                                      </p:cBhvr>
                                      <p:to>
                                        <p:strVal val="visible"/>
                                      </p:to>
                                    </p:set>
                                    <p:animEffect transition="in" filter="fade">
                                      <p:cBhvr>
                                        <p:cTn id="134" dur="500"/>
                                        <p:tgtEl>
                                          <p:spTgt spid="79"/>
                                        </p:tgtEl>
                                      </p:cBhvr>
                                    </p:animEffect>
                                  </p:childTnLst>
                                </p:cTn>
                              </p:par>
                            </p:childTnLst>
                          </p:cTn>
                        </p:par>
                        <p:par>
                          <p:cTn id="135" fill="hold">
                            <p:stCondLst>
                              <p:cond delay="2500"/>
                            </p:stCondLst>
                            <p:childTnLst>
                              <p:par>
                                <p:cTn id="136" presetID="22" presetClass="entr" presetSubtype="8" fill="hold" nodeType="afterEffect">
                                  <p:stCondLst>
                                    <p:cond delay="0"/>
                                  </p:stCondLst>
                                  <p:childTnLst>
                                    <p:set>
                                      <p:cBhvr>
                                        <p:cTn id="137" dur="1" fill="hold">
                                          <p:stCondLst>
                                            <p:cond delay="0"/>
                                          </p:stCondLst>
                                        </p:cTn>
                                        <p:tgtEl>
                                          <p:spTgt spid="171"/>
                                        </p:tgtEl>
                                        <p:attrNameLst>
                                          <p:attrName>style.visibility</p:attrName>
                                        </p:attrNameLst>
                                      </p:cBhvr>
                                      <p:to>
                                        <p:strVal val="visible"/>
                                      </p:to>
                                    </p:set>
                                    <p:animEffect transition="in" filter="wipe(left)">
                                      <p:cBhvr>
                                        <p:cTn id="138" dur="500"/>
                                        <p:tgtEl>
                                          <p:spTgt spid="171"/>
                                        </p:tgtEl>
                                      </p:cBhvr>
                                    </p:animEffect>
                                  </p:childTnLst>
                                </p:cTn>
                              </p:par>
                            </p:childTnLst>
                          </p:cTn>
                        </p:par>
                        <p:par>
                          <p:cTn id="139" fill="hold">
                            <p:stCondLst>
                              <p:cond delay="3000"/>
                            </p:stCondLst>
                            <p:childTnLst>
                              <p:par>
                                <p:cTn id="140" presetID="22" presetClass="entr" presetSubtype="8" fill="hold" nodeType="afterEffect">
                                  <p:stCondLst>
                                    <p:cond delay="0"/>
                                  </p:stCondLst>
                                  <p:childTnLst>
                                    <p:set>
                                      <p:cBhvr>
                                        <p:cTn id="141" dur="1" fill="hold">
                                          <p:stCondLst>
                                            <p:cond delay="0"/>
                                          </p:stCondLst>
                                        </p:cTn>
                                        <p:tgtEl>
                                          <p:spTgt spid="123"/>
                                        </p:tgtEl>
                                        <p:attrNameLst>
                                          <p:attrName>style.visibility</p:attrName>
                                        </p:attrNameLst>
                                      </p:cBhvr>
                                      <p:to>
                                        <p:strVal val="visible"/>
                                      </p:to>
                                    </p:set>
                                    <p:animEffect transition="in" filter="wipe(left)">
                                      <p:cBhvr>
                                        <p:cTn id="142" dur="500"/>
                                        <p:tgtEl>
                                          <p:spTgt spid="123"/>
                                        </p:tgtEl>
                                      </p:cBhvr>
                                    </p:animEffect>
                                  </p:childTnLst>
                                </p:cTn>
                              </p:par>
                            </p:childTnLst>
                          </p:cTn>
                        </p:par>
                        <p:par>
                          <p:cTn id="143" fill="hold">
                            <p:stCondLst>
                              <p:cond delay="3500"/>
                            </p:stCondLst>
                            <p:childTnLst>
                              <p:par>
                                <p:cTn id="144" presetID="22" presetClass="entr" presetSubtype="8" fill="hold" nodeType="afterEffect">
                                  <p:stCondLst>
                                    <p:cond delay="0"/>
                                  </p:stCondLst>
                                  <p:childTnLst>
                                    <p:set>
                                      <p:cBhvr>
                                        <p:cTn id="145" dur="1" fill="hold">
                                          <p:stCondLst>
                                            <p:cond delay="0"/>
                                          </p:stCondLst>
                                        </p:cTn>
                                        <p:tgtEl>
                                          <p:spTgt spid="174"/>
                                        </p:tgtEl>
                                        <p:attrNameLst>
                                          <p:attrName>style.visibility</p:attrName>
                                        </p:attrNameLst>
                                      </p:cBhvr>
                                      <p:to>
                                        <p:strVal val="visible"/>
                                      </p:to>
                                    </p:set>
                                    <p:animEffect transition="in" filter="wipe(left)">
                                      <p:cBhvr>
                                        <p:cTn id="146" dur="500"/>
                                        <p:tgtEl>
                                          <p:spTgt spid="174"/>
                                        </p:tgtEl>
                                      </p:cBhvr>
                                    </p:animEffect>
                                  </p:childTnLst>
                                </p:cTn>
                              </p:par>
                            </p:childTnLst>
                          </p:cTn>
                        </p:par>
                        <p:par>
                          <p:cTn id="147" fill="hold">
                            <p:stCondLst>
                              <p:cond delay="4000"/>
                            </p:stCondLst>
                            <p:childTnLst>
                              <p:par>
                                <p:cTn id="148" presetID="22" presetClass="entr" presetSubtype="8" fill="hold" grpId="0" nodeType="afterEffect">
                                  <p:stCondLst>
                                    <p:cond delay="0"/>
                                  </p:stCondLst>
                                  <p:childTnLst>
                                    <p:set>
                                      <p:cBhvr>
                                        <p:cTn id="149" dur="1" fill="hold">
                                          <p:stCondLst>
                                            <p:cond delay="0"/>
                                          </p:stCondLst>
                                        </p:cTn>
                                        <p:tgtEl>
                                          <p:spTgt spid="100"/>
                                        </p:tgtEl>
                                        <p:attrNameLst>
                                          <p:attrName>style.visibility</p:attrName>
                                        </p:attrNameLst>
                                      </p:cBhvr>
                                      <p:to>
                                        <p:strVal val="visible"/>
                                      </p:to>
                                    </p:set>
                                    <p:animEffect transition="in" filter="wipe(left)">
                                      <p:cBhvr>
                                        <p:cTn id="150" dur="500"/>
                                        <p:tgtEl>
                                          <p:spTgt spid="100"/>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nodeType="clickEffect">
                                  <p:stCondLst>
                                    <p:cond delay="0"/>
                                  </p:stCondLst>
                                  <p:childTnLst>
                                    <p:set>
                                      <p:cBhvr>
                                        <p:cTn id="154" dur="1" fill="hold">
                                          <p:stCondLst>
                                            <p:cond delay="0"/>
                                          </p:stCondLst>
                                        </p:cTn>
                                        <p:tgtEl>
                                          <p:spTgt spid="143"/>
                                        </p:tgtEl>
                                        <p:attrNameLst>
                                          <p:attrName>style.visibility</p:attrName>
                                        </p:attrNameLst>
                                      </p:cBhvr>
                                      <p:to>
                                        <p:strVal val="visible"/>
                                      </p:to>
                                    </p:set>
                                    <p:animEffect transition="in" filter="wipe(left)">
                                      <p:cBhvr>
                                        <p:cTn id="155" dur="500"/>
                                        <p:tgtEl>
                                          <p:spTgt spid="143"/>
                                        </p:tgtEl>
                                      </p:cBhvr>
                                    </p:animEffect>
                                  </p:childTnLst>
                                </p:cTn>
                              </p:par>
                            </p:childTnLst>
                          </p:cTn>
                        </p:par>
                        <p:par>
                          <p:cTn id="156" fill="hold">
                            <p:stCondLst>
                              <p:cond delay="500"/>
                            </p:stCondLst>
                            <p:childTnLst>
                              <p:par>
                                <p:cTn id="157" presetID="22" presetClass="entr" presetSubtype="8" fill="hold" grpId="0" nodeType="afterEffect">
                                  <p:stCondLst>
                                    <p:cond delay="0"/>
                                  </p:stCondLst>
                                  <p:childTnLst>
                                    <p:set>
                                      <p:cBhvr>
                                        <p:cTn id="158" dur="1" fill="hold">
                                          <p:stCondLst>
                                            <p:cond delay="0"/>
                                          </p:stCondLst>
                                        </p:cTn>
                                        <p:tgtEl>
                                          <p:spTgt spid="80"/>
                                        </p:tgtEl>
                                        <p:attrNameLst>
                                          <p:attrName>style.visibility</p:attrName>
                                        </p:attrNameLst>
                                      </p:cBhvr>
                                      <p:to>
                                        <p:strVal val="visible"/>
                                      </p:to>
                                    </p:set>
                                    <p:animEffect transition="in" filter="wipe(left)">
                                      <p:cBhvr>
                                        <p:cTn id="159" dur="500"/>
                                        <p:tgtEl>
                                          <p:spTgt spid="80"/>
                                        </p:tgtEl>
                                      </p:cBhvr>
                                    </p:animEffect>
                                  </p:childTnLst>
                                </p:cTn>
                              </p:par>
                            </p:childTnLst>
                          </p:cTn>
                        </p:par>
                        <p:par>
                          <p:cTn id="160" fill="hold">
                            <p:stCondLst>
                              <p:cond delay="1000"/>
                            </p:stCondLst>
                            <p:childTnLst>
                              <p:par>
                                <p:cTn id="161" presetID="10" presetClass="entr" presetSubtype="0" fill="hold" grpId="0" nodeType="afterEffect">
                                  <p:stCondLst>
                                    <p:cond delay="0"/>
                                  </p:stCondLst>
                                  <p:childTnLst>
                                    <p:set>
                                      <p:cBhvr>
                                        <p:cTn id="162" dur="1" fill="hold">
                                          <p:stCondLst>
                                            <p:cond delay="0"/>
                                          </p:stCondLst>
                                        </p:cTn>
                                        <p:tgtEl>
                                          <p:spTgt spid="81"/>
                                        </p:tgtEl>
                                        <p:attrNameLst>
                                          <p:attrName>style.visibility</p:attrName>
                                        </p:attrNameLst>
                                      </p:cBhvr>
                                      <p:to>
                                        <p:strVal val="visible"/>
                                      </p:to>
                                    </p:set>
                                    <p:animEffect transition="in" filter="fade">
                                      <p:cBhvr>
                                        <p:cTn id="163" dur="500"/>
                                        <p:tgtEl>
                                          <p:spTgt spid="81"/>
                                        </p:tgtEl>
                                      </p:cBhvr>
                                    </p:animEffect>
                                  </p:childTnLst>
                                </p:cTn>
                              </p:par>
                            </p:childTnLst>
                          </p:cTn>
                        </p:par>
                        <p:par>
                          <p:cTn id="164" fill="hold">
                            <p:stCondLst>
                              <p:cond delay="1500"/>
                            </p:stCondLst>
                            <p:childTnLst>
                              <p:par>
                                <p:cTn id="165" presetID="22" presetClass="entr" presetSubtype="2" fill="hold" nodeType="afterEffect">
                                  <p:stCondLst>
                                    <p:cond delay="0"/>
                                  </p:stCondLst>
                                  <p:childTnLst>
                                    <p:set>
                                      <p:cBhvr>
                                        <p:cTn id="166" dur="1" fill="hold">
                                          <p:stCondLst>
                                            <p:cond delay="0"/>
                                          </p:stCondLst>
                                        </p:cTn>
                                        <p:tgtEl>
                                          <p:spTgt spid="178"/>
                                        </p:tgtEl>
                                        <p:attrNameLst>
                                          <p:attrName>style.visibility</p:attrName>
                                        </p:attrNameLst>
                                      </p:cBhvr>
                                      <p:to>
                                        <p:strVal val="visible"/>
                                      </p:to>
                                    </p:set>
                                    <p:animEffect transition="in" filter="wipe(right)">
                                      <p:cBhvr>
                                        <p:cTn id="167" dur="500"/>
                                        <p:tgtEl>
                                          <p:spTgt spid="178"/>
                                        </p:tgtEl>
                                      </p:cBhvr>
                                    </p:animEffect>
                                  </p:childTnLst>
                                </p:cTn>
                              </p:par>
                            </p:childTnLst>
                          </p:cTn>
                        </p:par>
                        <p:par>
                          <p:cTn id="168" fill="hold">
                            <p:stCondLst>
                              <p:cond delay="2000"/>
                            </p:stCondLst>
                            <p:childTnLst>
                              <p:par>
                                <p:cTn id="169" presetID="10" presetClass="entr" presetSubtype="0" fill="hold" grpId="0" nodeType="afterEffect">
                                  <p:stCondLst>
                                    <p:cond delay="0"/>
                                  </p:stCondLst>
                                  <p:childTnLst>
                                    <p:set>
                                      <p:cBhvr>
                                        <p:cTn id="170" dur="1" fill="hold">
                                          <p:stCondLst>
                                            <p:cond delay="0"/>
                                          </p:stCondLst>
                                        </p:cTn>
                                        <p:tgtEl>
                                          <p:spTgt spid="85"/>
                                        </p:tgtEl>
                                        <p:attrNameLst>
                                          <p:attrName>style.visibility</p:attrName>
                                        </p:attrNameLst>
                                      </p:cBhvr>
                                      <p:to>
                                        <p:strVal val="visible"/>
                                      </p:to>
                                    </p:set>
                                    <p:animEffect transition="in" filter="fade">
                                      <p:cBhvr>
                                        <p:cTn id="171" dur="500"/>
                                        <p:tgtEl>
                                          <p:spTgt spid="85"/>
                                        </p:tgtEl>
                                      </p:cBhvr>
                                    </p:animEffect>
                                  </p:childTnLst>
                                </p:cTn>
                              </p:par>
                            </p:childTnLst>
                          </p:cTn>
                        </p:par>
                        <p:par>
                          <p:cTn id="172" fill="hold">
                            <p:stCondLst>
                              <p:cond delay="2500"/>
                            </p:stCondLst>
                            <p:childTnLst>
                              <p:par>
                                <p:cTn id="173" presetID="22" presetClass="entr" presetSubtype="8" fill="hold" nodeType="afterEffect">
                                  <p:stCondLst>
                                    <p:cond delay="0"/>
                                  </p:stCondLst>
                                  <p:childTnLst>
                                    <p:set>
                                      <p:cBhvr>
                                        <p:cTn id="174" dur="1" fill="hold">
                                          <p:stCondLst>
                                            <p:cond delay="0"/>
                                          </p:stCondLst>
                                        </p:cTn>
                                        <p:tgtEl>
                                          <p:spTgt spid="181"/>
                                        </p:tgtEl>
                                        <p:attrNameLst>
                                          <p:attrName>style.visibility</p:attrName>
                                        </p:attrNameLst>
                                      </p:cBhvr>
                                      <p:to>
                                        <p:strVal val="visible"/>
                                      </p:to>
                                    </p:set>
                                    <p:animEffect transition="in" filter="wipe(left)">
                                      <p:cBhvr>
                                        <p:cTn id="175" dur="500"/>
                                        <p:tgtEl>
                                          <p:spTgt spid="181"/>
                                        </p:tgtEl>
                                      </p:cBhvr>
                                    </p:animEffect>
                                  </p:childTnLst>
                                </p:cTn>
                              </p:par>
                            </p:childTnLst>
                          </p:cTn>
                        </p:par>
                        <p:par>
                          <p:cTn id="176" fill="hold">
                            <p:stCondLst>
                              <p:cond delay="3000"/>
                            </p:stCondLst>
                            <p:childTnLst>
                              <p:par>
                                <p:cTn id="177" presetID="22" presetClass="entr" presetSubtype="8" fill="hold" nodeType="afterEffect">
                                  <p:stCondLst>
                                    <p:cond delay="0"/>
                                  </p:stCondLst>
                                  <p:childTnLst>
                                    <p:set>
                                      <p:cBhvr>
                                        <p:cTn id="178" dur="1" fill="hold">
                                          <p:stCondLst>
                                            <p:cond delay="0"/>
                                          </p:stCondLst>
                                        </p:cTn>
                                        <p:tgtEl>
                                          <p:spTgt spid="130"/>
                                        </p:tgtEl>
                                        <p:attrNameLst>
                                          <p:attrName>style.visibility</p:attrName>
                                        </p:attrNameLst>
                                      </p:cBhvr>
                                      <p:to>
                                        <p:strVal val="visible"/>
                                      </p:to>
                                    </p:set>
                                    <p:animEffect transition="in" filter="wipe(left)">
                                      <p:cBhvr>
                                        <p:cTn id="179" dur="500"/>
                                        <p:tgtEl>
                                          <p:spTgt spid="130"/>
                                        </p:tgtEl>
                                      </p:cBhvr>
                                    </p:animEffect>
                                  </p:childTnLst>
                                </p:cTn>
                              </p:par>
                            </p:childTnLst>
                          </p:cTn>
                        </p:par>
                        <p:par>
                          <p:cTn id="180" fill="hold">
                            <p:stCondLst>
                              <p:cond delay="3500"/>
                            </p:stCondLst>
                            <p:childTnLst>
                              <p:par>
                                <p:cTn id="181" presetID="22" presetClass="entr" presetSubtype="8" fill="hold" nodeType="afterEffect">
                                  <p:stCondLst>
                                    <p:cond delay="0"/>
                                  </p:stCondLst>
                                  <p:childTnLst>
                                    <p:set>
                                      <p:cBhvr>
                                        <p:cTn id="182" dur="1" fill="hold">
                                          <p:stCondLst>
                                            <p:cond delay="0"/>
                                          </p:stCondLst>
                                        </p:cTn>
                                        <p:tgtEl>
                                          <p:spTgt spid="184"/>
                                        </p:tgtEl>
                                        <p:attrNameLst>
                                          <p:attrName>style.visibility</p:attrName>
                                        </p:attrNameLst>
                                      </p:cBhvr>
                                      <p:to>
                                        <p:strVal val="visible"/>
                                      </p:to>
                                    </p:set>
                                    <p:animEffect transition="in" filter="wipe(left)">
                                      <p:cBhvr>
                                        <p:cTn id="183" dur="500"/>
                                        <p:tgtEl>
                                          <p:spTgt spid="184"/>
                                        </p:tgtEl>
                                      </p:cBhvr>
                                    </p:animEffect>
                                  </p:childTnLst>
                                </p:cTn>
                              </p:par>
                            </p:childTnLst>
                          </p:cTn>
                        </p:par>
                        <p:par>
                          <p:cTn id="184" fill="hold">
                            <p:stCondLst>
                              <p:cond delay="4000"/>
                            </p:stCondLst>
                            <p:childTnLst>
                              <p:par>
                                <p:cTn id="185" presetID="53" presetClass="entr" presetSubtype="16" fill="hold" grpId="0" nodeType="afterEffect">
                                  <p:stCondLst>
                                    <p:cond delay="0"/>
                                  </p:stCondLst>
                                  <p:childTnLst>
                                    <p:set>
                                      <p:cBhvr>
                                        <p:cTn id="186" dur="1" fill="hold">
                                          <p:stCondLst>
                                            <p:cond delay="0"/>
                                          </p:stCondLst>
                                        </p:cTn>
                                        <p:tgtEl>
                                          <p:spTgt spid="101"/>
                                        </p:tgtEl>
                                        <p:attrNameLst>
                                          <p:attrName>style.visibility</p:attrName>
                                        </p:attrNameLst>
                                      </p:cBhvr>
                                      <p:to>
                                        <p:strVal val="visible"/>
                                      </p:to>
                                    </p:set>
                                    <p:anim calcmode="lin" valueType="num">
                                      <p:cBhvr>
                                        <p:cTn id="187" dur="500" fill="hold"/>
                                        <p:tgtEl>
                                          <p:spTgt spid="101"/>
                                        </p:tgtEl>
                                        <p:attrNameLst>
                                          <p:attrName>ppt_w</p:attrName>
                                        </p:attrNameLst>
                                      </p:cBhvr>
                                      <p:tavLst>
                                        <p:tav tm="0">
                                          <p:val>
                                            <p:fltVal val="0"/>
                                          </p:val>
                                        </p:tav>
                                        <p:tav tm="100000">
                                          <p:val>
                                            <p:strVal val="#ppt_w"/>
                                          </p:val>
                                        </p:tav>
                                      </p:tavLst>
                                    </p:anim>
                                    <p:anim calcmode="lin" valueType="num">
                                      <p:cBhvr>
                                        <p:cTn id="188" dur="500" fill="hold"/>
                                        <p:tgtEl>
                                          <p:spTgt spid="101"/>
                                        </p:tgtEl>
                                        <p:attrNameLst>
                                          <p:attrName>ppt_h</p:attrName>
                                        </p:attrNameLst>
                                      </p:cBhvr>
                                      <p:tavLst>
                                        <p:tav tm="0">
                                          <p:val>
                                            <p:fltVal val="0"/>
                                          </p:val>
                                        </p:tav>
                                        <p:tav tm="100000">
                                          <p:val>
                                            <p:strVal val="#ppt_h"/>
                                          </p:val>
                                        </p:tav>
                                      </p:tavLst>
                                    </p:anim>
                                    <p:animEffect transition="in" filter="fade">
                                      <p:cBhvr>
                                        <p:cTn id="18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76" grpId="0" animBg="1"/>
      <p:bldP spid="16" grpId="0" animBg="1"/>
      <p:bldP spid="33" grpId="0" animBg="1"/>
      <p:bldP spid="37" grpId="0" animBg="1"/>
      <p:bldP spid="64" grpId="0" animBg="1"/>
      <p:bldP spid="65" grpId="0" animBg="1"/>
      <p:bldP spid="66" grpId="0" animBg="1"/>
      <p:bldP spid="70" grpId="0" animBg="1"/>
      <p:bldP spid="71" grpId="0" animBg="1"/>
      <p:bldP spid="72" grpId="0" animBg="1"/>
      <p:bldP spid="79" grpId="0" animBg="1"/>
      <p:bldP spid="80" grpId="0" animBg="1"/>
      <p:bldP spid="81" grpId="0" animBg="1"/>
      <p:bldP spid="85" grpId="0" animBg="1"/>
      <p:bldP spid="100" grpId="0" animBg="1"/>
      <p:bldP spid="101" grpId="0" animBg="1"/>
      <p:bldP spid="15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6D4-D430-E071-BE63-2F87AD2AE03B}"/>
            </a:ext>
          </a:extLst>
        </p:cNvPr>
        <p:cNvGrpSpPr/>
        <p:nvPr/>
      </p:nvGrpSpPr>
      <p:grpSpPr>
        <a:xfrm>
          <a:off x="0" y="0"/>
          <a:ext cx="0" cy="0"/>
          <a:chOff x="0" y="0"/>
          <a:chExt cx="0" cy="0"/>
        </a:xfrm>
      </p:grpSpPr>
      <p:sp>
        <p:nvSpPr>
          <p:cNvPr id="39" name="Rounded Rectangle 38">
            <a:extLst>
              <a:ext uri="{FF2B5EF4-FFF2-40B4-BE49-F238E27FC236}">
                <a16:creationId xmlns:a16="http://schemas.microsoft.com/office/drawing/2014/main" id="{3EC6F5A1-6CEA-02E5-2F87-82E1B01B5749}"/>
              </a:ext>
            </a:extLst>
          </p:cNvPr>
          <p:cNvSpPr/>
          <p:nvPr/>
        </p:nvSpPr>
        <p:spPr>
          <a:xfrm>
            <a:off x="1582455" y="2574239"/>
            <a:ext cx="3540690" cy="7265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2D44D39-B1CE-257F-A1FF-286648891171}"/>
              </a:ext>
            </a:extLst>
          </p:cNvPr>
          <p:cNvSpPr txBox="1"/>
          <p:nvPr/>
        </p:nvSpPr>
        <p:spPr>
          <a:xfrm>
            <a:off x="4133580" y="2619836"/>
            <a:ext cx="482504" cy="184666"/>
          </a:xfrm>
          <a:prstGeom prst="rect">
            <a:avLst/>
          </a:prstGeom>
          <a:noFill/>
        </p:spPr>
        <p:txBody>
          <a:bodyPr wrap="none" lIns="0" tIns="0" rIns="0" bIns="0" rtlCol="0">
            <a:spAutoFit/>
          </a:bodyPr>
          <a:lstStyle/>
          <a:p>
            <a:pPr algn="ctr" defTabSz="914126">
              <a:defRPr/>
            </a:pPr>
            <a:r>
              <a:rPr lang="en-US" sz="12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Refine</a:t>
            </a:r>
          </a:p>
        </p:txBody>
      </p:sp>
      <p:sp>
        <p:nvSpPr>
          <p:cNvPr id="14" name="TextBox 13">
            <a:extLst>
              <a:ext uri="{FF2B5EF4-FFF2-40B4-BE49-F238E27FC236}">
                <a16:creationId xmlns:a16="http://schemas.microsoft.com/office/drawing/2014/main" id="{4D90A748-2E8F-0675-1498-B2EC5D483D88}"/>
              </a:ext>
            </a:extLst>
          </p:cNvPr>
          <p:cNvSpPr txBox="1"/>
          <p:nvPr/>
        </p:nvSpPr>
        <p:spPr>
          <a:xfrm>
            <a:off x="4204091" y="2309573"/>
            <a:ext cx="469680" cy="92333"/>
          </a:xfrm>
          <a:prstGeom prst="rect">
            <a:avLst/>
          </a:prstGeom>
          <a:noFill/>
        </p:spPr>
        <p:txBody>
          <a:bodyPr wrap="none" lIns="0" tIns="0" rIns="0" bIns="0" rtlCol="0">
            <a:spAutoFit/>
          </a:bodyPr>
          <a:lstStyle/>
          <a:p>
            <a:pPr algn="ctr" defTabSz="914126">
              <a:defRPr/>
            </a:pPr>
            <a:r>
              <a:rPr lang="en-US" sz="600" b="1">
                <a:gradFill>
                  <a:gsLst>
                    <a:gs pos="100000">
                      <a:prstClr val="white"/>
                    </a:gs>
                    <a:gs pos="0">
                      <a:prstClr val="white"/>
                    </a:gs>
                  </a:gsLst>
                  <a:lin ang="2700000" scaled="1"/>
                </a:gradFill>
                <a:latin typeface="72 Brand" panose="020B0504030603020204" pitchFamily="34" charset="0"/>
                <a:cs typeface="72 Bold" panose="020B0803030000000003" pitchFamily="34" charset="0"/>
              </a:rPr>
              <a:t>Map-Reduce</a:t>
            </a:r>
          </a:p>
        </p:txBody>
      </p:sp>
      <p:graphicFrame>
        <p:nvGraphicFramePr>
          <p:cNvPr id="4" name="think-cell data - do not delete" hidden="1">
            <a:extLst>
              <a:ext uri="{FF2B5EF4-FFF2-40B4-BE49-F238E27FC236}">
                <a16:creationId xmlns:a16="http://schemas.microsoft.com/office/drawing/2014/main" id="{4CF7CEF8-F297-2C16-85FE-4F07F4635AED}"/>
              </a:ext>
            </a:extLst>
          </p:cNvPr>
          <p:cNvGraphicFramePr>
            <a:graphicFrameLocks noChangeAspect="1"/>
          </p:cNvGraphicFramePr>
          <p:nvPr>
            <p:custDataLst>
              <p:tags r:id="rId1"/>
            </p:custDataLst>
          </p:nvPr>
        </p:nvGraphicFramePr>
        <p:xfrm>
          <a:off x="1588"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4CF7CEF8-F297-2C16-85FE-4F07F4635AED}"/>
                          </a:ext>
                        </a:extLst>
                      </p:cNvPr>
                      <p:cNvPicPr/>
                      <p:nvPr/>
                    </p:nvPicPr>
                    <p:blipFill>
                      <a:blip r:embed="rId5"/>
                      <a:stretch>
                        <a:fillRect/>
                      </a:stretch>
                    </p:blipFill>
                    <p:spPr>
                      <a:xfrm>
                        <a:off x="1588" y="2480"/>
                        <a:ext cx="1227" cy="1588"/>
                      </a:xfrm>
                      <a:prstGeom prst="rect">
                        <a:avLst/>
                      </a:prstGeom>
                    </p:spPr>
                  </p:pic>
                </p:oleObj>
              </mc:Fallback>
            </mc:AlternateContent>
          </a:graphicData>
        </a:graphic>
      </p:graphicFrame>
      <p:sp>
        <p:nvSpPr>
          <p:cNvPr id="3" name="Rounded Rectangle 2">
            <a:extLst>
              <a:ext uri="{FF2B5EF4-FFF2-40B4-BE49-F238E27FC236}">
                <a16:creationId xmlns:a16="http://schemas.microsoft.com/office/drawing/2014/main" id="{D24336F6-F8F3-DAAB-D8BE-986F333F9289}"/>
              </a:ext>
            </a:extLst>
          </p:cNvPr>
          <p:cNvSpPr>
            <a:spLocks/>
          </p:cNvSpPr>
          <p:nvPr/>
        </p:nvSpPr>
        <p:spPr bwMode="auto">
          <a:xfrm>
            <a:off x="1235652" y="1658709"/>
            <a:ext cx="9373893" cy="4643415"/>
          </a:xfrm>
          <a:prstGeom prst="roundRect">
            <a:avLst>
              <a:gd name="adj" fmla="val 3201"/>
            </a:avLst>
          </a:prstGeom>
          <a:solidFill>
            <a:srgbClr val="D2EFFF"/>
          </a:solidFill>
          <a:ln w="9525" cap="flat" cmpd="sng" algn="ctr">
            <a:solidFill>
              <a:srgbClr val="006FF2"/>
            </a:solidFill>
            <a:prstDash val="solid"/>
            <a:headEnd type="none" w="med" len="med"/>
            <a:tailEnd type="none" w="med" len="med"/>
          </a:ln>
          <a:effectLst>
            <a:outerShdw blurRad="190500" dir="2700000" algn="tl" rotWithShape="0">
              <a:prstClr val="black">
                <a:alpha val="24000"/>
              </a:prstClr>
            </a:outerShdw>
          </a:effectLst>
        </p:spPr>
        <p:txBody>
          <a:bodyPr rot="0" spcFirstLastPara="0" vertOverflow="overflow" horzOverflow="overflow" vert="horz" wrap="square" lIns="180000" tIns="108000" rIns="180000" bIns="36000" numCol="1" spcCol="0" rtlCol="0" fromWordArt="0" anchor="t" anchorCtr="0" forceAA="0" compatLnSpc="1">
            <a:prstTxWarp prst="textNoShape">
              <a:avLst/>
            </a:prstTxWarp>
            <a:noAutofit/>
          </a:bodyPr>
          <a:lstStyle/>
          <a:p>
            <a:pPr marL="0" marR="0" lvl="0" indent="0" defTabSz="932192" rtl="0" eaLnBrk="1" fontAlgn="base" latinLnBrk="0" hangingPunct="1">
              <a:lnSpc>
                <a:spcPct val="90000"/>
              </a:lnSpc>
              <a:spcBef>
                <a:spcPct val="0"/>
              </a:spcBef>
              <a:spcAft>
                <a:spcPts val="600"/>
              </a:spcAft>
              <a:buClr>
                <a:srgbClr val="0070F2"/>
              </a:buClr>
              <a:buSzTx/>
              <a:buFontTx/>
              <a:buNone/>
              <a:tabLst/>
              <a:defRPr/>
            </a:pPr>
            <a:r>
              <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SAP Business</a:t>
            </a:r>
            <a:r>
              <a:rPr kumimoji="0" lang="en-GB" sz="1400" b="0" i="0" u="none" strike="noStrike" kern="0" cap="none" spc="0" normalizeH="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rPr>
              <a:t> Technology Platform</a:t>
            </a:r>
            <a:endParaRPr kumimoji="0" lang="en-GB" sz="1400" b="0" i="0" u="none" strike="noStrike" kern="0" cap="none" spc="0" normalizeH="0" baseline="0" noProof="0">
              <a:ln>
                <a:noFill/>
              </a:ln>
              <a:solidFill>
                <a:srgbClr val="000000"/>
              </a:solidFill>
              <a:effectLst/>
              <a:uLnTx/>
              <a:uFillTx/>
              <a:latin typeface="72 Brand Medium" panose="020B0504030603020204" pitchFamily="34" charset="0"/>
              <a:ea typeface="Arial Unicode MS" pitchFamily="34" charset="-128"/>
              <a:cs typeface="72 Black" panose="020B0503030000000003" pitchFamily="34" charset="0"/>
            </a:endParaRPr>
          </a:p>
        </p:txBody>
      </p:sp>
      <p:grpSp>
        <p:nvGrpSpPr>
          <p:cNvPr id="100" name="Group 99">
            <a:extLst>
              <a:ext uri="{FF2B5EF4-FFF2-40B4-BE49-F238E27FC236}">
                <a16:creationId xmlns:a16="http://schemas.microsoft.com/office/drawing/2014/main" id="{B2CB3DB1-D00E-4EAF-F84E-D46EB0312124}"/>
              </a:ext>
            </a:extLst>
          </p:cNvPr>
          <p:cNvGrpSpPr/>
          <p:nvPr/>
        </p:nvGrpSpPr>
        <p:grpSpPr>
          <a:xfrm>
            <a:off x="1431097" y="2149000"/>
            <a:ext cx="3832965" cy="3835194"/>
            <a:chOff x="1431097" y="1848235"/>
            <a:chExt cx="3832965" cy="3835194"/>
          </a:xfrm>
          <a:effectLst>
            <a:outerShdw blurRad="21236" dist="50800" dir="5400000" sx="1000" sy="1000" algn="ctr" rotWithShape="0">
              <a:srgbClr val="000000">
                <a:alpha val="43137"/>
              </a:srgbClr>
            </a:outerShdw>
          </a:effectLst>
        </p:grpSpPr>
        <p:sp>
          <p:nvSpPr>
            <p:cNvPr id="31" name="Rounded Rectangle 30">
              <a:extLst>
                <a:ext uri="{FF2B5EF4-FFF2-40B4-BE49-F238E27FC236}">
                  <a16:creationId xmlns:a16="http://schemas.microsoft.com/office/drawing/2014/main" id="{3256D0AB-DCDA-7E5C-CF13-69CC15B01686}"/>
                </a:ext>
              </a:extLst>
            </p:cNvPr>
            <p:cNvSpPr/>
            <p:nvPr/>
          </p:nvSpPr>
          <p:spPr>
            <a:xfrm>
              <a:off x="1431097" y="1848235"/>
              <a:ext cx="3832965" cy="3835194"/>
            </a:xfrm>
            <a:prstGeom prst="roundRect">
              <a:avLst>
                <a:gd name="adj" fmla="val 873"/>
              </a:avLst>
            </a:prstGeom>
            <a:ln w="6350">
              <a:solidFill>
                <a:srgbClr val="002986"/>
              </a:solidFill>
            </a:ln>
            <a:effectLst>
              <a:outerShdw blurRad="224376" sx="102000" sy="102000" algn="ctr"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ECEA7639-D098-4EA3-DCDC-E93D2AE05A16}"/>
                </a:ext>
              </a:extLst>
            </p:cNvPr>
            <p:cNvSpPr txBox="1"/>
            <p:nvPr/>
          </p:nvSpPr>
          <p:spPr>
            <a:xfrm>
              <a:off x="2909798" y="1914526"/>
              <a:ext cx="875561" cy="276999"/>
            </a:xfrm>
            <a:prstGeom prst="rect">
              <a:avLst/>
            </a:prstGeom>
            <a:noFill/>
          </p:spPr>
          <p:txBody>
            <a:bodyPr wrap="none" rtlCol="0">
              <a:spAutoFit/>
            </a:bodyPr>
            <a:lstStyle/>
            <a:p>
              <a:r>
                <a:rPr lang="en-US" sz="1200">
                  <a:latin typeface="72 Brand" panose="020B0504030603020204" pitchFamily="34" charset="0"/>
                </a:rPr>
                <a:t>Langchain</a:t>
              </a:r>
            </a:p>
          </p:txBody>
        </p:sp>
      </p:grpSp>
      <p:grpSp>
        <p:nvGrpSpPr>
          <p:cNvPr id="67" name="Group 66">
            <a:extLst>
              <a:ext uri="{FF2B5EF4-FFF2-40B4-BE49-F238E27FC236}">
                <a16:creationId xmlns:a16="http://schemas.microsoft.com/office/drawing/2014/main" id="{11FED73A-EFD0-3DA4-5070-09EF20FC6C4D}"/>
              </a:ext>
            </a:extLst>
          </p:cNvPr>
          <p:cNvGrpSpPr/>
          <p:nvPr/>
        </p:nvGrpSpPr>
        <p:grpSpPr>
          <a:xfrm>
            <a:off x="1614013" y="2608644"/>
            <a:ext cx="3394552" cy="658606"/>
            <a:chOff x="1634555" y="2200158"/>
            <a:chExt cx="3394552" cy="658606"/>
          </a:xfrm>
        </p:grpSpPr>
        <p:sp>
          <p:nvSpPr>
            <p:cNvPr id="64" name="Rounded Rectangle 63">
              <a:extLst>
                <a:ext uri="{FF2B5EF4-FFF2-40B4-BE49-F238E27FC236}">
                  <a16:creationId xmlns:a16="http://schemas.microsoft.com/office/drawing/2014/main" id="{DCBFCDCE-4684-B079-A802-173D796BD7AC}"/>
                </a:ext>
              </a:extLst>
            </p:cNvPr>
            <p:cNvSpPr/>
            <p:nvPr/>
          </p:nvSpPr>
          <p:spPr>
            <a:xfrm>
              <a:off x="1634555" y="2200158"/>
              <a:ext cx="3394552" cy="658606"/>
            </a:xfrm>
            <a:prstGeom prst="roundRect">
              <a:avLst/>
            </a:prstGeom>
            <a:solidFill>
              <a:schemeClr val="accent1">
                <a:alpha val="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781708ED-78E1-B096-7421-4EBDE5405941}"/>
                </a:ext>
              </a:extLst>
            </p:cNvPr>
            <p:cNvSpPr/>
            <p:nvPr/>
          </p:nvSpPr>
          <p:spPr>
            <a:xfrm>
              <a:off x="1699365" y="2501844"/>
              <a:ext cx="1020871" cy="295830"/>
            </a:xfrm>
            <a:prstGeom prst="roundRect">
              <a:avLst/>
            </a:prstGeom>
            <a:solidFill>
              <a:srgbClr val="D2EF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Stuff</a:t>
              </a:r>
            </a:p>
          </p:txBody>
        </p:sp>
        <p:sp>
          <p:nvSpPr>
            <p:cNvPr id="36" name="Rounded Rectangle 35">
              <a:extLst>
                <a:ext uri="{FF2B5EF4-FFF2-40B4-BE49-F238E27FC236}">
                  <a16:creationId xmlns:a16="http://schemas.microsoft.com/office/drawing/2014/main" id="{E2B6F112-45BC-42BB-B4A2-F3033B8ED04A}"/>
                </a:ext>
              </a:extLst>
            </p:cNvPr>
            <p:cNvSpPr/>
            <p:nvPr/>
          </p:nvSpPr>
          <p:spPr>
            <a:xfrm>
              <a:off x="2837145" y="2501844"/>
              <a:ext cx="1020871" cy="295830"/>
            </a:xfrm>
            <a:prstGeom prst="roundRect">
              <a:avLst/>
            </a:prstGeom>
            <a:solidFill>
              <a:srgbClr val="D2EF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Map Reduce</a:t>
              </a:r>
            </a:p>
          </p:txBody>
        </p:sp>
        <p:sp>
          <p:nvSpPr>
            <p:cNvPr id="37" name="Rounded Rectangle 36">
              <a:extLst>
                <a:ext uri="{FF2B5EF4-FFF2-40B4-BE49-F238E27FC236}">
                  <a16:creationId xmlns:a16="http://schemas.microsoft.com/office/drawing/2014/main" id="{206F9B89-E551-F3CF-B5EF-07B36E468C87}"/>
                </a:ext>
              </a:extLst>
            </p:cNvPr>
            <p:cNvSpPr/>
            <p:nvPr/>
          </p:nvSpPr>
          <p:spPr>
            <a:xfrm>
              <a:off x="3945698" y="2488312"/>
              <a:ext cx="1020871" cy="295830"/>
            </a:xfrm>
            <a:prstGeom prst="roundRect">
              <a:avLst/>
            </a:prstGeom>
            <a:solidFill>
              <a:srgbClr val="D2EF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Refine</a:t>
              </a:r>
            </a:p>
          </p:txBody>
        </p:sp>
        <p:sp>
          <p:nvSpPr>
            <p:cNvPr id="66" name="TextBox 65">
              <a:extLst>
                <a:ext uri="{FF2B5EF4-FFF2-40B4-BE49-F238E27FC236}">
                  <a16:creationId xmlns:a16="http://schemas.microsoft.com/office/drawing/2014/main" id="{E46796C7-D94C-97B5-245C-038C26284E0A}"/>
                </a:ext>
              </a:extLst>
            </p:cNvPr>
            <p:cNvSpPr txBox="1"/>
            <p:nvPr/>
          </p:nvSpPr>
          <p:spPr>
            <a:xfrm>
              <a:off x="1634555" y="2219769"/>
              <a:ext cx="1380506" cy="246221"/>
            </a:xfrm>
            <a:prstGeom prst="rect">
              <a:avLst/>
            </a:prstGeom>
            <a:noFill/>
          </p:spPr>
          <p:txBody>
            <a:bodyPr wrap="none" rtlCol="0">
              <a:spAutoFit/>
            </a:bodyPr>
            <a:lstStyle/>
            <a:p>
              <a:r>
                <a:rPr lang="en-US" sz="1000">
                  <a:latin typeface="72 Brand" panose="020B0504030603020204" pitchFamily="34" charset="0"/>
                </a:rPr>
                <a:t>Summarization Chain</a:t>
              </a:r>
            </a:p>
          </p:txBody>
        </p:sp>
      </p:grpSp>
      <p:grpSp>
        <p:nvGrpSpPr>
          <p:cNvPr id="68" name="Group 67">
            <a:extLst>
              <a:ext uri="{FF2B5EF4-FFF2-40B4-BE49-F238E27FC236}">
                <a16:creationId xmlns:a16="http://schemas.microsoft.com/office/drawing/2014/main" id="{D64160FD-9626-6D85-14A9-B3A4A4F64BDE}"/>
              </a:ext>
            </a:extLst>
          </p:cNvPr>
          <p:cNvGrpSpPr/>
          <p:nvPr/>
        </p:nvGrpSpPr>
        <p:grpSpPr>
          <a:xfrm>
            <a:off x="1650302" y="3412343"/>
            <a:ext cx="3394552" cy="658606"/>
            <a:chOff x="1634555" y="2200158"/>
            <a:chExt cx="3394552" cy="658606"/>
          </a:xfrm>
        </p:grpSpPr>
        <p:sp>
          <p:nvSpPr>
            <p:cNvPr id="69" name="Rounded Rectangle 68">
              <a:extLst>
                <a:ext uri="{FF2B5EF4-FFF2-40B4-BE49-F238E27FC236}">
                  <a16:creationId xmlns:a16="http://schemas.microsoft.com/office/drawing/2014/main" id="{A49DB729-EF56-82C5-0521-47932AC10F7A}"/>
                </a:ext>
              </a:extLst>
            </p:cNvPr>
            <p:cNvSpPr/>
            <p:nvPr/>
          </p:nvSpPr>
          <p:spPr>
            <a:xfrm>
              <a:off x="1634555" y="2200158"/>
              <a:ext cx="3394552" cy="658606"/>
            </a:xfrm>
            <a:prstGeom prst="roundRect">
              <a:avLst/>
            </a:prstGeom>
            <a:solidFill>
              <a:schemeClr val="accent1">
                <a:alpha val="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a:extLst>
                <a:ext uri="{FF2B5EF4-FFF2-40B4-BE49-F238E27FC236}">
                  <a16:creationId xmlns:a16="http://schemas.microsoft.com/office/drawing/2014/main" id="{6B778E0E-EE55-A3B9-FA2E-9328C8D1B3D0}"/>
                </a:ext>
              </a:extLst>
            </p:cNvPr>
            <p:cNvSpPr/>
            <p:nvPr/>
          </p:nvSpPr>
          <p:spPr>
            <a:xfrm>
              <a:off x="1699365" y="2501844"/>
              <a:ext cx="1020871" cy="295830"/>
            </a:xfrm>
            <a:prstGeom prst="roundRect">
              <a:avLst/>
            </a:prstGeom>
            <a:solidFill>
              <a:srgbClr val="E2D8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Open AI</a:t>
              </a:r>
            </a:p>
          </p:txBody>
        </p:sp>
        <p:sp>
          <p:nvSpPr>
            <p:cNvPr id="71" name="Rounded Rectangle 70">
              <a:extLst>
                <a:ext uri="{FF2B5EF4-FFF2-40B4-BE49-F238E27FC236}">
                  <a16:creationId xmlns:a16="http://schemas.microsoft.com/office/drawing/2014/main" id="{92196996-7607-0D37-B616-0F789FDC4B09}"/>
                </a:ext>
              </a:extLst>
            </p:cNvPr>
            <p:cNvSpPr/>
            <p:nvPr/>
          </p:nvSpPr>
          <p:spPr>
            <a:xfrm>
              <a:off x="2837145" y="2501844"/>
              <a:ext cx="1020871" cy="295830"/>
            </a:xfrm>
            <a:prstGeom prst="roundRect">
              <a:avLst/>
            </a:prstGeom>
            <a:solidFill>
              <a:srgbClr val="E2D8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Anthropic</a:t>
              </a:r>
            </a:p>
          </p:txBody>
        </p:sp>
        <p:sp>
          <p:nvSpPr>
            <p:cNvPr id="72" name="Rounded Rectangle 71">
              <a:extLst>
                <a:ext uri="{FF2B5EF4-FFF2-40B4-BE49-F238E27FC236}">
                  <a16:creationId xmlns:a16="http://schemas.microsoft.com/office/drawing/2014/main" id="{E65568DF-8A1E-CB83-CAD2-58B24F555D13}"/>
                </a:ext>
              </a:extLst>
            </p:cNvPr>
            <p:cNvSpPr/>
            <p:nvPr/>
          </p:nvSpPr>
          <p:spPr>
            <a:xfrm>
              <a:off x="3945698" y="2488312"/>
              <a:ext cx="1020871" cy="295830"/>
            </a:xfrm>
            <a:prstGeom prst="roundRect">
              <a:avLst/>
            </a:prstGeom>
            <a:solidFill>
              <a:srgbClr val="E2D8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2986"/>
                  </a:solidFill>
                </a:rPr>
                <a:t>Llama</a:t>
              </a:r>
            </a:p>
          </p:txBody>
        </p:sp>
        <p:sp>
          <p:nvSpPr>
            <p:cNvPr id="79" name="TextBox 78">
              <a:extLst>
                <a:ext uri="{FF2B5EF4-FFF2-40B4-BE49-F238E27FC236}">
                  <a16:creationId xmlns:a16="http://schemas.microsoft.com/office/drawing/2014/main" id="{034A0F4C-B2F1-FB95-552F-3089DEF50A04}"/>
                </a:ext>
              </a:extLst>
            </p:cNvPr>
            <p:cNvSpPr txBox="1"/>
            <p:nvPr/>
          </p:nvSpPr>
          <p:spPr>
            <a:xfrm>
              <a:off x="1634555" y="2219769"/>
              <a:ext cx="904415" cy="246221"/>
            </a:xfrm>
            <a:prstGeom prst="rect">
              <a:avLst/>
            </a:prstGeom>
            <a:noFill/>
          </p:spPr>
          <p:txBody>
            <a:bodyPr wrap="none" rtlCol="0">
              <a:spAutoFit/>
            </a:bodyPr>
            <a:lstStyle/>
            <a:p>
              <a:r>
                <a:rPr lang="en-US" sz="1000">
                  <a:latin typeface="72 Brand" panose="020B0504030603020204" pitchFamily="34" charset="0"/>
                </a:rPr>
                <a:t>Chat Models</a:t>
              </a:r>
            </a:p>
          </p:txBody>
        </p:sp>
      </p:grpSp>
      <p:grpSp>
        <p:nvGrpSpPr>
          <p:cNvPr id="101" name="Group 100">
            <a:extLst>
              <a:ext uri="{FF2B5EF4-FFF2-40B4-BE49-F238E27FC236}">
                <a16:creationId xmlns:a16="http://schemas.microsoft.com/office/drawing/2014/main" id="{4D7D96A8-7F2F-91E1-E779-546E818AF6E1}"/>
              </a:ext>
            </a:extLst>
          </p:cNvPr>
          <p:cNvGrpSpPr/>
          <p:nvPr/>
        </p:nvGrpSpPr>
        <p:grpSpPr>
          <a:xfrm>
            <a:off x="1666987" y="3555404"/>
            <a:ext cx="3279040" cy="2225806"/>
            <a:chOff x="1634555" y="2200158"/>
            <a:chExt cx="3394552" cy="658606"/>
          </a:xfrm>
        </p:grpSpPr>
        <p:sp>
          <p:nvSpPr>
            <p:cNvPr id="102" name="Rounded Rectangle 101">
              <a:extLst>
                <a:ext uri="{FF2B5EF4-FFF2-40B4-BE49-F238E27FC236}">
                  <a16:creationId xmlns:a16="http://schemas.microsoft.com/office/drawing/2014/main" id="{020FDA0B-2B2F-ABAC-173C-5730114D7247}"/>
                </a:ext>
              </a:extLst>
            </p:cNvPr>
            <p:cNvSpPr/>
            <p:nvPr/>
          </p:nvSpPr>
          <p:spPr>
            <a:xfrm>
              <a:off x="1634555" y="2200158"/>
              <a:ext cx="3394552" cy="658606"/>
            </a:xfrm>
            <a:prstGeom prst="roundRect">
              <a:avLst>
                <a:gd name="adj" fmla="val 2182"/>
              </a:avLst>
            </a:prstGeom>
            <a:solidFill>
              <a:srgbClr val="E2D8FF">
                <a:alpha val="58159"/>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ounded Rectangle 102">
              <a:extLst>
                <a:ext uri="{FF2B5EF4-FFF2-40B4-BE49-F238E27FC236}">
                  <a16:creationId xmlns:a16="http://schemas.microsoft.com/office/drawing/2014/main" id="{9479C8F8-36C5-72F0-DF3E-A0130476C0A0}"/>
                </a:ext>
              </a:extLst>
            </p:cNvPr>
            <p:cNvSpPr/>
            <p:nvPr/>
          </p:nvSpPr>
          <p:spPr>
            <a:xfrm>
              <a:off x="2053152" y="2476240"/>
              <a:ext cx="2530500" cy="294734"/>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002986"/>
                  </a:solidFill>
                  <a:latin typeface="72 Brand" panose="020B0504030603020204" pitchFamily="34" charset="0"/>
                </a:rPr>
                <a:t>cap-</a:t>
              </a:r>
              <a:r>
                <a:rPr lang="en-US" sz="1600" err="1">
                  <a:solidFill>
                    <a:srgbClr val="002986"/>
                  </a:solidFill>
                  <a:latin typeface="72 Brand" panose="020B0504030603020204" pitchFamily="34" charset="0"/>
                </a:rPr>
                <a:t>llm</a:t>
              </a:r>
              <a:r>
                <a:rPr lang="en-US" sz="1600">
                  <a:solidFill>
                    <a:srgbClr val="002986"/>
                  </a:solidFill>
                  <a:latin typeface="72 Brand" panose="020B0504030603020204" pitchFamily="34" charset="0"/>
                </a:rPr>
                <a:t>-plugin</a:t>
              </a:r>
            </a:p>
            <a:p>
              <a:pPr algn="ctr"/>
              <a:r>
                <a:rPr lang="en-US" sz="1100">
                  <a:solidFill>
                    <a:srgbClr val="002986"/>
                  </a:solidFill>
                  <a:latin typeface="72 Brand" panose="020B0504030603020204" pitchFamily="34" charset="0"/>
                </a:rPr>
                <a:t>(Consuming Library)</a:t>
              </a:r>
            </a:p>
          </p:txBody>
        </p:sp>
        <p:sp>
          <p:nvSpPr>
            <p:cNvPr id="104" name="TextBox 103">
              <a:extLst>
                <a:ext uri="{FF2B5EF4-FFF2-40B4-BE49-F238E27FC236}">
                  <a16:creationId xmlns:a16="http://schemas.microsoft.com/office/drawing/2014/main" id="{5B753578-643A-3E43-16FF-6FFADA4D738C}"/>
                </a:ext>
              </a:extLst>
            </p:cNvPr>
            <p:cNvSpPr txBox="1"/>
            <p:nvPr/>
          </p:nvSpPr>
          <p:spPr>
            <a:xfrm>
              <a:off x="1688943" y="2232182"/>
              <a:ext cx="1357781" cy="72856"/>
            </a:xfrm>
            <a:prstGeom prst="rect">
              <a:avLst/>
            </a:prstGeom>
            <a:noFill/>
          </p:spPr>
          <p:txBody>
            <a:bodyPr wrap="none" rtlCol="0">
              <a:spAutoFit/>
            </a:bodyPr>
            <a:lstStyle/>
            <a:p>
              <a:r>
                <a:rPr lang="en-US" sz="1000">
                  <a:latin typeface="72 Brand" panose="020B0504030603020204" pitchFamily="34" charset="0"/>
                </a:rPr>
                <a:t>Custom Chat Model</a:t>
              </a:r>
            </a:p>
          </p:txBody>
        </p:sp>
      </p:grpSp>
      <p:cxnSp>
        <p:nvCxnSpPr>
          <p:cNvPr id="105" name="Straight Arrow Connector 104">
            <a:extLst>
              <a:ext uri="{FF2B5EF4-FFF2-40B4-BE49-F238E27FC236}">
                <a16:creationId xmlns:a16="http://schemas.microsoft.com/office/drawing/2014/main" id="{6DF8A5E0-687A-39F6-80F5-91F59CA902E2}"/>
              </a:ext>
            </a:extLst>
          </p:cNvPr>
          <p:cNvCxnSpPr>
            <a:cxnSpLocks/>
          </p:cNvCxnSpPr>
          <p:nvPr/>
        </p:nvCxnSpPr>
        <p:spPr>
          <a:xfrm>
            <a:off x="4946027" y="5029112"/>
            <a:ext cx="1655170" cy="0"/>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nvGrpSpPr>
          <p:cNvPr id="131" name="Group 130">
            <a:extLst>
              <a:ext uri="{FF2B5EF4-FFF2-40B4-BE49-F238E27FC236}">
                <a16:creationId xmlns:a16="http://schemas.microsoft.com/office/drawing/2014/main" id="{BC1C413F-C7A3-6210-EB5A-8FD2BD9BEDDE}"/>
              </a:ext>
            </a:extLst>
          </p:cNvPr>
          <p:cNvGrpSpPr/>
          <p:nvPr/>
        </p:nvGrpSpPr>
        <p:grpSpPr>
          <a:xfrm>
            <a:off x="8952913" y="4326659"/>
            <a:ext cx="1293082" cy="1554813"/>
            <a:chOff x="8952913" y="4128616"/>
            <a:chExt cx="1293082" cy="1554813"/>
          </a:xfrm>
        </p:grpSpPr>
        <p:sp>
          <p:nvSpPr>
            <p:cNvPr id="121" name="Rounded Rectangle 120">
              <a:extLst>
                <a:ext uri="{FF2B5EF4-FFF2-40B4-BE49-F238E27FC236}">
                  <a16:creationId xmlns:a16="http://schemas.microsoft.com/office/drawing/2014/main" id="{FF2E35A6-9D7D-C9FF-2923-3532B0D3495D}"/>
                </a:ext>
              </a:extLst>
            </p:cNvPr>
            <p:cNvSpPr>
              <a:spLocks/>
            </p:cNvSpPr>
            <p:nvPr/>
          </p:nvSpPr>
          <p:spPr bwMode="auto">
            <a:xfrm>
              <a:off x="8952913" y="4128616"/>
              <a:ext cx="1293082" cy="1554813"/>
            </a:xfrm>
            <a:prstGeom prst="roundRect">
              <a:avLst>
                <a:gd name="adj" fmla="val 3267"/>
              </a:avLst>
            </a:prstGeom>
            <a:solidFill>
              <a:schemeClr val="bg1">
                <a:lumMod val="85000"/>
              </a:schemeClr>
            </a:solidFill>
            <a:ln w="6350" algn="ctr">
              <a:solidFill>
                <a:schemeClr val="tx1"/>
              </a:solidFill>
              <a:prstDash val="solid"/>
              <a:miter lim="800000"/>
              <a:headEnd/>
              <a:tailEnd/>
            </a:ln>
            <a:effectLst>
              <a:outerShdw blurRad="183232" sx="102000" sy="102000" algn="ctr" rotWithShape="0">
                <a:prstClr val="black">
                  <a:alpha val="40000"/>
                </a:prstClr>
              </a:outerShdw>
            </a:effectLst>
          </p:spPr>
          <p:txBody>
            <a:bodyPr lIns="89930" tIns="71944" rIns="89930" bIns="71944" rtlCol="0" anchor="t"/>
            <a:lstStyle/>
            <a:p>
              <a:pPr marL="0" marR="0" lvl="0" indent="0" algn="ctr" defTabSz="913669" rtl="0" eaLnBrk="1" fontAlgn="base" latinLnBrk="0" hangingPunct="1">
                <a:lnSpc>
                  <a:spcPct val="100000"/>
                </a:lnSpc>
                <a:spcBef>
                  <a:spcPct val="50000"/>
                </a:spcBef>
                <a:spcAft>
                  <a:spcPct val="0"/>
                </a:spcAft>
                <a:buClr>
                  <a:srgbClr val="F0AB00"/>
                </a:buClr>
                <a:buSzPct val="80000"/>
                <a:buFontTx/>
                <a:buNone/>
                <a:tabLst/>
                <a:defRPr/>
              </a:pPr>
              <a:r>
                <a:rPr kumimoji="0" lang="en-GB" sz="900" i="0" u="none" strike="noStrike" kern="0" cap="none" spc="0" normalizeH="0" baseline="0" noProof="0">
                  <a:ln>
                    <a:noFill/>
                  </a:ln>
                  <a:effectLst/>
                  <a:uLnTx/>
                  <a:uFillTx/>
                  <a:latin typeface="72 Brand" panose="020B0504030603020204" pitchFamily="34" charset="0"/>
                  <a:ea typeface="Arial Unicode MS" pitchFamily="34" charset="-128"/>
                  <a:cs typeface="72" panose="020B0503030000000003" pitchFamily="34" charset="0"/>
                </a:rPr>
                <a:t>Partner Foundations Model</a:t>
              </a:r>
            </a:p>
          </p:txBody>
        </p:sp>
        <p:sp>
          <p:nvSpPr>
            <p:cNvPr id="122" name="Rounded Rectangle 121">
              <a:extLst>
                <a:ext uri="{FF2B5EF4-FFF2-40B4-BE49-F238E27FC236}">
                  <a16:creationId xmlns:a16="http://schemas.microsoft.com/office/drawing/2014/main" id="{F502036E-641E-2D12-8B51-FE32758069E6}"/>
                </a:ext>
              </a:extLst>
            </p:cNvPr>
            <p:cNvSpPr/>
            <p:nvPr/>
          </p:nvSpPr>
          <p:spPr>
            <a:xfrm>
              <a:off x="9048503" y="4642153"/>
              <a:ext cx="1099662" cy="252000"/>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72 Brand" panose="020B0504030603020204" pitchFamily="34" charset="0"/>
                </a:rPr>
                <a:t>Azure OpenAI</a:t>
              </a:r>
            </a:p>
          </p:txBody>
        </p:sp>
        <p:sp>
          <p:nvSpPr>
            <p:cNvPr id="126" name="Rounded Rectangle 125">
              <a:extLst>
                <a:ext uri="{FF2B5EF4-FFF2-40B4-BE49-F238E27FC236}">
                  <a16:creationId xmlns:a16="http://schemas.microsoft.com/office/drawing/2014/main" id="{BE9FA212-0994-13FD-18A5-4D6ADF1765E0}"/>
                </a:ext>
              </a:extLst>
            </p:cNvPr>
            <p:cNvSpPr/>
            <p:nvPr/>
          </p:nvSpPr>
          <p:spPr>
            <a:xfrm>
              <a:off x="9048503" y="4983006"/>
              <a:ext cx="1099662" cy="252000"/>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72 Brand" panose="020B0504030603020204" pitchFamily="34" charset="0"/>
                </a:rPr>
                <a:t>Aleph Alpha</a:t>
              </a:r>
            </a:p>
          </p:txBody>
        </p:sp>
        <p:sp>
          <p:nvSpPr>
            <p:cNvPr id="127" name="Rounded Rectangle 126">
              <a:extLst>
                <a:ext uri="{FF2B5EF4-FFF2-40B4-BE49-F238E27FC236}">
                  <a16:creationId xmlns:a16="http://schemas.microsoft.com/office/drawing/2014/main" id="{C281C148-55BE-4E26-675E-A8AE4AF97534}"/>
                </a:ext>
              </a:extLst>
            </p:cNvPr>
            <p:cNvSpPr/>
            <p:nvPr/>
          </p:nvSpPr>
          <p:spPr>
            <a:xfrm>
              <a:off x="9048503" y="5313229"/>
              <a:ext cx="1099662" cy="252000"/>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72 Brand" panose="020B0504030603020204" pitchFamily="34" charset="0"/>
                </a:rPr>
                <a:t>. . . .</a:t>
              </a:r>
            </a:p>
          </p:txBody>
        </p:sp>
      </p:grpSp>
      <p:cxnSp>
        <p:nvCxnSpPr>
          <p:cNvPr id="129" name="Straight Arrow Connector 128">
            <a:extLst>
              <a:ext uri="{FF2B5EF4-FFF2-40B4-BE49-F238E27FC236}">
                <a16:creationId xmlns:a16="http://schemas.microsoft.com/office/drawing/2014/main" id="{77D3CF25-FEDD-F929-AE15-B61DFCD3C006}"/>
              </a:ext>
            </a:extLst>
          </p:cNvPr>
          <p:cNvCxnSpPr>
            <a:cxnSpLocks/>
            <a:stCxn id="114" idx="3"/>
            <a:endCxn id="121" idx="1"/>
          </p:cNvCxnSpPr>
          <p:nvPr/>
        </p:nvCxnSpPr>
        <p:spPr>
          <a:xfrm>
            <a:off x="8311180" y="5103467"/>
            <a:ext cx="641733" cy="599"/>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nvGrpSpPr>
          <p:cNvPr id="135" name="Group 134">
            <a:extLst>
              <a:ext uri="{FF2B5EF4-FFF2-40B4-BE49-F238E27FC236}">
                <a16:creationId xmlns:a16="http://schemas.microsoft.com/office/drawing/2014/main" id="{A8341AA5-9799-AE6A-5E28-3B84E8BCDC28}"/>
              </a:ext>
            </a:extLst>
          </p:cNvPr>
          <p:cNvGrpSpPr/>
          <p:nvPr/>
        </p:nvGrpSpPr>
        <p:grpSpPr>
          <a:xfrm>
            <a:off x="6601196" y="2149001"/>
            <a:ext cx="1988167" cy="3835194"/>
            <a:chOff x="6601196" y="1848236"/>
            <a:chExt cx="1988167" cy="3835194"/>
          </a:xfrm>
        </p:grpSpPr>
        <p:sp>
          <p:nvSpPr>
            <p:cNvPr id="106" name="Rounded Rectangle 105">
              <a:extLst>
                <a:ext uri="{FF2B5EF4-FFF2-40B4-BE49-F238E27FC236}">
                  <a16:creationId xmlns:a16="http://schemas.microsoft.com/office/drawing/2014/main" id="{17EFDADE-1AC0-04E8-8FF6-5AABCD207E27}"/>
                </a:ext>
              </a:extLst>
            </p:cNvPr>
            <p:cNvSpPr>
              <a:spLocks/>
            </p:cNvSpPr>
            <p:nvPr/>
          </p:nvSpPr>
          <p:spPr bwMode="auto">
            <a:xfrm>
              <a:off x="6601196" y="1848236"/>
              <a:ext cx="1988167" cy="3835194"/>
            </a:xfrm>
            <a:prstGeom prst="roundRect">
              <a:avLst>
                <a:gd name="adj" fmla="val 3267"/>
              </a:avLst>
            </a:prstGeom>
            <a:solidFill>
              <a:srgbClr val="E2D8FF"/>
            </a:solidFill>
            <a:ln w="6350" algn="ctr">
              <a:solidFill>
                <a:srgbClr val="5D36FF"/>
              </a:solidFill>
              <a:prstDash val="solid"/>
              <a:miter lim="800000"/>
              <a:headEnd/>
              <a:tailEnd/>
            </a:ln>
            <a:effectLst>
              <a:outerShdw blurRad="183232" sx="102000" sy="102000" algn="ctr" rotWithShape="0">
                <a:prstClr val="black">
                  <a:alpha val="40000"/>
                </a:prstClr>
              </a:outerShdw>
            </a:effectLst>
          </p:spPr>
          <p:txBody>
            <a:bodyPr lIns="89930" tIns="71944" rIns="89930" bIns="71944" rtlCol="0" anchor="ctr"/>
            <a:lstStyle/>
            <a:p>
              <a:pPr marL="0" marR="0" lvl="0" indent="0" algn="ctr" defTabSz="913669" rtl="0" eaLnBrk="1" fontAlgn="base" latinLnBrk="0" hangingPunct="1">
                <a:lnSpc>
                  <a:spcPct val="100000"/>
                </a:lnSpc>
                <a:spcBef>
                  <a:spcPct val="50000"/>
                </a:spcBef>
                <a:spcAft>
                  <a:spcPct val="0"/>
                </a:spcAft>
                <a:buClr>
                  <a:srgbClr val="F0AB00"/>
                </a:buClr>
                <a:buSzPct val="80000"/>
                <a:buFontTx/>
                <a:buNone/>
                <a:tabLst/>
                <a:defRPr/>
              </a:pPr>
              <a:endParaRPr kumimoji="0" lang="en-GB" sz="1200" b="1" i="0" u="none" strike="noStrike" kern="0" cap="none" spc="0" normalizeH="0" baseline="0" noProof="0">
                <a:ln>
                  <a:noFill/>
                </a:ln>
                <a:solidFill>
                  <a:srgbClr val="5D36FF"/>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08" name="Rounded Rectangle 107">
              <a:extLst>
                <a:ext uri="{FF2B5EF4-FFF2-40B4-BE49-F238E27FC236}">
                  <a16:creationId xmlns:a16="http://schemas.microsoft.com/office/drawing/2014/main" id="{40D2A658-67A0-5A44-F53A-7877061E60AC}"/>
                </a:ext>
              </a:extLst>
            </p:cNvPr>
            <p:cNvSpPr/>
            <p:nvPr/>
          </p:nvSpPr>
          <p:spPr>
            <a:xfrm>
              <a:off x="6766816" y="2966485"/>
              <a:ext cx="1663908" cy="2533571"/>
            </a:xfrm>
            <a:prstGeom prst="roundRect">
              <a:avLst>
                <a:gd name="adj" fmla="val 3604"/>
              </a:avLst>
            </a:prstGeom>
            <a:solidFill>
              <a:srgbClr val="D2EFFF"/>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6FD63BE4-BF73-A529-B006-A53073FB9C12}"/>
                </a:ext>
              </a:extLst>
            </p:cNvPr>
            <p:cNvSpPr txBox="1"/>
            <p:nvPr/>
          </p:nvSpPr>
          <p:spPr>
            <a:xfrm>
              <a:off x="6879378" y="2046570"/>
              <a:ext cx="1431802" cy="276999"/>
            </a:xfrm>
            <a:prstGeom prst="rect">
              <a:avLst/>
            </a:prstGeom>
            <a:noFill/>
          </p:spPr>
          <p:txBody>
            <a:bodyPr wrap="none" rtlCol="0">
              <a:spAutoFit/>
            </a:bodyPr>
            <a:lstStyle/>
            <a:p>
              <a:r>
                <a:rPr lang="en-US" sz="1200">
                  <a:latin typeface="72 Brand" panose="020B0504030603020204" pitchFamily="34" charset="0"/>
                </a:rPr>
                <a:t>Generative AI Hub</a:t>
              </a:r>
            </a:p>
          </p:txBody>
        </p:sp>
        <p:sp>
          <p:nvSpPr>
            <p:cNvPr id="112" name="Rounded Rectangle 111">
              <a:extLst>
                <a:ext uri="{FF2B5EF4-FFF2-40B4-BE49-F238E27FC236}">
                  <a16:creationId xmlns:a16="http://schemas.microsoft.com/office/drawing/2014/main" id="{67901623-89FE-F537-6800-BB27E9DCB9BB}"/>
                </a:ext>
              </a:extLst>
            </p:cNvPr>
            <p:cNvSpPr/>
            <p:nvPr/>
          </p:nvSpPr>
          <p:spPr>
            <a:xfrm>
              <a:off x="6879379" y="3443608"/>
              <a:ext cx="1431802" cy="310840"/>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latin typeface="72 Brand" panose="020B0504030603020204" pitchFamily="34" charset="0"/>
                </a:rPr>
                <a:t>AI API</a:t>
              </a:r>
            </a:p>
          </p:txBody>
        </p:sp>
        <p:sp>
          <p:nvSpPr>
            <p:cNvPr id="113" name="Rounded Rectangle 112">
              <a:extLst>
                <a:ext uri="{FF2B5EF4-FFF2-40B4-BE49-F238E27FC236}">
                  <a16:creationId xmlns:a16="http://schemas.microsoft.com/office/drawing/2014/main" id="{74FD79B3-404B-28AF-2251-586A9654DFF6}"/>
                </a:ext>
              </a:extLst>
            </p:cNvPr>
            <p:cNvSpPr/>
            <p:nvPr/>
          </p:nvSpPr>
          <p:spPr>
            <a:xfrm>
              <a:off x="6879378" y="3817191"/>
              <a:ext cx="1431802" cy="310840"/>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latin typeface="72 Brand" panose="020B0504030603020204" pitchFamily="34" charset="0"/>
                </a:rPr>
                <a:t>Trust &amp; Control</a:t>
              </a:r>
            </a:p>
          </p:txBody>
        </p:sp>
        <p:sp>
          <p:nvSpPr>
            <p:cNvPr id="114" name="Rounded Rectangle 113">
              <a:extLst>
                <a:ext uri="{FF2B5EF4-FFF2-40B4-BE49-F238E27FC236}">
                  <a16:creationId xmlns:a16="http://schemas.microsoft.com/office/drawing/2014/main" id="{1FB2B2E7-9EA8-6571-7E94-12EB9B31DBC4}"/>
                </a:ext>
              </a:extLst>
            </p:cNvPr>
            <p:cNvSpPr/>
            <p:nvPr/>
          </p:nvSpPr>
          <p:spPr>
            <a:xfrm>
              <a:off x="6879378" y="4187678"/>
              <a:ext cx="1431802" cy="1230047"/>
            </a:xfrm>
            <a:prstGeom prst="roundRect">
              <a:avLst>
                <a:gd name="adj" fmla="val 6379"/>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latin typeface="72 Brand" panose="020B0504030603020204" pitchFamily="34" charset="0"/>
              </a:endParaRPr>
            </a:p>
          </p:txBody>
        </p:sp>
        <p:sp>
          <p:nvSpPr>
            <p:cNvPr id="115" name="TextBox 114">
              <a:extLst>
                <a:ext uri="{FF2B5EF4-FFF2-40B4-BE49-F238E27FC236}">
                  <a16:creationId xmlns:a16="http://schemas.microsoft.com/office/drawing/2014/main" id="{933E2996-2231-443C-D6B6-4224C379B707}"/>
                </a:ext>
              </a:extLst>
            </p:cNvPr>
            <p:cNvSpPr txBox="1"/>
            <p:nvPr/>
          </p:nvSpPr>
          <p:spPr>
            <a:xfrm>
              <a:off x="7103228" y="3051390"/>
              <a:ext cx="1002197" cy="276999"/>
            </a:xfrm>
            <a:prstGeom prst="rect">
              <a:avLst/>
            </a:prstGeom>
            <a:noFill/>
          </p:spPr>
          <p:txBody>
            <a:bodyPr wrap="none" rtlCol="0">
              <a:spAutoFit/>
            </a:bodyPr>
            <a:lstStyle/>
            <a:p>
              <a:r>
                <a:rPr lang="en-US" sz="1200">
                  <a:latin typeface="72 Brand" panose="020B0504030603020204" pitchFamily="34" charset="0"/>
                </a:rPr>
                <a:t>SAP AI Core</a:t>
              </a:r>
            </a:p>
          </p:txBody>
        </p:sp>
        <p:sp>
          <p:nvSpPr>
            <p:cNvPr id="116" name="TextBox 115">
              <a:extLst>
                <a:ext uri="{FF2B5EF4-FFF2-40B4-BE49-F238E27FC236}">
                  <a16:creationId xmlns:a16="http://schemas.microsoft.com/office/drawing/2014/main" id="{429FE6C7-4319-AD2F-615C-1C651658EBC7}"/>
                </a:ext>
              </a:extLst>
            </p:cNvPr>
            <p:cNvSpPr txBox="1"/>
            <p:nvPr/>
          </p:nvSpPr>
          <p:spPr>
            <a:xfrm>
              <a:off x="7040711" y="4257838"/>
              <a:ext cx="1127232" cy="369332"/>
            </a:xfrm>
            <a:prstGeom prst="rect">
              <a:avLst/>
            </a:prstGeom>
            <a:noFill/>
          </p:spPr>
          <p:txBody>
            <a:bodyPr wrap="none" rtlCol="0">
              <a:spAutoFit/>
            </a:bodyPr>
            <a:lstStyle/>
            <a:p>
              <a:pPr algn="ctr"/>
              <a:r>
                <a:rPr lang="en-US" sz="900">
                  <a:latin typeface="72 Brand" panose="020B0504030603020204" pitchFamily="34" charset="0"/>
                </a:rPr>
                <a:t>Foundation Model</a:t>
              </a:r>
            </a:p>
            <a:p>
              <a:pPr algn="ctr"/>
              <a:r>
                <a:rPr lang="en-US" sz="900">
                  <a:latin typeface="72 Brand" panose="020B0504030603020204" pitchFamily="34" charset="0"/>
                </a:rPr>
                <a:t>Access</a:t>
              </a:r>
            </a:p>
          </p:txBody>
        </p:sp>
        <p:sp>
          <p:nvSpPr>
            <p:cNvPr id="119" name="Rounded Rectangle 118">
              <a:extLst>
                <a:ext uri="{FF2B5EF4-FFF2-40B4-BE49-F238E27FC236}">
                  <a16:creationId xmlns:a16="http://schemas.microsoft.com/office/drawing/2014/main" id="{B3704972-E1C9-68B6-3D32-93979FD4DC55}"/>
                </a:ext>
              </a:extLst>
            </p:cNvPr>
            <p:cNvSpPr/>
            <p:nvPr/>
          </p:nvSpPr>
          <p:spPr>
            <a:xfrm>
              <a:off x="7010850" y="4688227"/>
              <a:ext cx="1165399" cy="250223"/>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72 Brand" panose="020B0504030603020204" pitchFamily="34" charset="0"/>
                </a:rPr>
                <a:t>Partner built</a:t>
              </a:r>
            </a:p>
          </p:txBody>
        </p:sp>
        <p:sp>
          <p:nvSpPr>
            <p:cNvPr id="120" name="Rounded Rectangle 119">
              <a:extLst>
                <a:ext uri="{FF2B5EF4-FFF2-40B4-BE49-F238E27FC236}">
                  <a16:creationId xmlns:a16="http://schemas.microsoft.com/office/drawing/2014/main" id="{02EA76B5-3358-04A1-952B-C85953D0FBC2}"/>
                </a:ext>
              </a:extLst>
            </p:cNvPr>
            <p:cNvSpPr/>
            <p:nvPr/>
          </p:nvSpPr>
          <p:spPr>
            <a:xfrm>
              <a:off x="7002544" y="4986327"/>
              <a:ext cx="1165399" cy="250223"/>
            </a:xfrm>
            <a:prstGeom prst="roundRect">
              <a:avLst/>
            </a:prstGeom>
            <a:solidFill>
              <a:schemeClr val="bg1"/>
            </a:solidFill>
            <a:ln w="6350">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72 Brand" panose="020B0504030603020204" pitchFamily="34" charset="0"/>
                </a:rPr>
                <a:t>Open Sourced</a:t>
              </a:r>
            </a:p>
          </p:txBody>
        </p:sp>
        <p:sp>
          <p:nvSpPr>
            <p:cNvPr id="132" name="TextBox 131">
              <a:extLst>
                <a:ext uri="{FF2B5EF4-FFF2-40B4-BE49-F238E27FC236}">
                  <a16:creationId xmlns:a16="http://schemas.microsoft.com/office/drawing/2014/main" id="{DF3DA60E-DF09-B57F-F032-0FAB256E0518}"/>
                </a:ext>
              </a:extLst>
            </p:cNvPr>
            <p:cNvSpPr txBox="1"/>
            <p:nvPr/>
          </p:nvSpPr>
          <p:spPr>
            <a:xfrm>
              <a:off x="7125356" y="2451341"/>
              <a:ext cx="1221809" cy="246221"/>
            </a:xfrm>
            <a:prstGeom prst="rect">
              <a:avLst/>
            </a:prstGeom>
            <a:noFill/>
          </p:spPr>
          <p:txBody>
            <a:bodyPr wrap="none" rtlCol="0">
              <a:spAutoFit/>
            </a:bodyPr>
            <a:lstStyle/>
            <a:p>
              <a:r>
                <a:rPr lang="en-US" sz="1000">
                  <a:latin typeface="72 Brand" panose="020B0504030603020204" pitchFamily="34" charset="0"/>
                </a:rPr>
                <a:t>SAP AI Launchpad</a:t>
              </a:r>
            </a:p>
          </p:txBody>
        </p:sp>
      </p:grpSp>
      <p:pic>
        <p:nvPicPr>
          <p:cNvPr id="2054" name="Picture 6">
            <a:extLst>
              <a:ext uri="{FF2B5EF4-FFF2-40B4-BE49-F238E27FC236}">
                <a16:creationId xmlns:a16="http://schemas.microsoft.com/office/drawing/2014/main" id="{01895876-3CC3-7217-6099-756E83FAC9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6186" y="3298586"/>
            <a:ext cx="371125" cy="3711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6BAE7FA-6550-0262-43AA-853DBB2EC6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4545" y="2705155"/>
            <a:ext cx="354870" cy="35487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Placeholder 11">
            <a:extLst>
              <a:ext uri="{FF2B5EF4-FFF2-40B4-BE49-F238E27FC236}">
                <a16:creationId xmlns:a16="http://schemas.microsoft.com/office/drawing/2014/main" id="{C801BE62-164A-67CC-00E7-BA82473AF4D4}"/>
              </a:ext>
            </a:extLst>
          </p:cNvPr>
          <p:cNvPicPr>
            <a:picLocks noChangeAspect="1"/>
          </p:cNvPicPr>
          <p:nvPr/>
        </p:nvPicPr>
        <p:blipFill rotWithShape="1">
          <a:blip r:embed="rId8"/>
          <a:srcRect l="6995" t="66530" r="23124" b="30001"/>
          <a:stretch/>
        </p:blipFill>
        <p:spPr bwMode="black">
          <a:xfrm>
            <a:off x="600" y="6588907"/>
            <a:ext cx="12192000" cy="269094"/>
          </a:xfrm>
          <a:prstGeom prst="rect">
            <a:avLst/>
          </a:prstGeom>
        </p:spPr>
      </p:pic>
      <p:sp>
        <p:nvSpPr>
          <p:cNvPr id="6" name="Freeform 5">
            <a:extLst>
              <a:ext uri="{FF2B5EF4-FFF2-40B4-BE49-F238E27FC236}">
                <a16:creationId xmlns:a16="http://schemas.microsoft.com/office/drawing/2014/main" id="{38700D87-9B7F-C9A6-6E2E-5D6A567781D5}"/>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7" name="TextBox 6">
            <a:extLst>
              <a:ext uri="{FF2B5EF4-FFF2-40B4-BE49-F238E27FC236}">
                <a16:creationId xmlns:a16="http://schemas.microsoft.com/office/drawing/2014/main" id="{1BDE2FFD-27DA-90FB-DC41-D0C8D7F972BE}"/>
              </a:ext>
            </a:extLst>
          </p:cNvPr>
          <p:cNvSpPr txBox="1"/>
          <p:nvPr/>
        </p:nvSpPr>
        <p:spPr>
          <a:xfrm>
            <a:off x="568007" y="633165"/>
            <a:ext cx="5038559"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Consuming Custom Chat Model</a:t>
            </a:r>
          </a:p>
        </p:txBody>
      </p:sp>
    </p:spTree>
    <p:extLst>
      <p:ext uri="{BB962C8B-B14F-4D97-AF65-F5344CB8AC3E}">
        <p14:creationId xmlns:p14="http://schemas.microsoft.com/office/powerpoint/2010/main" val="43090914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down)">
                                      <p:cBhvr>
                                        <p:cTn id="7" dur="500"/>
                                        <p:tgtEl>
                                          <p:spTgt spid="100"/>
                                        </p:tgtEl>
                                      </p:cBhvr>
                                    </p:animEffect>
                                  </p:childTnLst>
                                </p:cTn>
                              </p:par>
                              <p:par>
                                <p:cTn id="8" presetID="22" presetClass="entr" presetSubtype="4"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wipe(down)">
                                      <p:cBhvr>
                                        <p:cTn id="10" dur="500"/>
                                        <p:tgtEl>
                                          <p:spTgt spid="13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056"/>
                                        </p:tgtEl>
                                        <p:attrNameLst>
                                          <p:attrName>style.visibility</p:attrName>
                                        </p:attrNameLst>
                                      </p:cBhvr>
                                      <p:to>
                                        <p:strVal val="visible"/>
                                      </p:to>
                                    </p:set>
                                    <p:animEffect transition="in" filter="fade">
                                      <p:cBhvr>
                                        <p:cTn id="14" dur="500"/>
                                        <p:tgtEl>
                                          <p:spTgt spid="2056"/>
                                        </p:tgtEl>
                                      </p:cBhvr>
                                    </p:animEffect>
                                  </p:childTnLst>
                                </p:cTn>
                              </p:par>
                              <p:par>
                                <p:cTn id="15" presetID="10" presetClass="entr" presetSubtype="0"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animEffect transition="in" filter="fade">
                                      <p:cBhvr>
                                        <p:cTn id="17" dur="500"/>
                                        <p:tgtEl>
                                          <p:spTgt spid="2054"/>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29"/>
                                        </p:tgtEl>
                                        <p:attrNameLst>
                                          <p:attrName>style.visibility</p:attrName>
                                        </p:attrNameLst>
                                      </p:cBhvr>
                                      <p:to>
                                        <p:strVal val="visible"/>
                                      </p:to>
                                    </p:set>
                                    <p:animEffect transition="in" filter="wipe(left)">
                                      <p:cBhvr>
                                        <p:cTn id="21" dur="500"/>
                                        <p:tgtEl>
                                          <p:spTgt spid="129"/>
                                        </p:tgtEl>
                                      </p:cBhvr>
                                    </p:animEffect>
                                  </p:childTnLst>
                                </p:cTn>
                              </p:par>
                            </p:childTnLst>
                          </p:cTn>
                        </p:par>
                        <p:par>
                          <p:cTn id="22" fill="hold">
                            <p:stCondLst>
                              <p:cond delay="1500"/>
                            </p:stCondLst>
                            <p:childTnLst>
                              <p:par>
                                <p:cTn id="23" presetID="22" presetClass="entr" presetSubtype="4" fill="hold" nodeType="after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wipe(down)">
                                      <p:cBhvr>
                                        <p:cTn id="25" dur="500"/>
                                        <p:tgtEl>
                                          <p:spTgt spid="131"/>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left)">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wipe(left)">
                                      <p:cBhvr>
                                        <p:cTn id="34" dur="500"/>
                                        <p:tgtEl>
                                          <p:spTgt spid="6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2" fill="hold" nodeType="clickEffect">
                                  <p:stCondLst>
                                    <p:cond delay="0"/>
                                  </p:stCondLst>
                                  <p:childTnLst>
                                    <p:animEffect transition="out" filter="wipe(right)">
                                      <p:cBhvr>
                                        <p:cTn id="38" dur="500"/>
                                        <p:tgtEl>
                                          <p:spTgt spid="68"/>
                                        </p:tgtEl>
                                      </p:cBhvr>
                                    </p:animEffect>
                                    <p:set>
                                      <p:cBhvr>
                                        <p:cTn id="39" dur="1" fill="hold">
                                          <p:stCondLst>
                                            <p:cond delay="499"/>
                                          </p:stCondLst>
                                        </p:cTn>
                                        <p:tgtEl>
                                          <p:spTgt spid="68"/>
                                        </p:tgtEl>
                                        <p:attrNameLst>
                                          <p:attrName>style.visibility</p:attrName>
                                        </p:attrNameLst>
                                      </p:cBhvr>
                                      <p:to>
                                        <p:strVal val="hidden"/>
                                      </p:to>
                                    </p:se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500"/>
                                        <p:tgtEl>
                                          <p:spTgt spid="101"/>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105"/>
                                        </p:tgtEl>
                                        <p:attrNameLst>
                                          <p:attrName>style.visibility</p:attrName>
                                        </p:attrNameLst>
                                      </p:cBhvr>
                                      <p:to>
                                        <p:strVal val="visible"/>
                                      </p:to>
                                    </p:set>
                                    <p:animEffect transition="in" filter="wipe(left)">
                                      <p:cBhvr>
                                        <p:cTn id="4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0F772-8E0A-42B7-55A0-8DC9485F7E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497AA3-9359-F421-548C-2C5397A93ADB}"/>
              </a:ext>
            </a:extLst>
          </p:cNvPr>
          <p:cNvSpPr txBox="1"/>
          <p:nvPr/>
        </p:nvSpPr>
        <p:spPr>
          <a:xfrm>
            <a:off x="6321401" y="5518713"/>
            <a:ext cx="5574675" cy="261586"/>
          </a:xfrm>
          <a:prstGeom prst="rect">
            <a:avLst/>
          </a:prstGeom>
          <a:noFill/>
          <a:ln>
            <a:noFill/>
          </a:ln>
        </p:spPr>
        <p:txBody>
          <a:bodyPr wrap="square" lIns="0" tIns="91416" rIns="0" bIns="0" rtlCol="0" anchor="t">
            <a:spAutoFit/>
          </a:bodyPr>
          <a:lstStyle/>
          <a:p>
            <a:pPr algn="ctr" defTabSz="1087144">
              <a:defRPr/>
            </a:pPr>
            <a:r>
              <a:rPr lang="en-US" sz="1100" b="1">
                <a:solidFill>
                  <a:srgbClr val="0057D2"/>
                </a:solidFill>
                <a:latin typeface="72 Brand"/>
                <a:cs typeface="Arial"/>
              </a:rPr>
              <a:t>Maintenance Order Summarization (Based on Equipment)</a:t>
            </a:r>
            <a:endParaRPr lang="en-US" sz="1050" b="1">
              <a:solidFill>
                <a:srgbClr val="000000"/>
              </a:solidFill>
              <a:latin typeface="72 Brand" panose="020B0504030603020204" pitchFamily="34" charset="0"/>
              <a:cs typeface="Arial"/>
            </a:endParaRPr>
          </a:p>
        </p:txBody>
      </p:sp>
      <p:pic>
        <p:nvPicPr>
          <p:cNvPr id="13" name="Picture 12">
            <a:extLst>
              <a:ext uri="{FF2B5EF4-FFF2-40B4-BE49-F238E27FC236}">
                <a16:creationId xmlns:a16="http://schemas.microsoft.com/office/drawing/2014/main" id="{56F12E92-7905-6EDC-0A76-86657D3E491F}"/>
              </a:ext>
            </a:extLst>
          </p:cNvPr>
          <p:cNvPicPr>
            <a:picLocks noChangeAspect="1"/>
          </p:cNvPicPr>
          <p:nvPr/>
        </p:nvPicPr>
        <p:blipFill>
          <a:blip r:embed="rId3"/>
          <a:stretch>
            <a:fillRect/>
          </a:stretch>
        </p:blipFill>
        <p:spPr>
          <a:xfrm>
            <a:off x="6321401" y="1585339"/>
            <a:ext cx="5534794" cy="3577757"/>
          </a:xfrm>
          <a:prstGeom prst="rect">
            <a:avLst/>
          </a:prstGeom>
        </p:spPr>
      </p:pic>
      <p:sp>
        <p:nvSpPr>
          <p:cNvPr id="16" name="Freeform 15">
            <a:extLst>
              <a:ext uri="{FF2B5EF4-FFF2-40B4-BE49-F238E27FC236}">
                <a16:creationId xmlns:a16="http://schemas.microsoft.com/office/drawing/2014/main" id="{70777954-CD83-B1CC-2197-FA3476506E77}"/>
              </a:ext>
            </a:extLst>
          </p:cNvPr>
          <p:cNvSpPr>
            <a:spLocks noChangeAspect="1"/>
          </p:cNvSpPr>
          <p:nvPr/>
        </p:nvSpPr>
        <p:spPr bwMode="gray">
          <a:xfrm>
            <a:off x="821355" y="2322781"/>
            <a:ext cx="3421259" cy="1801703"/>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7" name="TextBox 16">
            <a:extLst>
              <a:ext uri="{FF2B5EF4-FFF2-40B4-BE49-F238E27FC236}">
                <a16:creationId xmlns:a16="http://schemas.microsoft.com/office/drawing/2014/main" id="{65EA77D3-4B50-94D2-3E09-940FF017D21C}"/>
              </a:ext>
            </a:extLst>
          </p:cNvPr>
          <p:cNvSpPr txBox="1"/>
          <p:nvPr/>
        </p:nvSpPr>
        <p:spPr>
          <a:xfrm>
            <a:off x="1224878" y="1907355"/>
            <a:ext cx="4693000" cy="1872692"/>
          </a:xfrm>
          <a:prstGeom prst="rect">
            <a:avLst/>
          </a:prstGeom>
          <a:noFill/>
        </p:spPr>
        <p:txBody>
          <a:bodyPr wrap="square" rtlCol="0">
            <a:spAutoFit/>
          </a:bodyPr>
          <a:lstStyle/>
          <a:p>
            <a:pPr>
              <a:lnSpc>
                <a:spcPct val="150000"/>
              </a:lnSpc>
            </a:pPr>
            <a:r>
              <a:rPr lang="en-US" sz="8800" b="1">
                <a:solidFill>
                  <a:srgbClr val="002986"/>
                </a:solidFill>
                <a:latin typeface="72 Brand" panose="020B0504030603020204" pitchFamily="34" charset="0"/>
              </a:rPr>
              <a:t>DEMO</a:t>
            </a:r>
          </a:p>
        </p:txBody>
      </p:sp>
      <p:sp>
        <p:nvSpPr>
          <p:cNvPr id="15" name="TextBox 14">
            <a:extLst>
              <a:ext uri="{FF2B5EF4-FFF2-40B4-BE49-F238E27FC236}">
                <a16:creationId xmlns:a16="http://schemas.microsoft.com/office/drawing/2014/main" id="{A4DC7803-96CA-9FAC-5F54-4E1A36AEEAE8}"/>
              </a:ext>
            </a:extLst>
          </p:cNvPr>
          <p:cNvSpPr txBox="1"/>
          <p:nvPr/>
        </p:nvSpPr>
        <p:spPr>
          <a:xfrm>
            <a:off x="1315839" y="3451424"/>
            <a:ext cx="6101542" cy="523220"/>
          </a:xfrm>
          <a:prstGeom prst="rect">
            <a:avLst/>
          </a:prstGeom>
          <a:noFill/>
        </p:spPr>
        <p:txBody>
          <a:bodyPr wrap="square">
            <a:spAutoFit/>
          </a:bodyPr>
          <a:lstStyle/>
          <a:p>
            <a:pPr defTabSz="914126">
              <a:defRPr/>
            </a:pPr>
            <a:r>
              <a:rPr lang="en-US" sz="2800" b="1" kern="0">
                <a:latin typeface="72 Brand" panose="020B0504030603020204" pitchFamily="34" charset="0"/>
              </a:rPr>
              <a:t>Let’s Get Started. </a:t>
            </a:r>
          </a:p>
        </p:txBody>
      </p:sp>
      <p:pic>
        <p:nvPicPr>
          <p:cNvPr id="2" name="Picture Placeholder 11">
            <a:extLst>
              <a:ext uri="{FF2B5EF4-FFF2-40B4-BE49-F238E27FC236}">
                <a16:creationId xmlns:a16="http://schemas.microsoft.com/office/drawing/2014/main" id="{168EA80B-1291-02B7-879A-1396DE4204CA}"/>
              </a:ext>
            </a:extLst>
          </p:cNvPr>
          <p:cNvPicPr>
            <a:picLocks noChangeAspect="1"/>
          </p:cNvPicPr>
          <p:nvPr/>
        </p:nvPicPr>
        <p:blipFill rotWithShape="1">
          <a:blip r:embed="rId4"/>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19496591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900" decel="100000" fill="hold"/>
                                        <p:tgtEl>
                                          <p:spTgt spid="1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9"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dissolve">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E6406-C799-6587-578D-E32571B4B0C1}"/>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F2A3B9E3-134C-4E2C-5A39-89FCA5065978}"/>
              </a:ext>
            </a:extLst>
          </p:cNvPr>
          <p:cNvSpPr/>
          <p:nvPr/>
        </p:nvSpPr>
        <p:spPr bwMode="gray">
          <a:xfrm>
            <a:off x="-153579" y="892"/>
            <a:ext cx="12345579" cy="6538086"/>
          </a:xfrm>
          <a:custGeom>
            <a:avLst/>
            <a:gdLst>
              <a:gd name="connsiteX0" fmla="*/ 0 w 12564533"/>
              <a:gd name="connsiteY0" fmla="*/ 0 h 5987627"/>
              <a:gd name="connsiteX1" fmla="*/ 12564533 w 12564533"/>
              <a:gd name="connsiteY1" fmla="*/ 0 h 5987627"/>
              <a:gd name="connsiteX2" fmla="*/ 12564533 w 12564533"/>
              <a:gd name="connsiteY2" fmla="*/ 1366036 h 5987627"/>
              <a:gd name="connsiteX3" fmla="*/ 12486703 w 12564533"/>
              <a:gd name="connsiteY3" fmla="*/ 1385200 h 5987627"/>
              <a:gd name="connsiteX4" fmla="*/ 7613227 w 12564533"/>
              <a:gd name="connsiteY4" fmla="*/ 3379893 h 5987627"/>
              <a:gd name="connsiteX5" fmla="*/ 2682240 w 12564533"/>
              <a:gd name="connsiteY5" fmla="*/ 4700693 h 5987627"/>
              <a:gd name="connsiteX6" fmla="*/ 324644 w 12564533"/>
              <a:gd name="connsiteY6" fmla="*/ 5870681 h 5987627"/>
              <a:gd name="connsiteX7" fmla="*/ 152931 w 12564533"/>
              <a:gd name="connsiteY7" fmla="*/ 5987627 h 5987627"/>
              <a:gd name="connsiteX8" fmla="*/ 0 w 12564533"/>
              <a:gd name="connsiteY8" fmla="*/ 5987627 h 598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64533" h="5987627">
                <a:moveTo>
                  <a:pt x="0" y="0"/>
                </a:moveTo>
                <a:lnTo>
                  <a:pt x="12564533" y="0"/>
                </a:lnTo>
                <a:lnTo>
                  <a:pt x="12564533" y="1366036"/>
                </a:lnTo>
                <a:lnTo>
                  <a:pt x="12486703" y="1385200"/>
                </a:lnTo>
                <a:cubicBezTo>
                  <a:pt x="11378645" y="1697872"/>
                  <a:pt x="9177444" y="2853901"/>
                  <a:pt x="7613227" y="3379893"/>
                </a:cubicBezTo>
                <a:cubicBezTo>
                  <a:pt x="5944730" y="3940951"/>
                  <a:pt x="3973689" y="4231075"/>
                  <a:pt x="2682240" y="4700693"/>
                </a:cubicBezTo>
                <a:cubicBezTo>
                  <a:pt x="1713654" y="5052907"/>
                  <a:pt x="881592" y="5506720"/>
                  <a:pt x="324644" y="5870681"/>
                </a:cubicBezTo>
                <a:lnTo>
                  <a:pt x="152931" y="5987627"/>
                </a:lnTo>
                <a:lnTo>
                  <a:pt x="0" y="5987627"/>
                </a:lnTo>
                <a:close/>
              </a:path>
            </a:pathLst>
          </a:custGeom>
          <a:gradFill flip="none" rotWithShape="1">
            <a:gsLst>
              <a:gs pos="57000">
                <a:schemeClr val="bg1"/>
              </a:gs>
              <a:gs pos="0">
                <a:schemeClr val="bg1">
                  <a:lumMod val="75000"/>
                </a:schemeClr>
              </a:gs>
              <a:gs pos="100000">
                <a:schemeClr val="bg1"/>
              </a:gs>
            </a:gsLst>
            <a:lin ang="15000000" scaled="0"/>
            <a:tileRect/>
          </a:gradFill>
          <a:ln w="25400" algn="ctr">
            <a:noFill/>
            <a:miter lim="800000"/>
            <a:headEnd/>
            <a:tailEnd/>
          </a:ln>
        </p:spPr>
        <p:txBody>
          <a:bodyPr wrap="square" lIns="89977" tIns="71981" rIns="89977" bIns="71981" rtlCol="0" anchor="ctr">
            <a:noAutofit/>
          </a:bodyPr>
          <a:lstStyle/>
          <a:p>
            <a:pPr algn="ctr" defTabSz="914126" fontAlgn="base">
              <a:spcBef>
                <a:spcPct val="50000"/>
              </a:spcBef>
              <a:spcAft>
                <a:spcPct val="0"/>
              </a:spcAft>
              <a:buClr>
                <a:srgbClr val="F0AB00"/>
              </a:buClr>
              <a:buSzPct val="80000"/>
            </a:pPr>
            <a:endParaRPr lang="en-DE" sz="1799" kern="0" err="1">
              <a:solidFill>
                <a:srgbClr val="000000"/>
              </a:solidFill>
              <a:latin typeface="Arial"/>
              <a:ea typeface="Arial Unicode MS" pitchFamily="34" charset="-128"/>
              <a:cs typeface="Arial Unicode MS" pitchFamily="34" charset="-128"/>
            </a:endParaRPr>
          </a:p>
        </p:txBody>
      </p:sp>
      <p:graphicFrame>
        <p:nvGraphicFramePr>
          <p:cNvPr id="9" name="think-cell data - do not delete" hidden="1">
            <a:extLst>
              <a:ext uri="{FF2B5EF4-FFF2-40B4-BE49-F238E27FC236}">
                <a16:creationId xmlns:a16="http://schemas.microsoft.com/office/drawing/2014/main" id="{EE67DE28-C8A7-9CBD-BA09-6FCCD783594D}"/>
              </a:ext>
            </a:extLst>
          </p:cNvPr>
          <p:cNvGraphicFramePr>
            <a:graphicFrameLocks noChangeAspect="1"/>
          </p:cNvGraphicFramePr>
          <p:nvPr>
            <p:custDataLst>
              <p:tags r:id="rId1"/>
            </p:custDataLst>
          </p:nvPr>
        </p:nvGraphicFramePr>
        <p:xfrm>
          <a:off x="3176" y="2480"/>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id="{EE67DE28-C8A7-9CBD-BA09-6FCCD783594D}"/>
                          </a:ext>
                        </a:extLst>
                      </p:cNvPr>
                      <p:cNvPicPr/>
                      <p:nvPr/>
                    </p:nvPicPr>
                    <p:blipFill>
                      <a:blip r:embed="rId5"/>
                      <a:stretch>
                        <a:fillRect/>
                      </a:stretch>
                    </p:blipFill>
                    <p:spPr>
                      <a:xfrm>
                        <a:off x="3176" y="2480"/>
                        <a:ext cx="1227" cy="1588"/>
                      </a:xfrm>
                      <a:prstGeom prst="rect">
                        <a:avLst/>
                      </a:prstGeom>
                    </p:spPr>
                  </p:pic>
                </p:oleObj>
              </mc:Fallback>
            </mc:AlternateContent>
          </a:graphicData>
        </a:graphic>
      </p:graphicFrame>
      <p:grpSp>
        <p:nvGrpSpPr>
          <p:cNvPr id="28" name="Group 27">
            <a:extLst>
              <a:ext uri="{FF2B5EF4-FFF2-40B4-BE49-F238E27FC236}">
                <a16:creationId xmlns:a16="http://schemas.microsoft.com/office/drawing/2014/main" id="{A3C1E976-9D94-6C17-4035-773EF72EB048}"/>
              </a:ext>
            </a:extLst>
          </p:cNvPr>
          <p:cNvGrpSpPr/>
          <p:nvPr/>
        </p:nvGrpSpPr>
        <p:grpSpPr>
          <a:xfrm>
            <a:off x="4402128" y="3192703"/>
            <a:ext cx="3380671" cy="2251311"/>
            <a:chOff x="4403274" y="2678389"/>
            <a:chExt cx="3381551" cy="2376881"/>
          </a:xfrm>
        </p:grpSpPr>
        <p:sp>
          <p:nvSpPr>
            <p:cNvPr id="6" name="Rectangle: Rounded Corners 3">
              <a:extLst>
                <a:ext uri="{FF2B5EF4-FFF2-40B4-BE49-F238E27FC236}">
                  <a16:creationId xmlns:a16="http://schemas.microsoft.com/office/drawing/2014/main" id="{185F21C6-E753-0835-C464-5A6747624080}"/>
                </a:ext>
              </a:extLst>
            </p:cNvPr>
            <p:cNvSpPr/>
            <p:nvPr/>
          </p:nvSpPr>
          <p:spPr bwMode="auto">
            <a:xfrm flipH="1">
              <a:off x="4403274" y="2678389"/>
              <a:ext cx="3381551" cy="2376881"/>
            </a:xfrm>
            <a:prstGeom prst="roundRect">
              <a:avLst>
                <a:gd name="adj" fmla="val 2588"/>
              </a:avLst>
            </a:prstGeom>
            <a:solidFill>
              <a:schemeClr val="bg1"/>
            </a:solid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grpSp>
          <p:nvGrpSpPr>
            <p:cNvPr id="12" name="Group 11">
              <a:extLst>
                <a:ext uri="{FF2B5EF4-FFF2-40B4-BE49-F238E27FC236}">
                  <a16:creationId xmlns:a16="http://schemas.microsoft.com/office/drawing/2014/main" id="{FDCB1C96-9394-302F-1AD7-8371E6DF1EC5}"/>
                </a:ext>
              </a:extLst>
            </p:cNvPr>
            <p:cNvGrpSpPr/>
            <p:nvPr/>
          </p:nvGrpSpPr>
          <p:grpSpPr>
            <a:xfrm>
              <a:off x="4642968" y="2926263"/>
              <a:ext cx="2902164" cy="1480017"/>
              <a:chOff x="1006977" y="2868388"/>
              <a:chExt cx="2902164" cy="1480017"/>
            </a:xfrm>
          </p:grpSpPr>
          <p:sp>
            <p:nvSpPr>
              <p:cNvPr id="13" name="Rectangle 12">
                <a:extLst>
                  <a:ext uri="{FF2B5EF4-FFF2-40B4-BE49-F238E27FC236}">
                    <a16:creationId xmlns:a16="http://schemas.microsoft.com/office/drawing/2014/main" id="{DF6EB9E8-2568-D011-C6CB-22F4CEBFEF5D}"/>
                  </a:ext>
                </a:extLst>
              </p:cNvPr>
              <p:cNvSpPr/>
              <p:nvPr/>
            </p:nvSpPr>
            <p:spPr bwMode="auto">
              <a:xfrm>
                <a:off x="1006977" y="3412568"/>
                <a:ext cx="2902164" cy="93583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0" rIns="0" bIns="0" numCol="1" spcCol="0" rtlCol="0" fromWordArt="0" anchor="t" anchorCtr="0" forceAA="0" compatLnSpc="1">
                <a:prstTxWarp prst="textNoShape">
                  <a:avLst/>
                </a:prstTxWarp>
                <a:spAutoFit/>
              </a:bodyPr>
              <a:lstStyle/>
              <a:p>
                <a:pPr defTabSz="932192" fontAlgn="base">
                  <a:lnSpc>
                    <a:spcPct val="90000"/>
                  </a:lnSpc>
                  <a:spcBef>
                    <a:spcPct val="0"/>
                  </a:spcBef>
                  <a:spcAft>
                    <a:spcPts val="600"/>
                  </a:spcAft>
                  <a:defRPr/>
                </a:pPr>
                <a:r>
                  <a:rPr lang="en-IN" sz="1600">
                    <a:solidFill>
                      <a:schemeClr val="tx1"/>
                    </a:solidFill>
                    <a:latin typeface="72 Brand Book" panose="020B0404030603020204" pitchFamily="34" charset="0"/>
                  </a:rPr>
                  <a:t>Include human feedback loop to figure out best technique of summarization that provides better results.</a:t>
                </a:r>
                <a:endParaRPr lang="en-US" sz="1600">
                  <a:solidFill>
                    <a:schemeClr val="tx1"/>
                  </a:solidFill>
                  <a:latin typeface="72 Brand Book" panose="020B0404030603020204" pitchFamily="34" charset="0"/>
                  <a:cs typeface="72" panose="020B0503030000000003" pitchFamily="34" charset="0"/>
                </a:endParaRPr>
              </a:p>
            </p:txBody>
          </p:sp>
          <p:pic>
            <p:nvPicPr>
              <p:cNvPr id="16" name="Image 1">
                <a:extLst>
                  <a:ext uri="{FF2B5EF4-FFF2-40B4-BE49-F238E27FC236}">
                    <a16:creationId xmlns:a16="http://schemas.microsoft.com/office/drawing/2014/main" id="{5833918A-6EA4-FE99-3476-4081311A1B82}"/>
                  </a:ext>
                </a:extLst>
              </p:cNvPr>
              <p:cNvPicPr>
                <a:picLocks noChangeAspect="1"/>
              </p:cNvPicPr>
              <p:nvPr/>
            </p:nvPicPr>
            <p:blipFill>
              <a:blip r:embed="rId6"/>
              <a:srcRect/>
              <a:stretch/>
            </p:blipFill>
            <p:spPr>
              <a:xfrm>
                <a:off x="1175362" y="2868388"/>
                <a:ext cx="324575" cy="284003"/>
              </a:xfrm>
              <a:prstGeom prst="rect">
                <a:avLst/>
              </a:prstGeom>
            </p:spPr>
          </p:pic>
        </p:grpSp>
      </p:grpSp>
      <p:sp>
        <p:nvSpPr>
          <p:cNvPr id="7" name="Rectangle: Rounded Corners 3">
            <a:extLst>
              <a:ext uri="{FF2B5EF4-FFF2-40B4-BE49-F238E27FC236}">
                <a16:creationId xmlns:a16="http://schemas.microsoft.com/office/drawing/2014/main" id="{9C5068AC-CB1D-8501-EFC7-2C18B578248F}"/>
              </a:ext>
            </a:extLst>
          </p:cNvPr>
          <p:cNvSpPr/>
          <p:nvPr/>
        </p:nvSpPr>
        <p:spPr bwMode="auto">
          <a:xfrm flipH="1">
            <a:off x="751313" y="3192703"/>
            <a:ext cx="3380671" cy="2251311"/>
          </a:xfrm>
          <a:prstGeom prst="roundRect">
            <a:avLst>
              <a:gd name="adj" fmla="val 2588"/>
            </a:avLst>
          </a:prstGeom>
          <a:solidFill>
            <a:schemeClr val="bg1"/>
          </a:solid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sp>
        <p:nvSpPr>
          <p:cNvPr id="2" name="Rectangle 1">
            <a:extLst>
              <a:ext uri="{FF2B5EF4-FFF2-40B4-BE49-F238E27FC236}">
                <a16:creationId xmlns:a16="http://schemas.microsoft.com/office/drawing/2014/main" id="{8F920402-4FB0-71C8-76E8-3336D50DE0B9}"/>
              </a:ext>
            </a:extLst>
          </p:cNvPr>
          <p:cNvSpPr/>
          <p:nvPr/>
        </p:nvSpPr>
        <p:spPr bwMode="auto">
          <a:xfrm>
            <a:off x="965295" y="3942913"/>
            <a:ext cx="2901409" cy="88639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0" rIns="0" bIns="0" numCol="1" spcCol="0" rtlCol="0" fromWordArt="0" anchor="t" anchorCtr="0" forceAA="0" compatLnSpc="1">
            <a:prstTxWarp prst="textNoShape">
              <a:avLst/>
            </a:prstTxWarp>
            <a:spAutoFit/>
          </a:bodyPr>
          <a:lstStyle/>
          <a:p>
            <a:pPr defTabSz="932192" fontAlgn="base">
              <a:lnSpc>
                <a:spcPct val="90000"/>
              </a:lnSpc>
              <a:spcBef>
                <a:spcPct val="0"/>
              </a:spcBef>
              <a:spcAft>
                <a:spcPts val="600"/>
              </a:spcAft>
              <a:defRPr/>
            </a:pPr>
            <a:r>
              <a:rPr lang="en-IN" sz="1600">
                <a:solidFill>
                  <a:schemeClr val="tx1"/>
                </a:solidFill>
                <a:latin typeface="72 Brand Book" panose="020B0404030603020204" pitchFamily="34" charset="0"/>
              </a:rPr>
              <a:t>Simplify Business Object Config file creation with selection of entity and its fields for users via a UI.</a:t>
            </a:r>
            <a:endParaRPr lang="en-US" sz="1600">
              <a:solidFill>
                <a:schemeClr val="tx1"/>
              </a:solidFill>
              <a:latin typeface="72 Brand Book" panose="020B0404030603020204" pitchFamily="34" charset="0"/>
              <a:cs typeface="72" panose="020B0503030000000003" pitchFamily="34" charset="0"/>
            </a:endParaRPr>
          </a:p>
        </p:txBody>
      </p:sp>
      <p:pic>
        <p:nvPicPr>
          <p:cNvPr id="4" name="Image 1">
            <a:extLst>
              <a:ext uri="{FF2B5EF4-FFF2-40B4-BE49-F238E27FC236}">
                <a16:creationId xmlns:a16="http://schemas.microsoft.com/office/drawing/2014/main" id="{DF0124C4-09DA-87F8-49C7-87B8AE1F8BA2}"/>
              </a:ext>
            </a:extLst>
          </p:cNvPr>
          <p:cNvPicPr>
            <a:picLocks noChangeAspect="1"/>
          </p:cNvPicPr>
          <p:nvPr/>
        </p:nvPicPr>
        <p:blipFill>
          <a:blip r:embed="rId7"/>
          <a:srcRect/>
          <a:stretch/>
        </p:blipFill>
        <p:spPr>
          <a:xfrm>
            <a:off x="1160100" y="3339540"/>
            <a:ext cx="356941" cy="356941"/>
          </a:xfrm>
          <a:prstGeom prst="rect">
            <a:avLst/>
          </a:prstGeom>
        </p:spPr>
      </p:pic>
      <p:grpSp>
        <p:nvGrpSpPr>
          <p:cNvPr id="29" name="Group 28">
            <a:extLst>
              <a:ext uri="{FF2B5EF4-FFF2-40B4-BE49-F238E27FC236}">
                <a16:creationId xmlns:a16="http://schemas.microsoft.com/office/drawing/2014/main" id="{44945BDD-D6B6-1957-759A-01FC6DB143C3}"/>
              </a:ext>
            </a:extLst>
          </p:cNvPr>
          <p:cNvGrpSpPr/>
          <p:nvPr/>
        </p:nvGrpSpPr>
        <p:grpSpPr>
          <a:xfrm>
            <a:off x="8051523" y="3192703"/>
            <a:ext cx="3380671" cy="2251311"/>
            <a:chOff x="8053619" y="2659561"/>
            <a:chExt cx="3381551" cy="2047180"/>
          </a:xfrm>
        </p:grpSpPr>
        <p:sp>
          <p:nvSpPr>
            <p:cNvPr id="8" name="Rectangle: Rounded Corners 3">
              <a:extLst>
                <a:ext uri="{FF2B5EF4-FFF2-40B4-BE49-F238E27FC236}">
                  <a16:creationId xmlns:a16="http://schemas.microsoft.com/office/drawing/2014/main" id="{FBB37E19-E3C4-7497-A49B-5A480F1EB846}"/>
                </a:ext>
              </a:extLst>
            </p:cNvPr>
            <p:cNvSpPr/>
            <p:nvPr/>
          </p:nvSpPr>
          <p:spPr bwMode="auto">
            <a:xfrm flipH="1">
              <a:off x="8053619" y="2659561"/>
              <a:ext cx="3381551" cy="2047180"/>
            </a:xfrm>
            <a:prstGeom prst="roundRect">
              <a:avLst>
                <a:gd name="adj" fmla="val 2588"/>
              </a:avLst>
            </a:prstGeom>
            <a:solidFill>
              <a:schemeClr val="bg1"/>
            </a:solidFill>
            <a:ln>
              <a:noFill/>
              <a:headEnd type="none" w="med" len="med"/>
              <a:tailEnd type="none" w="med" len="med"/>
            </a:ln>
            <a:effectLst>
              <a:outerShdw blurRad="190500" dir="2700000" algn="tl" rotWithShape="0">
                <a:prstClr val="black">
                  <a:alpha val="11916"/>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1" tIns="0" rIns="0" bIns="0" numCol="1" spcCol="0" rtlCol="0" fromWordArt="0" anchor="b" anchorCtr="0" forceAA="0" compatLnSpc="1">
              <a:prstTxWarp prst="textNoShape">
                <a:avLst/>
              </a:prstTxWarp>
              <a:noAutofit/>
            </a:bodyPr>
            <a:lstStyle/>
            <a:p>
              <a:pPr defTabSz="428496" eaLnBrk="0" fontAlgn="base" hangingPunct="0">
                <a:spcBef>
                  <a:spcPct val="0"/>
                </a:spcBef>
                <a:spcAft>
                  <a:spcPct val="0"/>
                </a:spcAft>
                <a:defRPr/>
              </a:pPr>
              <a:endParaRPr lang="en-GB" sz="1600">
                <a:solidFill>
                  <a:srgbClr val="00144A"/>
                </a:solidFill>
                <a:latin typeface="72" panose="020B0503030000000003" pitchFamily="34" charset="0"/>
                <a:cs typeface="72" panose="020B0503030000000003" pitchFamily="34" charset="0"/>
              </a:endParaRPr>
            </a:p>
          </p:txBody>
        </p:sp>
        <p:grpSp>
          <p:nvGrpSpPr>
            <p:cNvPr id="17" name="Group 16">
              <a:extLst>
                <a:ext uri="{FF2B5EF4-FFF2-40B4-BE49-F238E27FC236}">
                  <a16:creationId xmlns:a16="http://schemas.microsoft.com/office/drawing/2014/main" id="{BAB28C3E-6E0B-2E1B-AAF8-4A2D782D8EB3}"/>
                </a:ext>
              </a:extLst>
            </p:cNvPr>
            <p:cNvGrpSpPr/>
            <p:nvPr/>
          </p:nvGrpSpPr>
          <p:grpSpPr>
            <a:xfrm>
              <a:off x="8221930" y="2795488"/>
              <a:ext cx="2902164" cy="1352286"/>
              <a:chOff x="1066235" y="2737613"/>
              <a:chExt cx="2902164" cy="1352286"/>
            </a:xfrm>
          </p:grpSpPr>
          <p:sp>
            <p:nvSpPr>
              <p:cNvPr id="18" name="Rectangle 17">
                <a:extLst>
                  <a:ext uri="{FF2B5EF4-FFF2-40B4-BE49-F238E27FC236}">
                    <a16:creationId xmlns:a16="http://schemas.microsoft.com/office/drawing/2014/main" id="{B8E76216-5FE3-4D48-DD30-4B7A4FA63DD0}"/>
                  </a:ext>
                </a:extLst>
              </p:cNvPr>
              <p:cNvSpPr/>
              <p:nvPr/>
            </p:nvSpPr>
            <p:spPr bwMode="auto">
              <a:xfrm>
                <a:off x="1066235" y="3283873"/>
                <a:ext cx="2902164" cy="80602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0" rIns="0" bIns="0" numCol="1" spcCol="0" rtlCol="0" fromWordArt="0" anchor="t" anchorCtr="0" forceAA="0" compatLnSpc="1">
                <a:prstTxWarp prst="textNoShape">
                  <a:avLst/>
                </a:prstTxWarp>
                <a:spAutoFit/>
              </a:bodyPr>
              <a:lstStyle/>
              <a:p>
                <a:pPr defTabSz="932192" fontAlgn="base">
                  <a:lnSpc>
                    <a:spcPct val="90000"/>
                  </a:lnSpc>
                  <a:spcBef>
                    <a:spcPct val="0"/>
                  </a:spcBef>
                  <a:spcAft>
                    <a:spcPts val="600"/>
                  </a:spcAft>
                  <a:defRPr/>
                </a:pPr>
                <a:r>
                  <a:rPr lang="en-US" sz="1600" b="1">
                    <a:solidFill>
                      <a:srgbClr val="000000"/>
                    </a:solidFill>
                    <a:latin typeface="72 Brand Light" panose="020B0304030603020204" pitchFamily="34" charset="0"/>
                    <a:cs typeface="72" panose="020B0503030000000003" pitchFamily="34" charset="0"/>
                  </a:rPr>
                  <a:t>Include support for Business Objects using REST API and also re-engineer the set up of application for </a:t>
                </a:r>
                <a:r>
                  <a:rPr lang="en-US" sz="1600" b="1" err="1">
                    <a:solidFill>
                      <a:srgbClr val="000000"/>
                    </a:solidFill>
                    <a:latin typeface="72 Brand Light" panose="020B0304030603020204" pitchFamily="34" charset="0"/>
                    <a:cs typeface="72" panose="020B0503030000000003" pitchFamily="34" charset="0"/>
                  </a:rPr>
                  <a:t>Kyma</a:t>
                </a:r>
                <a:r>
                  <a:rPr lang="en-US" sz="1600" b="1">
                    <a:solidFill>
                      <a:srgbClr val="000000"/>
                    </a:solidFill>
                    <a:latin typeface="72 Brand Light" panose="020B0304030603020204" pitchFamily="34" charset="0"/>
                    <a:cs typeface="72" panose="020B0503030000000003" pitchFamily="34" charset="0"/>
                  </a:rPr>
                  <a:t>.</a:t>
                </a:r>
              </a:p>
            </p:txBody>
          </p:sp>
          <p:pic>
            <p:nvPicPr>
              <p:cNvPr id="20" name="Image 1">
                <a:extLst>
                  <a:ext uri="{FF2B5EF4-FFF2-40B4-BE49-F238E27FC236}">
                    <a16:creationId xmlns:a16="http://schemas.microsoft.com/office/drawing/2014/main" id="{AC4317B1-1547-18FE-C48A-CF3BECCB7B83}"/>
                  </a:ext>
                </a:extLst>
              </p:cNvPr>
              <p:cNvPicPr>
                <a:picLocks noChangeAspect="1"/>
              </p:cNvPicPr>
              <p:nvPr/>
            </p:nvPicPr>
            <p:blipFill>
              <a:blip r:embed="rId8"/>
              <a:srcRect/>
              <a:stretch/>
            </p:blipFill>
            <p:spPr>
              <a:xfrm>
                <a:off x="1216203" y="2737613"/>
                <a:ext cx="324575" cy="324575"/>
              </a:xfrm>
              <a:prstGeom prst="rect">
                <a:avLst/>
              </a:prstGeom>
            </p:spPr>
          </p:pic>
        </p:grpSp>
      </p:grpSp>
      <p:sp>
        <p:nvSpPr>
          <p:cNvPr id="3" name="Freeform 2">
            <a:extLst>
              <a:ext uri="{FF2B5EF4-FFF2-40B4-BE49-F238E27FC236}">
                <a16:creationId xmlns:a16="http://schemas.microsoft.com/office/drawing/2014/main" id="{0553A385-B317-11CA-18E1-DE2FB7D95EF2}"/>
              </a:ext>
            </a:extLst>
          </p:cNvPr>
          <p:cNvSpPr>
            <a:spLocks noChangeAspect="1"/>
          </p:cNvSpPr>
          <p:nvPr/>
        </p:nvSpPr>
        <p:spPr bwMode="gray">
          <a:xfrm>
            <a:off x="364867" y="419482"/>
            <a:ext cx="1947409" cy="1025544"/>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8A59B8DF-4CBF-E480-63A6-5B2B30911F47}"/>
              </a:ext>
            </a:extLst>
          </p:cNvPr>
          <p:cNvSpPr txBox="1"/>
          <p:nvPr/>
        </p:nvSpPr>
        <p:spPr>
          <a:xfrm>
            <a:off x="568007" y="633165"/>
            <a:ext cx="5379999" cy="598112"/>
          </a:xfrm>
          <a:prstGeom prst="rect">
            <a:avLst/>
          </a:prstGeom>
          <a:noFill/>
        </p:spPr>
        <p:txBody>
          <a:bodyPr wrap="none" rtlCol="0">
            <a:spAutoFit/>
          </a:bodyPr>
          <a:lstStyle/>
          <a:p>
            <a:pPr>
              <a:lnSpc>
                <a:spcPct val="150000"/>
              </a:lnSpc>
            </a:pPr>
            <a:r>
              <a:rPr lang="en-US" sz="2500" b="1">
                <a:solidFill>
                  <a:srgbClr val="002986"/>
                </a:solidFill>
                <a:latin typeface="72 Brand" panose="020B0504030603020204" pitchFamily="34" charset="0"/>
              </a:rPr>
              <a:t>Roadmap / Future Enhancements</a:t>
            </a:r>
          </a:p>
        </p:txBody>
      </p:sp>
      <p:pic>
        <p:nvPicPr>
          <p:cNvPr id="23" name="Picture 22">
            <a:extLst>
              <a:ext uri="{FF2B5EF4-FFF2-40B4-BE49-F238E27FC236}">
                <a16:creationId xmlns:a16="http://schemas.microsoft.com/office/drawing/2014/main" id="{8364DA40-AFE7-326B-F424-216EACD36D4D}"/>
              </a:ext>
            </a:extLst>
          </p:cNvPr>
          <p:cNvPicPr>
            <a:picLocks noChangeAspect="1"/>
          </p:cNvPicPr>
          <p:nvPr/>
        </p:nvPicPr>
        <p:blipFill rotWithShape="1">
          <a:blip r:embed="rId9">
            <a:extLst>
              <a:ext uri="{28A0092B-C50C-407E-A947-70E740481C1C}">
                <a14:useLocalDpi xmlns:a14="http://schemas.microsoft.com/office/drawing/2010/main"/>
              </a:ext>
            </a:extLst>
          </a:blip>
          <a:srcRect l="7085" t="4996" r="3702" b="5370"/>
          <a:stretch/>
        </p:blipFill>
        <p:spPr>
          <a:xfrm>
            <a:off x="751317" y="1826627"/>
            <a:ext cx="1664683" cy="786196"/>
          </a:xfrm>
          <a:prstGeom prst="roundRect">
            <a:avLst>
              <a:gd name="adj" fmla="val 3712"/>
            </a:avLst>
          </a:prstGeom>
          <a:solidFill>
            <a:schemeClr val="tx2">
              <a:lumMod val="40000"/>
              <a:lumOff val="60000"/>
            </a:schemeClr>
          </a:solidFill>
        </p:spPr>
      </p:pic>
      <p:sp>
        <p:nvSpPr>
          <p:cNvPr id="26" name="Rectangle 25">
            <a:extLst>
              <a:ext uri="{FF2B5EF4-FFF2-40B4-BE49-F238E27FC236}">
                <a16:creationId xmlns:a16="http://schemas.microsoft.com/office/drawing/2014/main" id="{EB8A70EB-F551-2ED4-700B-E4DE611A02EB}"/>
              </a:ext>
            </a:extLst>
          </p:cNvPr>
          <p:cNvSpPr/>
          <p:nvPr/>
        </p:nvSpPr>
        <p:spPr>
          <a:xfrm>
            <a:off x="2552413" y="1804334"/>
            <a:ext cx="3269908" cy="830740"/>
          </a:xfrm>
          <a:prstGeom prst="rect">
            <a:avLst/>
          </a:prstGeom>
        </p:spPr>
        <p:txBody>
          <a:bodyPr wrap="square" lIns="91320" rIns="0">
            <a:spAutoFit/>
          </a:bodyPr>
          <a:lstStyle/>
          <a:p>
            <a:pPr defTabSz="913030">
              <a:defRPr/>
            </a:pPr>
            <a:r>
              <a:rPr lang="en-GB" sz="2399" b="1" kern="0">
                <a:solidFill>
                  <a:srgbClr val="0070F2"/>
                </a:solidFill>
                <a:latin typeface="72 Brand" panose="020B0504030603020204" pitchFamily="34" charset="0"/>
                <a:cs typeface="72" panose="020B0503030000000003" pitchFamily="34" charset="0"/>
              </a:rPr>
              <a:t>What we have planned for Phase 2</a:t>
            </a:r>
          </a:p>
        </p:txBody>
      </p:sp>
      <p:pic>
        <p:nvPicPr>
          <p:cNvPr id="11" name="Picture Placeholder 11">
            <a:extLst>
              <a:ext uri="{FF2B5EF4-FFF2-40B4-BE49-F238E27FC236}">
                <a16:creationId xmlns:a16="http://schemas.microsoft.com/office/drawing/2014/main" id="{C10009AC-8B34-2351-6043-5E7EF265FDEE}"/>
              </a:ext>
            </a:extLst>
          </p:cNvPr>
          <p:cNvPicPr>
            <a:picLocks noChangeAspect="1"/>
          </p:cNvPicPr>
          <p:nvPr/>
        </p:nvPicPr>
        <p:blipFill rotWithShape="1">
          <a:blip r:embed="rId10"/>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3034899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pieren 15">
            <a:extLst>
              <a:ext uri="{FF2B5EF4-FFF2-40B4-BE49-F238E27FC236}">
                <a16:creationId xmlns:a16="http://schemas.microsoft.com/office/drawing/2014/main" id="{038FA16A-ACB4-C67C-0AFF-2A2F8A9ACE91}"/>
              </a:ext>
            </a:extLst>
          </p:cNvPr>
          <p:cNvGrpSpPr/>
          <p:nvPr/>
        </p:nvGrpSpPr>
        <p:grpSpPr>
          <a:xfrm>
            <a:off x="3884604" y="2489145"/>
            <a:ext cx="6048062" cy="1164817"/>
            <a:chOff x="12840375" y="2846440"/>
            <a:chExt cx="6049637" cy="1165120"/>
          </a:xfrm>
        </p:grpSpPr>
        <p:sp>
          <p:nvSpPr>
            <p:cNvPr id="13" name="Freeform: Shape 10">
              <a:extLst>
                <a:ext uri="{FF2B5EF4-FFF2-40B4-BE49-F238E27FC236}">
                  <a16:creationId xmlns:a16="http://schemas.microsoft.com/office/drawing/2014/main" id="{C5F3428E-7780-9490-0711-610090AF09C8}"/>
                </a:ext>
              </a:extLst>
            </p:cNvPr>
            <p:cNvSpPr>
              <a:spLocks noChangeAspect="1"/>
            </p:cNvSpPr>
            <p:nvPr/>
          </p:nvSpPr>
          <p:spPr bwMode="auto">
            <a:xfrm>
              <a:off x="12840375" y="2846440"/>
              <a:ext cx="2406961" cy="1165120"/>
            </a:xfrm>
            <a:custGeom>
              <a:avLst/>
              <a:gdLst>
                <a:gd name="connsiteX0" fmla="*/ 0 w 9563102"/>
                <a:gd name="connsiteY0" fmla="*/ 0 h 4629150"/>
                <a:gd name="connsiteX1" fmla="*/ 4867276 w 9563102"/>
                <a:gd name="connsiteY1" fmla="*/ 0 h 4629150"/>
                <a:gd name="connsiteX2" fmla="*/ 4905375 w 9563102"/>
                <a:gd name="connsiteY2" fmla="*/ 0 h 4629150"/>
                <a:gd name="connsiteX3" fmla="*/ 9563102 w 9563102"/>
                <a:gd name="connsiteY3" fmla="*/ 0 h 4629150"/>
                <a:gd name="connsiteX4" fmla="*/ 4905375 w 9563102"/>
                <a:gd name="connsiteY4" fmla="*/ 4591592 h 4629150"/>
                <a:gd name="connsiteX5" fmla="*/ 4905375 w 9563102"/>
                <a:gd name="connsiteY5" fmla="*/ 4629150 h 4629150"/>
                <a:gd name="connsiteX6" fmla="*/ 4867276 w 9563102"/>
                <a:gd name="connsiteY6" fmla="*/ 4629150 h 4629150"/>
                <a:gd name="connsiteX7" fmla="*/ 0 w 9563102"/>
                <a:gd name="connsiteY7" fmla="*/ 4629150 h 4629150"/>
                <a:gd name="connsiteX0" fmla="*/ 0 w 9563102"/>
                <a:gd name="connsiteY0" fmla="*/ 0 h 4629150"/>
                <a:gd name="connsiteX1" fmla="*/ 4867276 w 9563102"/>
                <a:gd name="connsiteY1" fmla="*/ 0 h 4629150"/>
                <a:gd name="connsiteX2" fmla="*/ 4905375 w 9563102"/>
                <a:gd name="connsiteY2" fmla="*/ 0 h 4629150"/>
                <a:gd name="connsiteX3" fmla="*/ 9563102 w 9563102"/>
                <a:gd name="connsiteY3" fmla="*/ 0 h 4629150"/>
                <a:gd name="connsiteX4" fmla="*/ 4905375 w 9563102"/>
                <a:gd name="connsiteY4" fmla="*/ 4591592 h 4629150"/>
                <a:gd name="connsiteX5" fmla="*/ 4867276 w 9563102"/>
                <a:gd name="connsiteY5" fmla="*/ 4629150 h 4629150"/>
                <a:gd name="connsiteX6" fmla="*/ 0 w 9563102"/>
                <a:gd name="connsiteY6" fmla="*/ 4629150 h 4629150"/>
                <a:gd name="connsiteX7" fmla="*/ 0 w 9563102"/>
                <a:gd name="connsiteY7" fmla="*/ 0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3102" h="4629150">
                  <a:moveTo>
                    <a:pt x="0" y="0"/>
                  </a:moveTo>
                  <a:lnTo>
                    <a:pt x="4867276" y="0"/>
                  </a:lnTo>
                  <a:lnTo>
                    <a:pt x="4905375" y="0"/>
                  </a:lnTo>
                  <a:lnTo>
                    <a:pt x="9563102" y="0"/>
                  </a:lnTo>
                  <a:lnTo>
                    <a:pt x="4905375" y="4591592"/>
                  </a:lnTo>
                  <a:lnTo>
                    <a:pt x="4867276" y="4629150"/>
                  </a:lnTo>
                  <a:lnTo>
                    <a:pt x="0" y="4629150"/>
                  </a:lnTo>
                  <a:lnTo>
                    <a:pt x="0" y="0"/>
                  </a:lnTo>
                  <a:close/>
                </a:path>
              </a:pathLst>
            </a:custGeom>
            <a:solidFill>
              <a:srgbClr val="D1EFFF"/>
            </a:solidFill>
            <a:ln w="10000"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defTabSz="932192" fontAlgn="base">
                <a:spcBef>
                  <a:spcPct val="0"/>
                </a:spcBef>
                <a:spcAft>
                  <a:spcPct val="0"/>
                </a:spcAft>
                <a:defRPr/>
              </a:pPr>
              <a:endParaRPr lang="en-US" sz="1999" kern="0">
                <a:gradFill>
                  <a:gsLst>
                    <a:gs pos="0">
                      <a:srgbClr val="000000"/>
                    </a:gs>
                    <a:gs pos="100000">
                      <a:srgbClr val="000000"/>
                    </a:gs>
                  </a:gsLst>
                  <a:lin ang="5400000" scaled="1"/>
                </a:gradFill>
                <a:latin typeface="72 Brand" panose="020B0504030603020204" pitchFamily="34" charset="0"/>
                <a:ea typeface="Segoe UI" pitchFamily="34" charset="0"/>
                <a:cs typeface="Segoe UI" pitchFamily="34" charset="0"/>
              </a:endParaRPr>
            </a:p>
          </p:txBody>
        </p:sp>
        <p:sp>
          <p:nvSpPr>
            <p:cNvPr id="21" name="TextBox 4">
              <a:extLst>
                <a:ext uri="{FF2B5EF4-FFF2-40B4-BE49-F238E27FC236}">
                  <a16:creationId xmlns:a16="http://schemas.microsoft.com/office/drawing/2014/main" id="{15D1ED2B-8D4A-C1F6-C9F5-B7BC4566B4AB}"/>
                </a:ext>
              </a:extLst>
            </p:cNvPr>
            <p:cNvSpPr txBox="1"/>
            <p:nvPr/>
          </p:nvSpPr>
          <p:spPr>
            <a:xfrm>
              <a:off x="12938509" y="2963658"/>
              <a:ext cx="5951503" cy="830997"/>
            </a:xfrm>
            <a:prstGeom prst="rect">
              <a:avLst/>
            </a:prstGeom>
            <a:noFill/>
            <a:effectLst>
              <a:outerShdw blurRad="186875" dist="38100" dir="5400000" algn="t" rotWithShape="0">
                <a:prstClr val="black">
                  <a:alpha val="7506"/>
                </a:prstClr>
              </a:outerShdw>
            </a:effectLst>
          </p:spPr>
          <p:txBody>
            <a:bodyPr wrap="square" lIns="0" tIns="0" rIns="0" bIns="0" rtlCol="0">
              <a:spAutoFit/>
            </a:bodyPr>
            <a:lstStyle>
              <a:defPPr>
                <a:defRPr lang="de-DE"/>
              </a:defPPr>
              <a:lvl1pPr>
                <a:defRPr sz="4000">
                  <a:solidFill>
                    <a:schemeClr val="bg1"/>
                  </a:solidFill>
                  <a:latin typeface="+mn-lt"/>
                </a:defRPr>
              </a:lvl1pPr>
            </a:lstStyle>
            <a:p>
              <a:pPr defTabSz="914126">
                <a:defRPr/>
              </a:pPr>
              <a:r>
                <a:rPr lang="en-US" sz="5398" b="1" kern="0">
                  <a:solidFill>
                    <a:srgbClr val="000000"/>
                  </a:solidFill>
                  <a:latin typeface="72 Brand" panose="020B0504030603020204" pitchFamily="34" charset="0"/>
                </a:rPr>
                <a:t>Let’s </a:t>
              </a:r>
              <a:r>
                <a:rPr lang="en-US" sz="5398" b="1" kern="0">
                  <a:solidFill>
                    <a:srgbClr val="015EFE"/>
                  </a:solidFill>
                  <a:latin typeface="72 Brand" panose="020B0504030603020204" pitchFamily="34" charset="0"/>
                </a:rPr>
                <a:t>Get Started.</a:t>
              </a:r>
              <a:r>
                <a:rPr lang="en-US" sz="5398" b="1" kern="0">
                  <a:gradFill>
                    <a:gsLst>
                      <a:gs pos="0">
                        <a:srgbClr val="0070F2"/>
                      </a:gs>
                      <a:gs pos="100000">
                        <a:srgbClr val="0070F2">
                          <a:lumMod val="75000"/>
                        </a:srgbClr>
                      </a:gs>
                    </a:gsLst>
                    <a:lin ang="0" scaled="1"/>
                  </a:gradFill>
                  <a:latin typeface="72 Brand" panose="020B0504030603020204" pitchFamily="34" charset="0"/>
                </a:rPr>
                <a:t> </a:t>
              </a:r>
            </a:p>
          </p:txBody>
        </p:sp>
      </p:grpSp>
      <p:cxnSp>
        <p:nvCxnSpPr>
          <p:cNvPr id="22" name="Gerade Verbindung 3">
            <a:extLst>
              <a:ext uri="{FF2B5EF4-FFF2-40B4-BE49-F238E27FC236}">
                <a16:creationId xmlns:a16="http://schemas.microsoft.com/office/drawing/2014/main" id="{583849E3-DF1B-965E-6303-3D6C3210CF04}"/>
              </a:ext>
            </a:extLst>
          </p:cNvPr>
          <p:cNvCxnSpPr>
            <a:cxnSpLocks/>
          </p:cNvCxnSpPr>
          <p:nvPr/>
        </p:nvCxnSpPr>
        <p:spPr>
          <a:xfrm>
            <a:off x="7164822" y="2272274"/>
            <a:ext cx="0" cy="1597724"/>
          </a:xfrm>
          <a:prstGeom prst="line">
            <a:avLst/>
          </a:prstGeom>
          <a:noFill/>
          <a:ln w="41275" cap="flat" cmpd="sng" algn="ctr">
            <a:gradFill>
              <a:gsLst>
                <a:gs pos="0">
                  <a:srgbClr val="006DEB"/>
                </a:gs>
                <a:gs pos="100000">
                  <a:srgbClr val="0064D7"/>
                </a:gs>
              </a:gsLst>
              <a:lin ang="5400000" scaled="1"/>
            </a:gradFill>
            <a:prstDash val="solid"/>
            <a:headEnd type="none" w="med" len="med"/>
            <a:tailEnd type="none" w="med" len="med"/>
          </a:ln>
          <a:effectLst>
            <a:outerShdw blurRad="186875" dist="38100" dir="5400000" algn="t" rotWithShape="0">
              <a:prstClr val="black">
                <a:alpha val="7506"/>
              </a:prstClr>
            </a:outerShdw>
          </a:effectLst>
        </p:spPr>
      </p:cxnSp>
      <p:sp>
        <p:nvSpPr>
          <p:cNvPr id="23" name="TextBox 3">
            <a:extLst>
              <a:ext uri="{FF2B5EF4-FFF2-40B4-BE49-F238E27FC236}">
                <a16:creationId xmlns:a16="http://schemas.microsoft.com/office/drawing/2014/main" id="{2FAAFB58-0654-595A-F222-5F44D1BAC180}"/>
              </a:ext>
            </a:extLst>
          </p:cNvPr>
          <p:cNvSpPr txBox="1"/>
          <p:nvPr/>
        </p:nvSpPr>
        <p:spPr>
          <a:xfrm>
            <a:off x="4800412" y="2070541"/>
            <a:ext cx="2157277" cy="681932"/>
          </a:xfrm>
          <a:prstGeom prst="rect">
            <a:avLst/>
          </a:prstGeom>
          <a:noFill/>
        </p:spPr>
        <p:txBody>
          <a:bodyPr wrap="square" lIns="0" tIns="0" rIns="0" bIns="0" rtlCol="0">
            <a:spAutoFit/>
          </a:bodyPr>
          <a:lstStyle/>
          <a:p>
            <a:pPr algn="r">
              <a:lnSpc>
                <a:spcPts val="5978"/>
              </a:lnSpc>
              <a:defRPr/>
            </a:pPr>
            <a:r>
              <a:rPr lang="en-US" sz="3599" b="1">
                <a:solidFill>
                  <a:srgbClr val="0070F2"/>
                </a:solidFill>
                <a:latin typeface="72 Brand" panose="020B0504030603020204" pitchFamily="34" charset="0"/>
              </a:rPr>
              <a:t>Connect.</a:t>
            </a:r>
          </a:p>
        </p:txBody>
      </p:sp>
      <p:sp>
        <p:nvSpPr>
          <p:cNvPr id="24" name="TextBox 3">
            <a:extLst>
              <a:ext uri="{FF2B5EF4-FFF2-40B4-BE49-F238E27FC236}">
                <a16:creationId xmlns:a16="http://schemas.microsoft.com/office/drawing/2014/main" id="{34C58CEC-2F09-AA56-76F4-41EC28F454E8}"/>
              </a:ext>
            </a:extLst>
          </p:cNvPr>
          <p:cNvSpPr txBox="1"/>
          <p:nvPr/>
        </p:nvSpPr>
        <p:spPr>
          <a:xfrm>
            <a:off x="4352147" y="2647813"/>
            <a:ext cx="2605541" cy="681932"/>
          </a:xfrm>
          <a:prstGeom prst="rect">
            <a:avLst/>
          </a:prstGeom>
          <a:noFill/>
        </p:spPr>
        <p:txBody>
          <a:bodyPr wrap="square" lIns="0" tIns="0" rIns="0" bIns="0" rtlCol="0">
            <a:spAutoFit/>
          </a:bodyPr>
          <a:lstStyle/>
          <a:p>
            <a:pPr algn="r">
              <a:lnSpc>
                <a:spcPts val="5978"/>
              </a:lnSpc>
              <a:defRPr/>
            </a:pPr>
            <a:r>
              <a:rPr lang="en-US" sz="3599" b="1">
                <a:solidFill>
                  <a:srgbClr val="0070F2"/>
                </a:solidFill>
                <a:latin typeface="72 Brand" panose="020B0504030603020204" pitchFamily="34" charset="0"/>
              </a:rPr>
              <a:t>Automate. </a:t>
            </a:r>
          </a:p>
        </p:txBody>
      </p:sp>
      <p:sp>
        <p:nvSpPr>
          <p:cNvPr id="25" name="TextBox 3">
            <a:extLst>
              <a:ext uri="{FF2B5EF4-FFF2-40B4-BE49-F238E27FC236}">
                <a16:creationId xmlns:a16="http://schemas.microsoft.com/office/drawing/2014/main" id="{5BD28E33-6469-EAF8-B263-03792383B4A1}"/>
              </a:ext>
            </a:extLst>
          </p:cNvPr>
          <p:cNvSpPr txBox="1"/>
          <p:nvPr/>
        </p:nvSpPr>
        <p:spPr>
          <a:xfrm>
            <a:off x="4744378" y="3253030"/>
            <a:ext cx="2213310" cy="681932"/>
          </a:xfrm>
          <a:prstGeom prst="rect">
            <a:avLst/>
          </a:prstGeom>
          <a:noFill/>
        </p:spPr>
        <p:txBody>
          <a:bodyPr wrap="square" lIns="0" tIns="0" rIns="0" bIns="0" rtlCol="0">
            <a:spAutoFit/>
          </a:bodyPr>
          <a:lstStyle/>
          <a:p>
            <a:pPr algn="r">
              <a:lnSpc>
                <a:spcPts val="5978"/>
              </a:lnSpc>
              <a:defRPr/>
            </a:pPr>
            <a:r>
              <a:rPr lang="en-US" sz="3599" b="1">
                <a:solidFill>
                  <a:srgbClr val="0070F2"/>
                </a:solidFill>
                <a:latin typeface="72 Brand" panose="020B0504030603020204" pitchFamily="34" charset="0"/>
              </a:rPr>
              <a:t>Innovate.</a:t>
            </a:r>
          </a:p>
        </p:txBody>
      </p:sp>
      <p:sp>
        <p:nvSpPr>
          <p:cNvPr id="26" name="TextBox 3">
            <a:extLst>
              <a:ext uri="{FF2B5EF4-FFF2-40B4-BE49-F238E27FC236}">
                <a16:creationId xmlns:a16="http://schemas.microsoft.com/office/drawing/2014/main" id="{0156D550-7586-5148-FCFE-C9FBA049BED2}"/>
              </a:ext>
            </a:extLst>
          </p:cNvPr>
          <p:cNvSpPr txBox="1"/>
          <p:nvPr/>
        </p:nvSpPr>
        <p:spPr>
          <a:xfrm>
            <a:off x="4800412" y="2070541"/>
            <a:ext cx="2157277" cy="681932"/>
          </a:xfrm>
          <a:prstGeom prst="rect">
            <a:avLst/>
          </a:prstGeom>
          <a:noFill/>
        </p:spPr>
        <p:txBody>
          <a:bodyPr wrap="square" lIns="0" tIns="0" rIns="0" bIns="0" rtlCol="0">
            <a:spAutoFit/>
          </a:bodyPr>
          <a:lstStyle/>
          <a:p>
            <a:pPr algn="r">
              <a:lnSpc>
                <a:spcPts val="5978"/>
              </a:lnSpc>
              <a:defRPr/>
            </a:pPr>
            <a:r>
              <a:rPr lang="en-US" sz="3599" b="1">
                <a:solidFill>
                  <a:srgbClr val="000000"/>
                </a:solidFill>
                <a:latin typeface="72 Brand" panose="020B0504030603020204" pitchFamily="34" charset="0"/>
              </a:rPr>
              <a:t>Connect.</a:t>
            </a:r>
          </a:p>
        </p:txBody>
      </p:sp>
      <p:sp>
        <p:nvSpPr>
          <p:cNvPr id="27" name="TextBox 3">
            <a:extLst>
              <a:ext uri="{FF2B5EF4-FFF2-40B4-BE49-F238E27FC236}">
                <a16:creationId xmlns:a16="http://schemas.microsoft.com/office/drawing/2014/main" id="{466FD519-F81A-193B-49A4-5B66B1C1FF0F}"/>
              </a:ext>
            </a:extLst>
          </p:cNvPr>
          <p:cNvSpPr txBox="1"/>
          <p:nvPr/>
        </p:nvSpPr>
        <p:spPr>
          <a:xfrm>
            <a:off x="4352147" y="2647813"/>
            <a:ext cx="2605541" cy="681932"/>
          </a:xfrm>
          <a:prstGeom prst="rect">
            <a:avLst/>
          </a:prstGeom>
          <a:noFill/>
        </p:spPr>
        <p:txBody>
          <a:bodyPr wrap="square" lIns="0" tIns="0" rIns="0" bIns="0" rtlCol="0">
            <a:spAutoFit/>
          </a:bodyPr>
          <a:lstStyle/>
          <a:p>
            <a:pPr algn="r">
              <a:lnSpc>
                <a:spcPts val="5978"/>
              </a:lnSpc>
              <a:defRPr/>
            </a:pPr>
            <a:r>
              <a:rPr lang="en-US" sz="3599" b="1">
                <a:solidFill>
                  <a:srgbClr val="000000"/>
                </a:solidFill>
                <a:latin typeface="72 Brand" panose="020B0504030603020204" pitchFamily="34" charset="0"/>
              </a:rPr>
              <a:t>Automate. </a:t>
            </a:r>
          </a:p>
        </p:txBody>
      </p:sp>
      <p:sp>
        <p:nvSpPr>
          <p:cNvPr id="28" name="TextBox 3">
            <a:extLst>
              <a:ext uri="{FF2B5EF4-FFF2-40B4-BE49-F238E27FC236}">
                <a16:creationId xmlns:a16="http://schemas.microsoft.com/office/drawing/2014/main" id="{A6F94EF4-40E0-3747-1709-272B2EE2D99A}"/>
              </a:ext>
            </a:extLst>
          </p:cNvPr>
          <p:cNvSpPr txBox="1"/>
          <p:nvPr/>
        </p:nvSpPr>
        <p:spPr>
          <a:xfrm>
            <a:off x="4744378" y="3253030"/>
            <a:ext cx="2213310" cy="681932"/>
          </a:xfrm>
          <a:prstGeom prst="rect">
            <a:avLst/>
          </a:prstGeom>
          <a:noFill/>
        </p:spPr>
        <p:txBody>
          <a:bodyPr wrap="square" lIns="0" tIns="0" rIns="0" bIns="0" rtlCol="0">
            <a:spAutoFit/>
          </a:bodyPr>
          <a:lstStyle/>
          <a:p>
            <a:pPr algn="r">
              <a:lnSpc>
                <a:spcPts val="5978"/>
              </a:lnSpc>
              <a:defRPr/>
            </a:pPr>
            <a:r>
              <a:rPr lang="en-US" sz="3599" b="1">
                <a:solidFill>
                  <a:srgbClr val="000000"/>
                </a:solidFill>
                <a:latin typeface="72 Brand" panose="020B0504030603020204" pitchFamily="34" charset="0"/>
              </a:rPr>
              <a:t>Innovate.</a:t>
            </a:r>
          </a:p>
        </p:txBody>
      </p:sp>
      <p:pic>
        <p:nvPicPr>
          <p:cNvPr id="8" name="Picture Placeholder 11">
            <a:extLst>
              <a:ext uri="{FF2B5EF4-FFF2-40B4-BE49-F238E27FC236}">
                <a16:creationId xmlns:a16="http://schemas.microsoft.com/office/drawing/2014/main" id="{6FA29FB6-FB2B-7C1D-681B-7B3D50554365}"/>
              </a:ext>
            </a:extLst>
          </p:cNvPr>
          <p:cNvPicPr>
            <a:picLocks noChangeAspect="1"/>
          </p:cNvPicPr>
          <p:nvPr/>
        </p:nvPicPr>
        <p:blipFill rotWithShape="1">
          <a:blip r:embed="rId2"/>
          <a:srcRect l="6995" t="66530" r="23124" b="30001"/>
          <a:stretch/>
        </p:blipFill>
        <p:spPr bwMode="black">
          <a:xfrm>
            <a:off x="600" y="6588907"/>
            <a:ext cx="12192000" cy="269094"/>
          </a:xfrm>
          <a:prstGeom prst="rect">
            <a:avLst/>
          </a:prstGeom>
        </p:spPr>
      </p:pic>
    </p:spTree>
    <p:extLst>
      <p:ext uri="{BB962C8B-B14F-4D97-AF65-F5344CB8AC3E}">
        <p14:creationId xmlns:p14="http://schemas.microsoft.com/office/powerpoint/2010/main" val="287323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subTnLst>
                                    <p:set>
                                      <p:cBhvr override="childStyle">
                                        <p:cTn dur="1" fill="hold" display="0" masterRel="sameClick" afterEffect="1">
                                          <p:stCondLst>
                                            <p:cond evt="end" delay="0">
                                              <p:tn val="5"/>
                                            </p:cond>
                                          </p:stCondLst>
                                        </p:cTn>
                                        <p:tgtEl>
                                          <p:spTgt spid="23"/>
                                        </p:tgtEl>
                                        <p:attrNameLst>
                                          <p:attrName>style.visibility</p:attrName>
                                        </p:attrNameLst>
                                      </p:cBhvr>
                                      <p:to>
                                        <p:strVal val="hidden"/>
                                      </p:to>
                                    </p:set>
                                  </p:subTnLst>
                                </p:cTn>
                              </p:par>
                            </p:childTnLst>
                          </p:cTn>
                        </p:par>
                        <p:par>
                          <p:cTn id="9" fill="hold">
                            <p:stCondLst>
                              <p:cond delay="1000"/>
                            </p:stCondLst>
                            <p:childTnLst>
                              <p:par>
                                <p:cTn id="10" presetID="1" presetClass="entr" presetSubtype="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par>
                          <p:cTn id="12" fill="hold">
                            <p:stCondLst>
                              <p:cond delay="1000"/>
                            </p:stCondLst>
                            <p:childTnLst>
                              <p:par>
                                <p:cTn id="13" presetID="2" presetClass="entr" presetSubtype="8" decel="5000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1000" fill="hold"/>
                                        <p:tgtEl>
                                          <p:spTgt spid="24"/>
                                        </p:tgtEl>
                                        <p:attrNameLst>
                                          <p:attrName>ppt_x</p:attrName>
                                        </p:attrNameLst>
                                      </p:cBhvr>
                                      <p:tavLst>
                                        <p:tav tm="0">
                                          <p:val>
                                            <p:strVal val="0-#ppt_w/2"/>
                                          </p:val>
                                        </p:tav>
                                        <p:tav tm="100000">
                                          <p:val>
                                            <p:strVal val="#ppt_x"/>
                                          </p:val>
                                        </p:tav>
                                      </p:tavLst>
                                    </p:anim>
                                    <p:anim calcmode="lin" valueType="num">
                                      <p:cBhvr additive="base">
                                        <p:cTn id="16" dur="1000" fill="hold"/>
                                        <p:tgtEl>
                                          <p:spTgt spid="24"/>
                                        </p:tgtEl>
                                        <p:attrNameLst>
                                          <p:attrName>ppt_y</p:attrName>
                                        </p:attrNameLst>
                                      </p:cBhvr>
                                      <p:tavLst>
                                        <p:tav tm="0">
                                          <p:val>
                                            <p:strVal val="#ppt_y"/>
                                          </p:val>
                                        </p:tav>
                                        <p:tav tm="100000">
                                          <p:val>
                                            <p:strVal val="#ppt_y"/>
                                          </p:val>
                                        </p:tav>
                                      </p:tavLst>
                                    </p:anim>
                                  </p:childTnLst>
                                  <p:subTnLst>
                                    <p:set>
                                      <p:cBhvr override="childStyle">
                                        <p:cTn dur="1" fill="hold" display="0" masterRel="sameClick" afterEffect="1">
                                          <p:stCondLst>
                                            <p:cond evt="end" delay="0">
                                              <p:tn val="13"/>
                                            </p:cond>
                                          </p:stCondLst>
                                        </p:cTn>
                                        <p:tgtEl>
                                          <p:spTgt spid="24"/>
                                        </p:tgtEl>
                                        <p:attrNameLst>
                                          <p:attrName>style.visibility</p:attrName>
                                        </p:attrNameLst>
                                      </p:cBhvr>
                                      <p:to>
                                        <p:strVal val="hidden"/>
                                      </p:to>
                                    </p:set>
                                  </p:subTnLst>
                                </p:cTn>
                              </p:par>
                            </p:childTnLst>
                          </p:cTn>
                        </p:par>
                        <p:par>
                          <p:cTn id="17" fill="hold">
                            <p:stCondLst>
                              <p:cond delay="2000"/>
                            </p:stCondLst>
                            <p:childTnLst>
                              <p:par>
                                <p:cTn id="18" presetID="1" presetClass="entr" presetSubtype="0" fill="hold" grpId="0" nodeType="after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childTnLst>
                          </p:cTn>
                        </p:par>
                        <p:par>
                          <p:cTn id="20" fill="hold">
                            <p:stCondLst>
                              <p:cond delay="2000"/>
                            </p:stCondLst>
                            <p:childTnLst>
                              <p:par>
                                <p:cTn id="21" presetID="2" presetClass="entr" presetSubtype="8" decel="50000"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1000" fill="hold"/>
                                        <p:tgtEl>
                                          <p:spTgt spid="25"/>
                                        </p:tgtEl>
                                        <p:attrNameLst>
                                          <p:attrName>ppt_x</p:attrName>
                                        </p:attrNameLst>
                                      </p:cBhvr>
                                      <p:tavLst>
                                        <p:tav tm="0">
                                          <p:val>
                                            <p:strVal val="0-#ppt_w/2"/>
                                          </p:val>
                                        </p:tav>
                                        <p:tav tm="100000">
                                          <p:val>
                                            <p:strVal val="#ppt_x"/>
                                          </p:val>
                                        </p:tav>
                                      </p:tavLst>
                                    </p:anim>
                                    <p:anim calcmode="lin" valueType="num">
                                      <p:cBhvr additive="base">
                                        <p:cTn id="24" dur="1000" fill="hold"/>
                                        <p:tgtEl>
                                          <p:spTgt spid="25"/>
                                        </p:tgtEl>
                                        <p:attrNameLst>
                                          <p:attrName>ppt_y</p:attrName>
                                        </p:attrNameLst>
                                      </p:cBhvr>
                                      <p:tavLst>
                                        <p:tav tm="0">
                                          <p:val>
                                            <p:strVal val="#ppt_y"/>
                                          </p:val>
                                        </p:tav>
                                        <p:tav tm="100000">
                                          <p:val>
                                            <p:strVal val="#ppt_y"/>
                                          </p:val>
                                        </p:tav>
                                      </p:tavLst>
                                    </p:anim>
                                  </p:childTnLst>
                                  <p:subTnLst>
                                    <p:set>
                                      <p:cBhvr override="childStyle">
                                        <p:cTn dur="1" fill="hold" display="0" masterRel="sameClick" afterEffect="1">
                                          <p:stCondLst>
                                            <p:cond evt="end" delay="0">
                                              <p:tn val="21"/>
                                            </p:cond>
                                          </p:stCondLst>
                                        </p:cTn>
                                        <p:tgtEl>
                                          <p:spTgt spid="25"/>
                                        </p:tgtEl>
                                        <p:attrNameLst>
                                          <p:attrName>style.visibility</p:attrName>
                                        </p:attrNameLst>
                                      </p:cBhvr>
                                      <p:to>
                                        <p:strVal val="hidden"/>
                                      </p:to>
                                    </p:set>
                                  </p:subTnLst>
                                </p:cTn>
                              </p:par>
                            </p:childTnLst>
                          </p:cTn>
                        </p:par>
                        <p:par>
                          <p:cTn id="25" fill="hold">
                            <p:stCondLst>
                              <p:cond delay="3000"/>
                            </p:stCondLst>
                            <p:childTnLst>
                              <p:par>
                                <p:cTn id="26" presetID="1" presetClass="entr" presetSubtype="0" fill="hold" grpId="0" nodeType="after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0" presetClass="path" presetSubtype="0" accel="50000" decel="50000" fill="hold" nodeType="withEffect">
                                  <p:stCondLst>
                                    <p:cond delay="0"/>
                                  </p:stCondLst>
                                  <p:childTnLst>
                                    <p:animMotion origin="layout" path="M -2.08333E-7 4.81481E-6 L -0.29062 4.81481E-6 " pathEditMode="relative" rAng="0" ptsTypes="AA">
                                      <p:cBhvr>
                                        <p:cTn id="32" dur="2000" fill="hold"/>
                                        <p:tgtEl>
                                          <p:spTgt spid="22"/>
                                        </p:tgtEl>
                                        <p:attrNameLst>
                                          <p:attrName>ppt_x</p:attrName>
                                          <p:attrName>ppt_y</p:attrName>
                                        </p:attrNameLst>
                                      </p:cBhvr>
                                      <p:rCtr x="-14531" y="0"/>
                                    </p:animMotion>
                                  </p:childTnLst>
                                </p:cTn>
                              </p:par>
                              <p:par>
                                <p:cTn id="33" presetID="0" presetClass="path" presetSubtype="0" accel="50000" decel="50000" fill="hold" grpId="1" nodeType="withEffect">
                                  <p:stCondLst>
                                    <p:cond delay="0"/>
                                  </p:stCondLst>
                                  <p:childTnLst>
                                    <p:animMotion origin="layout" path="M -1.45833E-6 -3.7037E-7 L -0.29062 -3.7037E-7 " pathEditMode="relative" rAng="0" ptsTypes="AA">
                                      <p:cBhvr>
                                        <p:cTn id="34" dur="2000" fill="hold"/>
                                        <p:tgtEl>
                                          <p:spTgt spid="23"/>
                                        </p:tgtEl>
                                        <p:attrNameLst>
                                          <p:attrName>ppt_x</p:attrName>
                                          <p:attrName>ppt_y</p:attrName>
                                        </p:attrNameLst>
                                      </p:cBhvr>
                                      <p:rCtr x="-14531" y="0"/>
                                    </p:animMotion>
                                  </p:childTnLst>
                                </p:cTn>
                              </p:par>
                              <p:par>
                                <p:cTn id="35" presetID="0" presetClass="path" presetSubtype="0" accel="50000" decel="50000" fill="hold" grpId="1" nodeType="withEffect">
                                  <p:stCondLst>
                                    <p:cond delay="0"/>
                                  </p:stCondLst>
                                  <p:childTnLst>
                                    <p:animMotion origin="layout" path="M -2.08333E-6 1.85185E-6 L -0.29062 1.85185E-6 " pathEditMode="relative" rAng="0" ptsTypes="AA">
                                      <p:cBhvr>
                                        <p:cTn id="36" dur="2000" fill="hold"/>
                                        <p:tgtEl>
                                          <p:spTgt spid="24"/>
                                        </p:tgtEl>
                                        <p:attrNameLst>
                                          <p:attrName>ppt_x</p:attrName>
                                          <p:attrName>ppt_y</p:attrName>
                                        </p:attrNameLst>
                                      </p:cBhvr>
                                      <p:rCtr x="-14531" y="0"/>
                                    </p:animMotion>
                                  </p:childTnLst>
                                </p:cTn>
                              </p:par>
                              <p:par>
                                <p:cTn id="37" presetID="0" presetClass="path" presetSubtype="0" accel="50000" decel="50000" fill="hold" grpId="1" nodeType="withEffect">
                                  <p:stCondLst>
                                    <p:cond delay="0"/>
                                  </p:stCondLst>
                                  <p:childTnLst>
                                    <p:animMotion origin="layout" path="M 2.08333E-6 -4.07407E-6 L -0.29063 -4.07407E-6 " pathEditMode="relative" rAng="0" ptsTypes="AA">
                                      <p:cBhvr>
                                        <p:cTn id="38" dur="2000" fill="hold"/>
                                        <p:tgtEl>
                                          <p:spTgt spid="25"/>
                                        </p:tgtEl>
                                        <p:attrNameLst>
                                          <p:attrName>ppt_x</p:attrName>
                                          <p:attrName>ppt_y</p:attrName>
                                        </p:attrNameLst>
                                      </p:cBhvr>
                                      <p:rCtr x="-14531" y="0"/>
                                    </p:animMotion>
                                  </p:childTnLst>
                                </p:cTn>
                              </p:par>
                              <p:par>
                                <p:cTn id="39" presetID="0" presetClass="path" presetSubtype="0" accel="50000" decel="50000" fill="hold" grpId="1" nodeType="withEffect">
                                  <p:stCondLst>
                                    <p:cond delay="0"/>
                                  </p:stCondLst>
                                  <p:childTnLst>
                                    <p:animMotion origin="layout" path="M -1.45833E-6 -3.7037E-7 L -0.29062 -3.7037E-7 " pathEditMode="relative" rAng="0" ptsTypes="AA">
                                      <p:cBhvr>
                                        <p:cTn id="40" dur="2000" fill="hold"/>
                                        <p:tgtEl>
                                          <p:spTgt spid="26"/>
                                        </p:tgtEl>
                                        <p:attrNameLst>
                                          <p:attrName>ppt_x</p:attrName>
                                          <p:attrName>ppt_y</p:attrName>
                                        </p:attrNameLst>
                                      </p:cBhvr>
                                      <p:rCtr x="-14531" y="0"/>
                                    </p:animMotion>
                                  </p:childTnLst>
                                </p:cTn>
                              </p:par>
                              <p:par>
                                <p:cTn id="41" presetID="0" presetClass="path" presetSubtype="0" accel="50000" decel="50000" fill="hold" grpId="1" nodeType="withEffect">
                                  <p:stCondLst>
                                    <p:cond delay="0"/>
                                  </p:stCondLst>
                                  <p:childTnLst>
                                    <p:animMotion origin="layout" path="M -2.08333E-6 1.85185E-6 L -0.29062 1.85185E-6 " pathEditMode="relative" rAng="0" ptsTypes="AA">
                                      <p:cBhvr>
                                        <p:cTn id="42" dur="2000" fill="hold"/>
                                        <p:tgtEl>
                                          <p:spTgt spid="27"/>
                                        </p:tgtEl>
                                        <p:attrNameLst>
                                          <p:attrName>ppt_x</p:attrName>
                                          <p:attrName>ppt_y</p:attrName>
                                        </p:attrNameLst>
                                      </p:cBhvr>
                                      <p:rCtr x="-14531" y="0"/>
                                    </p:animMotion>
                                  </p:childTnLst>
                                </p:cTn>
                              </p:par>
                              <p:par>
                                <p:cTn id="43" presetID="0" presetClass="path" presetSubtype="0" accel="50000" decel="50000" fill="hold" grpId="1" nodeType="withEffect">
                                  <p:stCondLst>
                                    <p:cond delay="0"/>
                                  </p:stCondLst>
                                  <p:childTnLst>
                                    <p:animMotion origin="layout" path="M 2.08333E-6 -4.07407E-6 L -0.29063 -4.07407E-6 " pathEditMode="relative" rAng="0" ptsTypes="AA">
                                      <p:cBhvr>
                                        <p:cTn id="44" dur="2000" fill="hold"/>
                                        <p:tgtEl>
                                          <p:spTgt spid="28"/>
                                        </p:tgtEl>
                                        <p:attrNameLst>
                                          <p:attrName>ppt_x</p:attrName>
                                          <p:attrName>ppt_y</p:attrName>
                                        </p:attrNameLst>
                                      </p:cBhvr>
                                      <p:rCtr x="-14531" y="0"/>
                                    </p:animMotion>
                                  </p:childTnLst>
                                </p:cTn>
                              </p:par>
                              <p:par>
                                <p:cTn id="45" presetID="2" presetClass="entr" presetSubtype="2" decel="50000" fill="hold" nodeType="withEffect">
                                  <p:stCondLst>
                                    <p:cond delay="100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1000" fill="hold"/>
                                        <p:tgtEl>
                                          <p:spTgt spid="6"/>
                                        </p:tgtEl>
                                        <p:attrNameLst>
                                          <p:attrName>ppt_x</p:attrName>
                                        </p:attrNameLst>
                                      </p:cBhvr>
                                      <p:tavLst>
                                        <p:tav tm="0">
                                          <p:val>
                                            <p:strVal val="1+#ppt_w/2"/>
                                          </p:val>
                                        </p:tav>
                                        <p:tav tm="100000">
                                          <p:val>
                                            <p:strVal val="#ppt_x"/>
                                          </p:val>
                                        </p:tav>
                                      </p:tavLst>
                                    </p:anim>
                                    <p:anim calcmode="lin" valueType="num">
                                      <p:cBhvr additive="base">
                                        <p:cTn id="48"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p:bldP spid="24" grpId="1"/>
      <p:bldP spid="25" grpId="0"/>
      <p:bldP spid="25" grpId="1"/>
      <p:bldP spid="26" grpId="0"/>
      <p:bldP spid="26" grpId="1"/>
      <p:bldP spid="27" grpId="0"/>
      <p:bldP spid="27" grpId="1"/>
      <p:bldP spid="28" grpId="0"/>
      <p:bldP spid="28" grpId="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E148506-E6D9-B9ED-8F99-D9867E0F227E}"/>
              </a:ext>
            </a:extLst>
          </p:cNvPr>
          <p:cNvSpPr>
            <a:spLocks noGrp="1"/>
          </p:cNvSpPr>
          <p:nvPr>
            <p:ph type="body" sz="quarter" idx="10"/>
          </p:nvPr>
        </p:nvSpPr>
        <p:spPr/>
        <p:txBody>
          <a:bodyPr>
            <a:normAutofit/>
          </a:bodyPr>
          <a:lstStyle/>
          <a:p>
            <a:r>
              <a:rPr lang="en-US" sz="1999" dirty="0"/>
              <a:t>Navya Khurana</a:t>
            </a:r>
            <a:endParaRPr lang="en-US" dirty="0"/>
          </a:p>
        </p:txBody>
      </p:sp>
      <p:sp>
        <p:nvSpPr>
          <p:cNvPr id="15" name="Copyright Placeholder" descr="{&quot;templafy&quot;:{&quot;id&quot;:&quot;ba9fff8e-a26f-4604-9418-39eec7243848&quot;}}">
            <a:extLst>
              <a:ext uri="{FF2B5EF4-FFF2-40B4-BE49-F238E27FC236}">
                <a16:creationId xmlns:a16="http://schemas.microsoft.com/office/drawing/2014/main" id="{76EF6016-41CF-716C-8FDC-37B4A48F41BB}"/>
              </a:ext>
            </a:extLst>
          </p:cNvPr>
          <p:cNvSpPr txBox="1">
            <a:spLocks/>
          </p:cNvSpPr>
          <p:nvPr/>
        </p:nvSpPr>
        <p:spPr>
          <a:xfrm>
            <a:off x="505326" y="6535942"/>
            <a:ext cx="10150313" cy="138462"/>
          </a:xfrm>
          <a:prstGeom prst="rect">
            <a:avLst/>
          </a:prstGeom>
          <a:solidFill>
            <a:schemeClr val="bg1"/>
          </a:solid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a:t>
            </a:r>
            <a:r>
              <a:rPr lang="en-GB">
                <a:solidFill>
                  <a:srgbClr val="212121"/>
                </a:solidFill>
                <a:latin typeface="Calibri" panose="020F0502020204030204" pitchFamily="34" charset="0"/>
              </a:rPr>
              <a:t>2023 SAP SE or an SAP affiliate company. All rights reserved. See Legal Notice on</a:t>
            </a:r>
            <a:r>
              <a:rPr lang="en-GB">
                <a:latin typeface="Calibri" panose="020F0502020204030204" pitchFamily="34" charset="0"/>
              </a:rPr>
              <a:t> www.sap.com/legal-notice for use terms</a:t>
            </a:r>
            <a:r>
              <a:rPr lang="en-GB">
                <a:solidFill>
                  <a:srgbClr val="212121"/>
                </a:solidFill>
                <a:latin typeface="Calibri" panose="020F0502020204030204" pitchFamily="34" charset="0"/>
              </a:rPr>
              <a:t>, disclaimers, disclosures, or restrictions related to this material.</a:t>
            </a:r>
            <a:endParaRPr lang="en-US">
              <a:latin typeface="72 Brand" panose="020B0504030603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DD7EEF50-3CE7-4E87-65BF-9C72EA305D1D}"/>
              </a:ext>
              <a:ext uri="{C183D7F6-B498-43B3-948B-1728B52AA6E4}">
                <adec:decorative xmlns:adec="http://schemas.microsoft.com/office/drawing/2017/decorative" val="1"/>
              </a:ext>
            </a:extLst>
          </p:cNvPr>
          <p:cNvSpPr/>
          <p:nvPr/>
        </p:nvSpPr>
        <p:spPr bwMode="gray">
          <a:xfrm>
            <a:off x="10251628" y="6422880"/>
            <a:ext cx="1938785" cy="434227"/>
          </a:xfrm>
          <a:prstGeom prst="rect">
            <a:avLst/>
          </a:prstGeom>
          <a:solidFill>
            <a:schemeClr val="bg1"/>
          </a:solidFill>
          <a:ln w="25400" algn="ctr">
            <a:no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US" sz="1799" kern="0" err="1">
              <a:latin typeface="72 Brand" panose="020B0504030603020204" pitchFamily="34" charset="0"/>
              <a:ea typeface="Arial Unicode MS" pitchFamily="34" charset="-128"/>
              <a:cs typeface="Arial Unicode MS" pitchFamily="34" charset="-128"/>
            </a:endParaRPr>
          </a:p>
        </p:txBody>
      </p:sp>
      <p:sp>
        <p:nvSpPr>
          <p:cNvPr id="5" name="Freeform 4">
            <a:extLst>
              <a:ext uri="{FF2B5EF4-FFF2-40B4-BE49-F238E27FC236}">
                <a16:creationId xmlns:a16="http://schemas.microsoft.com/office/drawing/2014/main" id="{C07C9CCB-08D0-401C-518F-23C4C6E75F76}"/>
              </a:ext>
            </a:extLst>
          </p:cNvPr>
          <p:cNvSpPr>
            <a:spLocks noChangeAspect="1"/>
          </p:cNvSpPr>
          <p:nvPr/>
        </p:nvSpPr>
        <p:spPr bwMode="gray">
          <a:xfrm>
            <a:off x="503238" y="1063255"/>
            <a:ext cx="4231150" cy="1580887"/>
          </a:xfrm>
          <a:custGeom>
            <a:avLst/>
            <a:gdLst>
              <a:gd name="connsiteX0" fmla="*/ 0 w 2880000"/>
              <a:gd name="connsiteY0" fmla="*/ 0 h 1440000"/>
              <a:gd name="connsiteX1" fmla="*/ 1440000 w 2880000"/>
              <a:gd name="connsiteY1" fmla="*/ 0 h 1440000"/>
              <a:gd name="connsiteX2" fmla="*/ 2880000 w 2880000"/>
              <a:gd name="connsiteY2" fmla="*/ 0 h 1440000"/>
              <a:gd name="connsiteX3" fmla="*/ 1440000 w 2880000"/>
              <a:gd name="connsiteY3" fmla="*/ 1440000 h 1440000"/>
              <a:gd name="connsiteX4" fmla="*/ 0 w 2880000"/>
              <a:gd name="connsiteY4" fmla="*/ 1440000 h 1440000"/>
              <a:gd name="connsiteX0" fmla="*/ 0 w 2880000"/>
              <a:gd name="connsiteY0" fmla="*/ 0 h 1440000"/>
              <a:gd name="connsiteX1" fmla="*/ 2880000 w 2880000"/>
              <a:gd name="connsiteY1" fmla="*/ 0 h 1440000"/>
              <a:gd name="connsiteX2" fmla="*/ 1440000 w 2880000"/>
              <a:gd name="connsiteY2" fmla="*/ 1440000 h 1440000"/>
              <a:gd name="connsiteX3" fmla="*/ 0 w 2880000"/>
              <a:gd name="connsiteY3" fmla="*/ 1440000 h 1440000"/>
              <a:gd name="connsiteX4" fmla="*/ 0 w 2880000"/>
              <a:gd name="connsiteY4" fmla="*/ 0 h 14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0" h="1440000">
                <a:moveTo>
                  <a:pt x="0" y="0"/>
                </a:moveTo>
                <a:lnTo>
                  <a:pt x="2880000" y="0"/>
                </a:lnTo>
                <a:lnTo>
                  <a:pt x="1440000" y="1440000"/>
                </a:lnTo>
                <a:lnTo>
                  <a:pt x="0" y="1440000"/>
                </a:lnTo>
                <a:lnTo>
                  <a:pt x="0" y="0"/>
                </a:lnTo>
                <a:close/>
              </a:path>
            </a:pathLst>
          </a:custGeom>
          <a:solidFill>
            <a:srgbClr val="D2EFFF"/>
          </a:solidFill>
          <a:ln w="25400"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6" name="TextBox 5">
            <a:extLst>
              <a:ext uri="{FF2B5EF4-FFF2-40B4-BE49-F238E27FC236}">
                <a16:creationId xmlns:a16="http://schemas.microsoft.com/office/drawing/2014/main" id="{BBCF8BD4-3DA8-5D0E-BDB9-BB8C92AFCCDC}"/>
              </a:ext>
            </a:extLst>
          </p:cNvPr>
          <p:cNvSpPr txBox="1"/>
          <p:nvPr/>
        </p:nvSpPr>
        <p:spPr>
          <a:xfrm>
            <a:off x="1199550" y="1421567"/>
            <a:ext cx="3960140" cy="861774"/>
          </a:xfrm>
          <a:prstGeom prst="rect">
            <a:avLst/>
          </a:prstGeom>
          <a:noFill/>
        </p:spPr>
        <p:txBody>
          <a:bodyPr wrap="square">
            <a:spAutoFit/>
          </a:bodyPr>
          <a:lstStyle/>
          <a:p>
            <a:r>
              <a:rPr lang="en-US" sz="5000">
                <a:solidFill>
                  <a:srgbClr val="002986"/>
                </a:solidFill>
                <a:latin typeface="72 Brand Medium" panose="020B0504030603020204" pitchFamily="34" charset="0"/>
              </a:rPr>
              <a:t>Thank you</a:t>
            </a:r>
          </a:p>
        </p:txBody>
      </p:sp>
    </p:spTree>
    <p:custDataLst>
      <p:custData r:id="rId1"/>
      <p:custData r:id="rId2"/>
    </p:custDataLst>
    <p:extLst>
      <p:ext uri="{BB962C8B-B14F-4D97-AF65-F5344CB8AC3E}">
        <p14:creationId xmlns:p14="http://schemas.microsoft.com/office/powerpoint/2010/main" val="21909430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EE4P_SLIDEID" val="b49f3b1c-0bae-48fa-9ade-7ad63286d014"/>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70563D083C2F4689FA0E341621A09E" ma:contentTypeVersion="18" ma:contentTypeDescription="Create a new document." ma:contentTypeScope="" ma:versionID="a6638b4d7b101fd022ab1f5db380afb3">
  <xsd:schema xmlns:xsd="http://www.w3.org/2001/XMLSchema" xmlns:xs="http://www.w3.org/2001/XMLSchema" xmlns:p="http://schemas.microsoft.com/office/2006/metadata/properties" xmlns:ns2="534e9a4a-4664-438c-9345-901187be00c8" xmlns:ns3="13a4d7eb-d4bf-4210-9ded-6f41a5aff91f" targetNamespace="http://schemas.microsoft.com/office/2006/metadata/properties" ma:root="true" ma:fieldsID="c41d1b313c427398b01c2e4c99688010" ns2:_="" ns3:_="">
    <xsd:import namespace="534e9a4a-4664-438c-9345-901187be00c8"/>
    <xsd:import namespace="13a4d7eb-d4bf-4210-9ded-6f41a5aff91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LengthInSecond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4e9a4a-4664-438c-9345-901187be00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a4d7eb-d4bf-4210-9ded-6f41a5aff91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063ad9fb-bdc5-4b24-a51d-82b889939132}" ma:internalName="TaxCatchAll" ma:showField="CatchAllData" ma:web="13a4d7eb-d4bf-4210-9ded-6f41a5aff9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TemplateConfiguration><![CDATA[{"slideVersion":2,"isValidatorEnabled":false,"isLocked":false,"elementsMetadata":[],"slideId":"638315636863917782","enableDocumentContentUpdater":false,"version":"2.0"}]]></TemplafySlideTemplateConfiguration>
</file>

<file path=customXml/item4.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5.xml><?xml version="1.0" encoding="utf-8"?>
<TemplafySlideTemplateConfiguration><![CDATA[{"slideVersion":4,"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31234101560684","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p:properties xmlns:p="http://schemas.microsoft.com/office/2006/metadata/properties" xmlns:xsi="http://www.w3.org/2001/XMLSchema-instance" xmlns:pc="http://schemas.microsoft.com/office/infopath/2007/PartnerControls">
  <documentManagement>
    <TaxCatchAll xmlns="13a4d7eb-d4bf-4210-9ded-6f41a5aff91f" xsi:nil="true"/>
    <lcf76f155ced4ddcb4097134ff3c332f xmlns="534e9a4a-4664-438c-9345-901187be00c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7023DD6-A55B-40EC-B337-4D4F1E5117E7}">
  <ds:schemaRefs>
    <ds:schemaRef ds:uri="13a4d7eb-d4bf-4210-9ded-6f41a5aff91f"/>
    <ds:schemaRef ds:uri="534e9a4a-4664-438c-9345-901187be00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86B1587-7E6E-4EB2-A738-588DBA677786}">
  <ds:schemaRefs>
    <ds:schemaRef ds:uri="http://schemas.microsoft.com/sharepoint/v3/contenttype/forms"/>
  </ds:schemaRefs>
</ds:datastoreItem>
</file>

<file path=customXml/itemProps3.xml><?xml version="1.0" encoding="utf-8"?>
<ds:datastoreItem xmlns:ds="http://schemas.openxmlformats.org/officeDocument/2006/customXml" ds:itemID="{61D2789A-23EA-4429-8FF8-98D018B031FF}">
  <ds:schemaRefs/>
</ds:datastoreItem>
</file>

<file path=customXml/itemProps4.xml><?xml version="1.0" encoding="utf-8"?>
<ds:datastoreItem xmlns:ds="http://schemas.openxmlformats.org/officeDocument/2006/customXml" ds:itemID="{5E726EAB-FE30-4F4D-A478-DE4759D9A12E}">
  <ds:schemaRefs/>
</ds:datastoreItem>
</file>

<file path=customXml/itemProps5.xml><?xml version="1.0" encoding="utf-8"?>
<ds:datastoreItem xmlns:ds="http://schemas.openxmlformats.org/officeDocument/2006/customXml" ds:itemID="{F444086E-23D4-43AE-9B84-AA7543534A61}">
  <ds:schemaRefs/>
</ds:datastoreItem>
</file>

<file path=customXml/itemProps6.xml><?xml version="1.0" encoding="utf-8"?>
<ds:datastoreItem xmlns:ds="http://schemas.openxmlformats.org/officeDocument/2006/customXml" ds:itemID="{54046E4F-E6B9-4BA2-AB13-226AA79BCBCE}">
  <ds:schemaRefs/>
</ds:datastoreItem>
</file>

<file path=customXml/itemProps7.xml><?xml version="1.0" encoding="utf-8"?>
<ds:datastoreItem xmlns:ds="http://schemas.openxmlformats.org/officeDocument/2006/customXml" ds:itemID="{E9490F14-A65D-404C-A416-A7A5513B6381}">
  <ds:schemaRefs>
    <ds:schemaRef ds:uri="http://schemas.microsoft.com/office/2006/documentManagement/types"/>
    <ds:schemaRef ds:uri="http://schemas.microsoft.com/office/2006/metadata/properties"/>
    <ds:schemaRef ds:uri="http://schemas.openxmlformats.org/package/2006/metadata/core-properties"/>
    <ds:schemaRef ds:uri="13a4d7eb-d4bf-4210-9ded-6f41a5aff91f"/>
    <ds:schemaRef ds:uri="http://purl.org/dc/elements/1.1/"/>
    <ds:schemaRef ds:uri="http://www.w3.org/XML/1998/namespace"/>
    <ds:schemaRef ds:uri="http://purl.org/dc/terms/"/>
    <ds:schemaRef ds:uri="http://purl.org/dc/dcmitype/"/>
    <ds:schemaRef ds:uri="http://schemas.microsoft.com/office/infopath/2007/PartnerControls"/>
    <ds:schemaRef ds:uri="534e9a4a-4664-438c-9345-901187be00c8"/>
  </ds:schemaRefs>
</ds:datastoreItem>
</file>

<file path=docMetadata/LabelInfo.xml><?xml version="1.0" encoding="utf-8"?>
<clbl:labelList xmlns:clbl="http://schemas.microsoft.com/office/2020/mipLabelMetadata">
  <clbl:label id="{42f7676c-f455-423c-82f6-dc2d99791af7}" enabled="0" method="" siteId="{42f7676c-f455-423c-82f6-dc2d99791af7}" removed="1"/>
</clbl:labelList>
</file>

<file path=docProps/app.xml><?xml version="1.0" encoding="utf-8"?>
<Properties xmlns="http://schemas.openxmlformats.org/officeDocument/2006/extended-properties" xmlns:vt="http://schemas.openxmlformats.org/officeDocument/2006/docPropsVTypes">
  <TotalTime>256</TotalTime>
  <Words>1999</Words>
  <Application>Microsoft Macintosh PowerPoint</Application>
  <PresentationFormat>Widescreen</PresentationFormat>
  <Paragraphs>340</Paragraphs>
  <Slides>18</Slides>
  <Notes>14</Notes>
  <HiddenSlides>2</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32" baseType="lpstr">
      <vt:lpstr>Arial Unicode MS</vt:lpstr>
      <vt:lpstr>72</vt:lpstr>
      <vt:lpstr>72 Brand</vt:lpstr>
      <vt:lpstr>72 Brand Book</vt:lpstr>
      <vt:lpstr>72 Brand Light</vt:lpstr>
      <vt:lpstr>72 Brand Medium</vt:lpstr>
      <vt:lpstr>Aptos</vt:lpstr>
      <vt:lpstr>Aptos Display</vt:lpstr>
      <vt:lpstr>Arial</vt:lpstr>
      <vt:lpstr>Calibri</vt:lpstr>
      <vt:lpstr>Segoe UI</vt:lpstr>
      <vt:lpstr>Wingdings</vt:lpstr>
      <vt:lpstr>Office Theme</vt:lpstr>
      <vt:lpstr>think-cell Slide</vt:lpstr>
      <vt:lpstr>End-Sem Review</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Bhagya Shree</dc:creator>
  <cp:lastModifiedBy>Khurana, Navya</cp:lastModifiedBy>
  <cp:revision>3</cp:revision>
  <dcterms:created xsi:type="dcterms:W3CDTF">2024-06-14T05:51:46Z</dcterms:created>
  <dcterms:modified xsi:type="dcterms:W3CDTF">2025-06-06T05:27:34Z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0x0101007970563D083C2F4689FA0E341621A09E</vt:lpwstr>
  </property>
  <property fmtid="{D5CDD505-2E9C-101B-9397-08002B2CF9AE}" pid="3" name="MediaServiceImageTags">
    <vt:lpwstr/>
  </property>
</Properties>
</file>